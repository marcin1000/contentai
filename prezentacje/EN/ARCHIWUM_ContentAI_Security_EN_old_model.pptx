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72" r:id="rId20"/>
    <p:sldId id="259" r:id="rId5"/>
    <p:sldId id="260" r:id="rId6"/>
    <p:sldId id="265" r:id="rId7"/>
    <p:sldId id="264" r:id="rId8"/>
    <p:sldId id="262" r:id="rId9"/>
    <p:sldId id="268" r:id="rId10"/>
    <p:sldId id="269" r:id="rId11"/>
    <p:sldId id="270" r:id="rId12"/>
    <p:sldId id="271" r:id="rId19"/>
    <p:sldId id="263"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3" d="100"/>
          <a:sy n="213" d="100"/>
        </p:scale>
        <p:origin x="300" y="12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1341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916"/>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300"/>
          </a:solidFill>
          <a:ln w="12700">
            <a:solidFill>
              <a:srgbClr val="F5A300"/>
            </a:solidFill>
            <a:prstDash val="solid"/>
          </a:ln>
        </p:spPr>
        <p:txBody>
          <a:bodyPr/>
          <a:lstStyle/>
          <a:p>
            <a:endParaRPr lang="pl-PL"/>
          </a:p>
        </p:txBody>
      </p:sp>
      <p:sp>
        <p:nvSpPr>
          <p:cNvPr id="3" name="Shape 1"/>
          <p:cNvSpPr/>
          <p:nvPr/>
        </p:nvSpPr>
        <p:spPr>
          <a:xfrm>
            <a:off x="164592" y="0"/>
            <a:ext cx="54864" cy="5143500"/>
          </a:xfrm>
          <a:prstGeom prst="rect">
            <a:avLst/>
          </a:prstGeom>
          <a:solidFill>
            <a:srgbClr val="E23244"/>
          </a:solidFill>
          <a:ln w="12700">
            <a:solidFill>
              <a:srgbClr val="E23244"/>
            </a:solidFill>
            <a:prstDash val="solid"/>
          </a:ln>
        </p:spPr>
        <p:txBody>
          <a:bodyPr/>
          <a:lstStyle/>
          <a:p>
            <a:endParaRPr lang="pl-PL"/>
          </a:p>
        </p:txBody>
      </p:sp>
      <p:sp>
        <p:nvSpPr>
          <p:cNvPr id="4" name="Text 2"/>
          <p:cNvSpPr/>
          <p:nvPr/>
        </p:nvSpPr>
        <p:spPr>
          <a:xfrm>
            <a:off x="502920" y="566928"/>
            <a:ext cx="7772400" cy="777240"/>
          </a:xfrm>
          <a:prstGeom prst="rect">
            <a:avLst/>
          </a:prstGeom>
          <a:noFill/>
          <a:ln/>
        </p:spPr>
        <p:txBody>
          <a:bodyPr wrap="square" lIns="0" tIns="0" rIns="0" bIns="0" rtlCol="0" anchor="ctr"/>
          <a:lstStyle/>
          <a:p>
            <a:pPr marL="0" indent="0">
              <a:buNone/>
            </a:pPr>
            <a:r>
              <a:rPr lang="en-US" sz="3800" b="1" dirty="0">
                <a:solidFill>
                  <a:srgbClr val="F5A300"/>
                </a:solidFill>
                <a:latin typeface="Arial Black" pitchFamily="34" charset="0"/>
                <a:ea typeface="Arial Black" pitchFamily="34" charset="-122"/>
                <a:cs typeface="Arial Black" pitchFamily="34" charset="-120"/>
              </a:rPr>
              <a:t>Content AI</a:t>
            </a:r>
            <a:endParaRPr lang="en-US" sz="3800" dirty="0"/>
          </a:p>
        </p:txBody>
      </p:sp>
      <p:sp>
        <p:nvSpPr>
          <p:cNvPr id="5" name="Text 3"/>
          <p:cNvSpPr/>
          <p:nvPr/>
        </p:nvSpPr>
        <p:spPr>
          <a:xfrm>
            <a:off x="502920" y="1353312"/>
            <a:ext cx="777240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Security Overview</a:t>
            </a:r>
            <a:endParaRPr lang="en-US" sz="2800" dirty="0"/>
          </a:p>
        </p:txBody>
      </p:sp>
      <p:sp>
        <p:nvSpPr>
          <p:cNvPr id="6" name="Shape 4"/>
          <p:cNvSpPr/>
          <p:nvPr/>
        </p:nvSpPr>
        <p:spPr>
          <a:xfrm>
            <a:off x="502920" y="1965960"/>
            <a:ext cx="2011680" cy="45720"/>
          </a:xfrm>
          <a:prstGeom prst="rect">
            <a:avLst/>
          </a:prstGeom>
          <a:solidFill>
            <a:srgbClr val="F5A300"/>
          </a:solidFill>
          <a:ln w="12700">
            <a:solidFill>
              <a:srgbClr val="F5A300"/>
            </a:solidFill>
            <a:prstDash val="solid"/>
          </a:ln>
        </p:spPr>
        <p:txBody>
          <a:bodyPr/>
          <a:lstStyle/>
          <a:p>
            <a:endParaRPr lang="pl-PL"/>
          </a:p>
        </p:txBody>
      </p:sp>
      <p:sp>
        <p:nvSpPr>
          <p:cNvPr id="7" name="Shape 5"/>
          <p:cNvSpPr/>
          <p:nvPr/>
        </p:nvSpPr>
        <p:spPr>
          <a:xfrm>
            <a:off x="7818120" y="457200"/>
            <a:ext cx="1005840" cy="1005840"/>
          </a:xfrm>
          <a:prstGeom prst="roundRect">
            <a:avLst>
              <a:gd name="adj" fmla="val 13636"/>
            </a:avLst>
          </a:prstGeom>
          <a:solidFill>
            <a:srgbClr val="2A2200"/>
          </a:solidFill>
          <a:ln w="19050">
            <a:solidFill>
              <a:srgbClr val="F5A300"/>
            </a:solidFill>
            <a:prstDash val="solid"/>
          </a:ln>
        </p:spPr>
        <p:txBody>
          <a:bodyPr/>
          <a:lstStyle/>
          <a:p>
            <a:endParaRPr lang="pl-PL"/>
          </a:p>
        </p:txBody>
      </p:sp>
      <p:sp>
        <p:nvSpPr>
          <p:cNvPr id="8" name="Text 6"/>
          <p:cNvSpPr/>
          <p:nvPr/>
        </p:nvSpPr>
        <p:spPr>
          <a:xfrm>
            <a:off x="7818120" y="713232"/>
            <a:ext cx="1005840" cy="502920"/>
          </a:xfrm>
          <a:prstGeom prst="rect">
            <a:avLst/>
          </a:prstGeom>
          <a:noFill/>
          <a:ln/>
        </p:spPr>
        <p:txBody>
          <a:bodyPr wrap="square" lIns="0" tIns="0" rIns="0" bIns="0" rtlCol="0" anchor="ctr"/>
          <a:lstStyle/>
          <a:p>
            <a:pPr marL="0" indent="0" algn="ctr">
              <a:buNone/>
            </a:pPr>
            <a:r>
              <a:rPr lang="en-US" sz="1600" b="1" dirty="0">
                <a:solidFill>
                  <a:srgbClr val="F5A300"/>
                </a:solidFill>
                <a:latin typeface="Arial Black" pitchFamily="34" charset="0"/>
                <a:ea typeface="Arial Black" pitchFamily="34" charset="-122"/>
                <a:cs typeface="Arial Black" pitchFamily="34" charset="-120"/>
              </a:rPr>
              <a:t>SEC</a:t>
            </a:r>
            <a:endParaRPr lang="en-US" sz="1600" dirty="0"/>
          </a:p>
        </p:txBody>
      </p:sp>
      <p:sp>
        <p:nvSpPr>
          <p:cNvPr id="9" name="Shape 7"/>
          <p:cNvSpPr/>
          <p:nvPr/>
        </p:nvSpPr>
        <p:spPr>
          <a:xfrm>
            <a:off x="502920" y="2121408"/>
            <a:ext cx="320040" cy="274320"/>
          </a:xfrm>
          <a:prstGeom prst="rect">
            <a:avLst/>
          </a:prstGeom>
          <a:solidFill>
            <a:srgbClr val="F5A300"/>
          </a:solidFill>
          <a:ln w="12700">
            <a:solidFill>
              <a:srgbClr val="F5A300"/>
            </a:solidFill>
            <a:prstDash val="solid"/>
          </a:ln>
        </p:spPr>
        <p:txBody>
          <a:bodyPr/>
          <a:lstStyle/>
          <a:p>
            <a:endParaRPr lang="pl-PL"/>
          </a:p>
        </p:txBody>
      </p:sp>
      <p:sp>
        <p:nvSpPr>
          <p:cNvPr id="10" name="Text 8"/>
          <p:cNvSpPr/>
          <p:nvPr/>
        </p:nvSpPr>
        <p:spPr>
          <a:xfrm>
            <a:off x="502920" y="2121408"/>
            <a:ext cx="320040" cy="274320"/>
          </a:xfrm>
          <a:prstGeom prst="rect">
            <a:avLst/>
          </a:prstGeom>
          <a:noFill/>
          <a:ln/>
        </p:spPr>
        <p:txBody>
          <a:bodyPr wrap="square" lIns="0" tIns="0" rIns="0" bIns="0" rtlCol="0" anchor="ctr"/>
          <a:lstStyle/>
          <a:p>
            <a:pPr marL="0" indent="0" algn="ctr">
              <a:buNone/>
            </a:pPr>
            <a:r>
              <a:rPr lang="en-US" sz="1000" b="1" dirty="0">
                <a:solidFill>
                  <a:srgbClr val="1A1916"/>
                </a:solidFill>
                <a:latin typeface="Arial" pitchFamily="34" charset="0"/>
                <a:ea typeface="Arial" pitchFamily="34" charset="-122"/>
                <a:cs typeface="Arial" pitchFamily="34" charset="-120"/>
              </a:rPr>
              <a:t>01</a:t>
            </a:r>
            <a:endParaRPr lang="en-US" sz="1000" dirty="0"/>
          </a:p>
        </p:txBody>
      </p:sp>
      <p:sp>
        <p:nvSpPr>
          <p:cNvPr id="11" name="Text 9"/>
          <p:cNvSpPr/>
          <p:nvPr/>
        </p:nvSpPr>
        <p:spPr>
          <a:xfrm>
            <a:off x="932688" y="2139696"/>
            <a:ext cx="6858000" cy="246888"/>
          </a:xfrm>
          <a:prstGeom prst="rect">
            <a:avLst/>
          </a:prstGeom>
          <a:noFill/>
          <a:ln/>
        </p:spPr>
        <p:txBody>
          <a:bodyPr wrap="square" lIns="0" tIns="0" rIns="0" bIns="0" rtlCol="0" anchor="ctr"/>
          <a:lstStyle/>
          <a:p>
            <a:pPr marL="0" indent="0">
              <a:buNone/>
            </a:pPr>
            <a:r>
              <a:rPr lang="en-US" sz="1300" dirty="0" err="1">
                <a:solidFill>
                  <a:srgbClr val="CCCCCC"/>
                </a:solidFill>
                <a:latin typeface="Arial" pitchFamily="34" charset="0"/>
                <a:ea typeface="Arial" pitchFamily="34" charset="-122"/>
                <a:cs typeface="Arial" pitchFamily="34" charset="-120"/>
              </a:rPr>
              <a:t>Architecture</a:t>
            </a:r>
            <a:r>
              <a:rPr lang="en-US" sz="1300" dirty="0">
                <a:solidFill>
                  <a:srgbClr val="CCCCCC"/>
                </a:solidFill>
                <a:latin typeface="Arial" pitchFamily="34" charset="0"/>
                <a:ea typeface="Arial" pitchFamily="34" charset="-122"/>
                <a:cs typeface="Arial" pitchFamily="34" charset="-120"/>
              </a:rPr>
              <a:t xml:space="preserve"> </a:t>
            </a:r>
            <a:r>
              <a:rPr lang="pl-PL" sz="1300" dirty="0">
                <a:solidFill>
                  <a:srgbClr val="CCCCCC"/>
                </a:solidFill>
                <a:latin typeface="Arial" pitchFamily="34" charset="0"/>
                <a:ea typeface="Arial" pitchFamily="34" charset="-122"/>
                <a:cs typeface="Arial" pitchFamily="34" charset="-120"/>
              </a:rPr>
              <a:t>-</a:t>
            </a:r>
            <a:r>
              <a:rPr lang="en-US" sz="1300" dirty="0">
                <a:solidFill>
                  <a:srgbClr val="CCCCCC"/>
                </a:solidFill>
                <a:latin typeface="Arial" pitchFamily="34" charset="0"/>
                <a:ea typeface="Arial" pitchFamily="34" charset="-122"/>
                <a:cs typeface="Arial" pitchFamily="34" charset="-120"/>
              </a:rPr>
              <a:t xml:space="preserve"> how Content AI works</a:t>
            </a:r>
            <a:endParaRPr lang="en-US" sz="1300" dirty="0"/>
          </a:p>
        </p:txBody>
      </p:sp>
      <p:sp>
        <p:nvSpPr>
          <p:cNvPr id="12" name="Shape 10"/>
          <p:cNvSpPr/>
          <p:nvPr/>
        </p:nvSpPr>
        <p:spPr>
          <a:xfrm>
            <a:off x="502920" y="2578608"/>
            <a:ext cx="320040" cy="274320"/>
          </a:xfrm>
          <a:prstGeom prst="rect">
            <a:avLst/>
          </a:prstGeom>
          <a:solidFill>
            <a:srgbClr val="F5A300"/>
          </a:solidFill>
          <a:ln w="12700">
            <a:solidFill>
              <a:srgbClr val="F5A300"/>
            </a:solidFill>
            <a:prstDash val="solid"/>
          </a:ln>
        </p:spPr>
        <p:txBody>
          <a:bodyPr/>
          <a:lstStyle/>
          <a:p>
            <a:endParaRPr lang="pl-PL"/>
          </a:p>
        </p:txBody>
      </p:sp>
      <p:sp>
        <p:nvSpPr>
          <p:cNvPr id="13" name="Text 11"/>
          <p:cNvSpPr/>
          <p:nvPr/>
        </p:nvSpPr>
        <p:spPr>
          <a:xfrm>
            <a:off x="502920" y="2578608"/>
            <a:ext cx="320040" cy="274320"/>
          </a:xfrm>
          <a:prstGeom prst="rect">
            <a:avLst/>
          </a:prstGeom>
          <a:noFill/>
          <a:ln/>
        </p:spPr>
        <p:txBody>
          <a:bodyPr wrap="square" lIns="0" tIns="0" rIns="0" bIns="0" rtlCol="0" anchor="ctr"/>
          <a:lstStyle/>
          <a:p>
            <a:pPr marL="0" indent="0" algn="ctr">
              <a:buNone/>
            </a:pPr>
            <a:r>
              <a:rPr lang="en-US" sz="1000" b="1" dirty="0">
                <a:solidFill>
                  <a:srgbClr val="1A1916"/>
                </a:solidFill>
                <a:latin typeface="Arial" pitchFamily="34" charset="0"/>
                <a:ea typeface="Arial" pitchFamily="34" charset="-122"/>
                <a:cs typeface="Arial" pitchFamily="34" charset="-120"/>
              </a:rPr>
              <a:t>02</a:t>
            </a:r>
            <a:endParaRPr lang="en-US" sz="1000" dirty="0"/>
          </a:p>
        </p:txBody>
      </p:sp>
      <p:sp>
        <p:nvSpPr>
          <p:cNvPr id="14" name="Text 12"/>
          <p:cNvSpPr/>
          <p:nvPr/>
        </p:nvSpPr>
        <p:spPr>
          <a:xfrm>
            <a:off x="932688" y="2596896"/>
            <a:ext cx="6858000" cy="246888"/>
          </a:xfrm>
          <a:prstGeom prst="rect">
            <a:avLst/>
          </a:prstGeom>
          <a:noFill/>
          <a:ln/>
        </p:spPr>
        <p:txBody>
          <a:bodyPr wrap="square" lIns="0" tIns="0" rIns="0" bIns="0" rtlCol="0" anchor="ctr"/>
          <a:lstStyle/>
          <a:p>
            <a:pPr marL="0" indent="0">
              <a:buNone/>
            </a:pPr>
            <a:r>
              <a:rPr lang="en-US" sz="1300" dirty="0">
                <a:solidFill>
                  <a:srgbClr val="CCCCCC"/>
                </a:solidFill>
                <a:latin typeface="Arial" pitchFamily="34" charset="0"/>
                <a:ea typeface="Arial" pitchFamily="34" charset="-122"/>
                <a:cs typeface="Arial" pitchFamily="34" charset="-120"/>
              </a:rPr>
              <a:t xml:space="preserve">Data flow </a:t>
            </a:r>
            <a:r>
              <a:rPr lang="en-US" sz="1300" dirty="0" err="1">
                <a:solidFill>
                  <a:srgbClr val="CCCCCC"/>
                </a:solidFill>
                <a:latin typeface="Arial" pitchFamily="34" charset="0"/>
                <a:ea typeface="Arial" pitchFamily="34" charset="-122"/>
                <a:cs typeface="Arial" pitchFamily="34" charset="-120"/>
              </a:rPr>
              <a:t>data</a:t>
            </a:r>
            <a:r>
              <a:rPr lang="en-US" sz="1300" dirty="0">
                <a:solidFill>
                  <a:srgbClr val="CCCCCC"/>
                </a:solidFill>
                <a:latin typeface="Arial" pitchFamily="34" charset="0"/>
                <a:ea typeface="Arial" pitchFamily="34" charset="-122"/>
                <a:cs typeface="Arial" pitchFamily="34" charset="-120"/>
              </a:rPr>
              <a:t xml:space="preserve"> </a:t>
            </a:r>
            <a:r>
              <a:rPr lang="pl-PL" sz="1300" dirty="0">
                <a:solidFill>
                  <a:srgbClr val="CCCCCC"/>
                </a:solidFill>
                <a:latin typeface="Arial" pitchFamily="34" charset="0"/>
                <a:ea typeface="Arial" pitchFamily="34" charset="-122"/>
                <a:cs typeface="Arial" pitchFamily="34" charset="-120"/>
              </a:rPr>
              <a:t>-</a:t>
            </a:r>
            <a:r>
              <a:rPr lang="en-US" sz="1300" dirty="0">
                <a:solidFill>
                  <a:srgbClr val="CCCCCC"/>
                </a:solidFill>
                <a:latin typeface="Arial" pitchFamily="34" charset="0"/>
                <a:ea typeface="Arial" pitchFamily="34" charset="-122"/>
                <a:cs typeface="Arial" pitchFamily="34" charset="-120"/>
              </a:rPr>
              <a:t xml:space="preserve"> co trafia do Anthropic, co lokalnie</a:t>
            </a:r>
            <a:endParaRPr lang="en-US" sz="1300" dirty="0"/>
          </a:p>
        </p:txBody>
      </p:sp>
      <p:sp>
        <p:nvSpPr>
          <p:cNvPr id="15" name="Shape 13"/>
          <p:cNvSpPr/>
          <p:nvPr/>
        </p:nvSpPr>
        <p:spPr>
          <a:xfrm>
            <a:off x="502920" y="3035808"/>
            <a:ext cx="320040" cy="274320"/>
          </a:xfrm>
          <a:prstGeom prst="rect">
            <a:avLst/>
          </a:prstGeom>
          <a:solidFill>
            <a:srgbClr val="F5A300"/>
          </a:solidFill>
          <a:ln w="12700">
            <a:solidFill>
              <a:srgbClr val="F5A300"/>
            </a:solidFill>
            <a:prstDash val="solid"/>
          </a:ln>
        </p:spPr>
        <p:txBody>
          <a:bodyPr/>
          <a:lstStyle/>
          <a:p>
            <a:endParaRPr lang="pl-PL"/>
          </a:p>
        </p:txBody>
      </p:sp>
      <p:sp>
        <p:nvSpPr>
          <p:cNvPr id="16" name="Text 14"/>
          <p:cNvSpPr/>
          <p:nvPr/>
        </p:nvSpPr>
        <p:spPr>
          <a:xfrm>
            <a:off x="502920" y="3035808"/>
            <a:ext cx="320040" cy="274320"/>
          </a:xfrm>
          <a:prstGeom prst="rect">
            <a:avLst/>
          </a:prstGeom>
          <a:noFill/>
          <a:ln/>
        </p:spPr>
        <p:txBody>
          <a:bodyPr wrap="square" lIns="0" tIns="0" rIns="0" bIns="0" rtlCol="0" anchor="ctr"/>
          <a:lstStyle/>
          <a:p>
            <a:pPr marL="0" indent="0" algn="ctr">
              <a:buNone/>
            </a:pPr>
            <a:r>
              <a:rPr lang="en-US" sz="1000" b="1" dirty="0">
                <a:solidFill>
                  <a:srgbClr val="1A1916"/>
                </a:solidFill>
                <a:latin typeface="Arial" pitchFamily="34" charset="0"/>
                <a:ea typeface="Arial" pitchFamily="34" charset="-122"/>
                <a:cs typeface="Arial" pitchFamily="34" charset="-120"/>
              </a:rPr>
              <a:t>03</a:t>
            </a:r>
            <a:endParaRPr lang="en-US" sz="1000" dirty="0"/>
          </a:p>
        </p:txBody>
      </p:sp>
      <p:sp>
        <p:nvSpPr>
          <p:cNvPr id="17" name="Text 15"/>
          <p:cNvSpPr/>
          <p:nvPr/>
        </p:nvSpPr>
        <p:spPr>
          <a:xfrm>
            <a:off x="932688" y="3054096"/>
            <a:ext cx="6858000" cy="246888"/>
          </a:xfrm>
          <a:prstGeom prst="rect">
            <a:avLst/>
          </a:prstGeom>
          <a:noFill/>
          <a:ln/>
        </p:spPr>
        <p:txBody>
          <a:bodyPr wrap="square" lIns="0" tIns="0" rIns="0" bIns="0" rtlCol="0" anchor="ctr"/>
          <a:lstStyle/>
          <a:p>
            <a:pPr marL="0" indent="0">
              <a:buNone/>
            </a:pPr>
            <a:r>
              <a:rPr lang="en-US" sz="1300" dirty="0">
                <a:solidFill>
                  <a:srgbClr val="CCCCCC"/>
                </a:solidFill>
                <a:latin typeface="Arial" pitchFamily="34" charset="0"/>
                <a:ea typeface="Arial" pitchFamily="34" charset="-122"/>
                <a:cs typeface="Arial" pitchFamily="34" charset="-120"/>
              </a:rPr>
              <a:t xml:space="preserve">API key </a:t>
            </a:r>
            <a:r>
              <a:rPr lang="pl-PL" sz="1300" dirty="0">
                <a:solidFill>
                  <a:srgbClr val="CCCCCC"/>
                </a:solidFill>
                <a:latin typeface="Arial" pitchFamily="34" charset="0"/>
                <a:ea typeface="Arial" pitchFamily="34" charset="-122"/>
                <a:cs typeface="Arial" pitchFamily="34" charset="-120"/>
              </a:rPr>
              <a:t>-</a:t>
            </a:r>
            <a:r>
              <a:rPr lang="en-US" sz="1300" dirty="0">
                <a:solidFill>
                  <a:srgbClr val="CCCCCC"/>
                </a:solidFill>
                <a:latin typeface="Arial" pitchFamily="34" charset="0"/>
                <a:ea typeface="Arial" pitchFamily="34" charset="-122"/>
                <a:cs typeface="Arial" pitchFamily="34" charset="-120"/>
              </a:rPr>
              <a:t xml:space="preserve"> access management and cost control</a:t>
            </a:r>
            <a:endParaRPr lang="en-US" sz="1300" dirty="0"/>
          </a:p>
        </p:txBody>
      </p:sp>
      <p:sp>
        <p:nvSpPr>
          <p:cNvPr id="18" name="Shape 16"/>
          <p:cNvSpPr/>
          <p:nvPr/>
        </p:nvSpPr>
        <p:spPr>
          <a:xfrm>
            <a:off x="502920" y="3493008"/>
            <a:ext cx="320040" cy="274320"/>
          </a:xfrm>
          <a:prstGeom prst="rect">
            <a:avLst/>
          </a:prstGeom>
          <a:solidFill>
            <a:srgbClr val="F5A300"/>
          </a:solidFill>
          <a:ln w="12700">
            <a:solidFill>
              <a:srgbClr val="F5A300"/>
            </a:solidFill>
            <a:prstDash val="solid"/>
          </a:ln>
        </p:spPr>
        <p:txBody>
          <a:bodyPr/>
          <a:lstStyle/>
          <a:p>
            <a:endParaRPr lang="pl-PL"/>
          </a:p>
        </p:txBody>
      </p:sp>
      <p:sp>
        <p:nvSpPr>
          <p:cNvPr id="19" name="Text 17"/>
          <p:cNvSpPr/>
          <p:nvPr/>
        </p:nvSpPr>
        <p:spPr>
          <a:xfrm>
            <a:off x="502920" y="3493008"/>
            <a:ext cx="320040" cy="274320"/>
          </a:xfrm>
          <a:prstGeom prst="rect">
            <a:avLst/>
          </a:prstGeom>
          <a:noFill/>
          <a:ln/>
        </p:spPr>
        <p:txBody>
          <a:bodyPr wrap="square" lIns="0" tIns="0" rIns="0" bIns="0" rtlCol="0" anchor="ctr"/>
          <a:lstStyle/>
          <a:p>
            <a:pPr marL="0" indent="0" algn="ctr">
              <a:buNone/>
            </a:pPr>
            <a:r>
              <a:rPr lang="en-US" sz="1000" b="1" dirty="0">
                <a:solidFill>
                  <a:srgbClr val="1A1916"/>
                </a:solidFill>
                <a:latin typeface="Arial" pitchFamily="34" charset="0"/>
                <a:ea typeface="Arial" pitchFamily="34" charset="-122"/>
                <a:cs typeface="Arial" pitchFamily="34" charset="-120"/>
              </a:rPr>
              <a:t>04</a:t>
            </a:r>
            <a:endParaRPr lang="en-US" sz="1000" dirty="0"/>
          </a:p>
        </p:txBody>
      </p:sp>
      <p:sp>
        <p:nvSpPr>
          <p:cNvPr id="20" name="Text 18"/>
          <p:cNvSpPr/>
          <p:nvPr/>
        </p:nvSpPr>
        <p:spPr>
          <a:xfrm>
            <a:off x="932688" y="3511296"/>
            <a:ext cx="6858000" cy="246888"/>
          </a:xfrm>
          <a:prstGeom prst="rect">
            <a:avLst/>
          </a:prstGeom>
          <a:noFill/>
          <a:ln/>
        </p:spPr>
        <p:txBody>
          <a:bodyPr wrap="square" lIns="0" tIns="0" rIns="0" bIns="0" rtlCol="0" anchor="ctr"/>
          <a:lstStyle/>
          <a:p>
            <a:pPr marL="0" indent="0">
              <a:buNone/>
            </a:pPr>
            <a:r>
              <a:rPr lang="en-US" sz="1300" dirty="0">
                <a:solidFill>
                  <a:srgbClr val="CCCCCC"/>
                </a:solidFill>
                <a:latin typeface="Arial" pitchFamily="34" charset="0"/>
                <a:ea typeface="Arial" pitchFamily="34" charset="-122"/>
                <a:cs typeface="Arial" pitchFamily="34" charset="-120"/>
              </a:rPr>
              <a:t xml:space="preserve">Retention </a:t>
            </a:r>
            <a:r>
              <a:rPr lang="en-US" sz="1300" dirty="0" err="1">
                <a:solidFill>
                  <a:srgbClr val="CCCCCC"/>
                </a:solidFill>
                <a:latin typeface="Arial" pitchFamily="34" charset="0"/>
                <a:ea typeface="Arial" pitchFamily="34" charset="-122"/>
                <a:cs typeface="Arial" pitchFamily="34" charset="-120"/>
              </a:rPr>
              <a:t>data</a:t>
            </a:r>
            <a:r>
              <a:rPr lang="en-US" sz="1300" dirty="0">
                <a:solidFill>
                  <a:srgbClr val="CCCCCC"/>
                </a:solidFill>
                <a:latin typeface="Arial" pitchFamily="34" charset="0"/>
                <a:ea typeface="Arial" pitchFamily="34" charset="-122"/>
                <a:cs typeface="Arial" pitchFamily="34" charset="-120"/>
              </a:rPr>
              <a:t xml:space="preserve"> </a:t>
            </a:r>
            <a:r>
              <a:rPr lang="pl-PL" sz="1300" dirty="0">
                <a:solidFill>
                  <a:srgbClr val="CCCCCC"/>
                </a:solidFill>
                <a:latin typeface="Arial" pitchFamily="34" charset="0"/>
                <a:ea typeface="Arial" pitchFamily="34" charset="-122"/>
                <a:cs typeface="Arial" pitchFamily="34" charset="-120"/>
              </a:rPr>
              <a:t>-</a:t>
            </a:r>
            <a:r>
              <a:rPr lang="en-US" sz="1300" dirty="0">
                <a:solidFill>
                  <a:srgbClr val="CCCCCC"/>
                </a:solidFill>
                <a:latin typeface="Arial" pitchFamily="34" charset="0"/>
                <a:ea typeface="Arial" pitchFamily="34" charset="-122"/>
                <a:cs typeface="Arial" pitchFamily="34" charset="-120"/>
              </a:rPr>
              <a:t xml:space="preserve"> 7-day API vs Shadow AI (private accounts)</a:t>
            </a:r>
            <a:endParaRPr lang="en-US" sz="1300" dirty="0"/>
          </a:p>
        </p:txBody>
      </p:sp>
      <p:sp>
        <p:nvSpPr>
          <p:cNvPr id="21" name="Shape 19"/>
          <p:cNvSpPr/>
          <p:nvPr/>
        </p:nvSpPr>
        <p:spPr>
          <a:xfrm>
            <a:off x="502920" y="3950208"/>
            <a:ext cx="320040" cy="274320"/>
          </a:xfrm>
          <a:prstGeom prst="rect">
            <a:avLst/>
          </a:prstGeom>
          <a:solidFill>
            <a:srgbClr val="F5A300"/>
          </a:solidFill>
          <a:ln w="12700">
            <a:solidFill>
              <a:srgbClr val="F5A300"/>
            </a:solidFill>
            <a:prstDash val="solid"/>
          </a:ln>
        </p:spPr>
        <p:txBody>
          <a:bodyPr/>
          <a:lstStyle/>
          <a:p>
            <a:endParaRPr lang="pl-PL"/>
          </a:p>
        </p:txBody>
      </p:sp>
      <p:sp>
        <p:nvSpPr>
          <p:cNvPr id="22" name="Text 20"/>
          <p:cNvSpPr/>
          <p:nvPr/>
        </p:nvSpPr>
        <p:spPr>
          <a:xfrm>
            <a:off x="502920" y="3950208"/>
            <a:ext cx="320040" cy="274320"/>
          </a:xfrm>
          <a:prstGeom prst="rect">
            <a:avLst/>
          </a:prstGeom>
          <a:noFill/>
          <a:ln/>
        </p:spPr>
        <p:txBody>
          <a:bodyPr wrap="square" lIns="0" tIns="0" rIns="0" bIns="0" rtlCol="0" anchor="ctr"/>
          <a:lstStyle/>
          <a:p>
            <a:pPr marL="0" indent="0" algn="ctr">
              <a:buNone/>
            </a:pPr>
            <a:r>
              <a:rPr lang="en-US" sz="1000" b="1" dirty="0">
                <a:solidFill>
                  <a:srgbClr val="1A1916"/>
                </a:solidFill>
                <a:latin typeface="Arial" pitchFamily="34" charset="0"/>
                <a:ea typeface="Arial" pitchFamily="34" charset="-122"/>
                <a:cs typeface="Arial" pitchFamily="34" charset="-120"/>
              </a:rPr>
              <a:t>05</a:t>
            </a:r>
            <a:endParaRPr lang="en-US" sz="1000" dirty="0"/>
          </a:p>
        </p:txBody>
      </p:sp>
      <p:sp>
        <p:nvSpPr>
          <p:cNvPr id="23" name="Text 21"/>
          <p:cNvSpPr/>
          <p:nvPr/>
        </p:nvSpPr>
        <p:spPr>
          <a:xfrm>
            <a:off x="932688" y="3968496"/>
            <a:ext cx="6858000" cy="246888"/>
          </a:xfrm>
          <a:prstGeom prst="rect">
            <a:avLst/>
          </a:prstGeom>
          <a:noFill/>
          <a:ln/>
        </p:spPr>
        <p:txBody>
          <a:bodyPr wrap="square" lIns="0" tIns="0" rIns="0" bIns="0" rtlCol="0" anchor="ctr"/>
          <a:lstStyle/>
          <a:p>
            <a:pPr marL="0" indent="0">
              <a:buNone/>
            </a:pPr>
            <a:r>
              <a:rPr lang="en-US" sz="1300" dirty="0">
                <a:solidFill>
                  <a:srgbClr val="CCCCCC"/>
                </a:solidFill>
                <a:latin typeface="Arial" pitchFamily="34" charset="0"/>
                <a:ea typeface="Arial" pitchFamily="34" charset="-122"/>
                <a:cs typeface="Arial" pitchFamily="34" charset="-120"/>
              </a:rPr>
              <a:t>Risk assessment and control matrix</a:t>
            </a:r>
            <a:endParaRPr lang="en-US" sz="1300" dirty="0"/>
          </a:p>
        </p:txBody>
      </p:sp>
      <p:sp>
        <p:nvSpPr>
          <p:cNvPr id="24" name="Shape 22"/>
          <p:cNvSpPr/>
          <p:nvPr/>
        </p:nvSpPr>
        <p:spPr>
          <a:xfrm>
            <a:off x="502920" y="4407408"/>
            <a:ext cx="320040" cy="274320"/>
          </a:xfrm>
          <a:prstGeom prst="rect">
            <a:avLst/>
          </a:prstGeom>
          <a:solidFill>
            <a:srgbClr val="F5A300"/>
          </a:solidFill>
          <a:ln w="12700">
            <a:solidFill>
              <a:srgbClr val="F5A300"/>
            </a:solidFill>
            <a:prstDash val="solid"/>
          </a:ln>
        </p:spPr>
        <p:txBody>
          <a:bodyPr/>
          <a:lstStyle/>
          <a:p>
            <a:endParaRPr lang="pl-PL"/>
          </a:p>
        </p:txBody>
      </p:sp>
      <p:sp>
        <p:nvSpPr>
          <p:cNvPr id="25" name="Text 23"/>
          <p:cNvSpPr/>
          <p:nvPr/>
        </p:nvSpPr>
        <p:spPr>
          <a:xfrm>
            <a:off x="502920" y="4407408"/>
            <a:ext cx="320040" cy="274320"/>
          </a:xfrm>
          <a:prstGeom prst="rect">
            <a:avLst/>
          </a:prstGeom>
          <a:noFill/>
          <a:ln/>
        </p:spPr>
        <p:txBody>
          <a:bodyPr wrap="square" lIns="0" tIns="0" rIns="0" bIns="0" rtlCol="0" anchor="ctr"/>
          <a:lstStyle/>
          <a:p>
            <a:pPr marL="0" indent="0" algn="ctr">
              <a:buNone/>
            </a:pPr>
            <a:r>
              <a:rPr lang="en-US" sz="1000" b="1" dirty="0">
                <a:solidFill>
                  <a:srgbClr val="1A1916"/>
                </a:solidFill>
                <a:latin typeface="Arial" pitchFamily="34" charset="0"/>
                <a:ea typeface="Arial" pitchFamily="34" charset="-122"/>
                <a:cs typeface="Arial" pitchFamily="34" charset="-120"/>
              </a:rPr>
              <a:t>06</a:t>
            </a:r>
            <a:endParaRPr lang="en-US" sz="1000" dirty="0"/>
          </a:p>
        </p:txBody>
      </p:sp>
      <p:sp>
        <p:nvSpPr>
          <p:cNvPr id="26" name="Text 24"/>
          <p:cNvSpPr/>
          <p:nvPr/>
        </p:nvSpPr>
        <p:spPr>
          <a:xfrm>
            <a:off x="932688" y="4425696"/>
            <a:ext cx="6858000" cy="246888"/>
          </a:xfrm>
          <a:prstGeom prst="rect">
            <a:avLst/>
          </a:prstGeom>
          <a:noFill/>
          <a:ln/>
        </p:spPr>
        <p:txBody>
          <a:bodyPr wrap="square" lIns="0" tIns="0" rIns="0" bIns="0" rtlCol="0" anchor="ctr"/>
          <a:lstStyle/>
          <a:p>
            <a:pPr marL="0" indent="0">
              <a:buNone/>
            </a:pPr>
            <a:r>
              <a:rPr lang="en-US" sz="1300" dirty="0">
                <a:solidFill>
                  <a:srgbClr val="CCCCCC"/>
                </a:solidFill>
                <a:latin typeface="Arial" pitchFamily="34" charset="0"/>
                <a:ea typeface="Arial" pitchFamily="34" charset="-122"/>
                <a:cs typeface="Arial" pitchFamily="34" charset="-120"/>
              </a:rPr>
              <a:t>Deployment recommendations</a:t>
            </a:r>
            <a:endParaRPr lang="en-US" sz="1300" dirty="0"/>
          </a:p>
        </p:txBody>
      </p:sp>
      <p:sp>
        <p:nvSpPr>
          <p:cNvPr id="27" name="Text 25"/>
          <p:cNvSpPr/>
          <p:nvPr/>
        </p:nvSpPr>
        <p:spPr>
          <a:xfrm>
            <a:off x="502920" y="4754880"/>
            <a:ext cx="8229600" cy="228600"/>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 xml:space="preserve">Content AI  |  Marcin Przybylski </a:t>
            </a:r>
            <a:r>
              <a:rPr lang="pl-PL" sz="1000" dirty="0">
                <a:solidFill>
                  <a:srgbClr val="666666"/>
                </a:solidFill>
                <a:latin typeface="Arial" pitchFamily="34" charset="0"/>
                <a:ea typeface="Arial" pitchFamily="34" charset="-122"/>
                <a:cs typeface="Arial" pitchFamily="34" charset="-120"/>
              </a:rPr>
              <a:t>-</a:t>
            </a:r>
            <a:r>
              <a:rPr lang="en-US" sz="1000" dirty="0">
                <a:solidFill>
                  <a:srgbClr val="666666"/>
                </a:solidFill>
                <a:latin typeface="Arial" pitchFamily="34" charset="0"/>
                <a:ea typeface="Arial" pitchFamily="34" charset="-122"/>
                <a:cs typeface="Arial" pitchFamily="34" charset="-120"/>
              </a:rPr>
              <a:t xml:space="preserve"> Web and Digital Marketing Expert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916"/>
          </a:solidFill>
          <a:ln w="12700">
            <a:solidFill>
              <a:srgbClr val="1A1916"/>
            </a:solidFill>
            <a:prstDash val="solid"/>
          </a:ln>
        </p:spPr>
        <p:txBody>
          <a:bodyPr/>
          <a:lstStyle/>
          <a:p>
            <a:endParaRPr lang="pl-PL"/>
          </a:p>
        </p:txBody>
      </p:sp>
      <p:sp>
        <p:nvSpPr>
          <p:cNvPr id="3" name="Text 1"/>
          <p:cNvSpPr/>
          <p:nvPr/>
        </p:nvSpPr>
        <p:spPr>
          <a:xfrm>
            <a:off x="320040" y="73152"/>
            <a:ext cx="4572000" cy="420624"/>
          </a:xfrm>
          <a:prstGeom prst="rect">
            <a:avLst/>
          </a:prstGeom>
          <a:noFill/>
          <a:ln/>
        </p:spPr>
        <p:txBody>
          <a:bodyPr wrap="square" lIns="0" tIns="0" rIns="0" bIns="0" rtlCol="0" anchor="ctr"/>
          <a:lstStyle/>
          <a:p>
            <a:pPr marL="0" indent="0">
              <a:buNone/>
            </a:pPr>
            <a:r>
              <a:rPr lang="en-US" sz="1100" b="1" kern="0" spc="500" dirty="0">
                <a:solidFill>
                  <a:srgbClr val="F5A300"/>
                </a:solidFill>
                <a:latin typeface="Arial" pitchFamily="34" charset="0"/>
                <a:ea typeface="Arial" pitchFamily="34" charset="-122"/>
                <a:cs typeface="Arial" pitchFamily="34" charset="-120"/>
              </a:rPr>
              <a:t>ARCHITECTURE</a:t>
            </a:r>
            <a:endParaRPr lang="en-US" sz="1100" dirty="0"/>
          </a:p>
        </p:txBody>
      </p:sp>
      <p:sp>
        <p:nvSpPr>
          <p:cNvPr id="4" name="Text 2"/>
          <p:cNvSpPr/>
          <p:nvPr/>
        </p:nvSpPr>
        <p:spPr>
          <a:xfrm>
            <a:off x="320040" y="749808"/>
            <a:ext cx="8503920" cy="54864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How Content AI works</a:t>
            </a:r>
            <a:endParaRPr lang="en-US" sz="2600" dirty="0"/>
          </a:p>
        </p:txBody>
      </p:sp>
      <p:sp>
        <p:nvSpPr>
          <p:cNvPr id="5" name="Shape 3"/>
          <p:cNvSpPr/>
          <p:nvPr/>
        </p:nvSpPr>
        <p:spPr>
          <a:xfrm>
            <a:off x="228600" y="1508760"/>
            <a:ext cx="2468880" cy="1554480"/>
          </a:xfrm>
          <a:prstGeom prst="rect">
            <a:avLst/>
          </a:prstGeom>
          <a:solidFill>
            <a:srgbClr val="DBEAFE"/>
          </a:solidFill>
          <a:ln w="8890">
            <a:solidFill>
              <a:srgbClr val="93C5FD"/>
            </a:solidFill>
            <a:prstDash val="solid"/>
          </a:ln>
          <a:effectLst>
            <a:outerShdw blurRad="63500" dist="25400" dir="8100000" algn="bl" rotWithShape="0">
              <a:srgbClr val="000000">
                <a:alpha val="9000"/>
              </a:srgbClr>
            </a:outerShdw>
          </a:effectLst>
        </p:spPr>
        <p:txBody>
          <a:bodyPr/>
          <a:lstStyle/>
          <a:p>
            <a:endParaRPr lang="pl-PL"/>
          </a:p>
        </p:txBody>
      </p:sp>
      <p:sp>
        <p:nvSpPr>
          <p:cNvPr id="6" name="Text 4"/>
          <p:cNvSpPr/>
          <p:nvPr/>
        </p:nvSpPr>
        <p:spPr>
          <a:xfrm>
            <a:off x="228600" y="1572768"/>
            <a:ext cx="246888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320040" y="2011680"/>
            <a:ext cx="2286000" cy="411480"/>
          </a:xfrm>
          <a:prstGeom prst="rect">
            <a:avLst/>
          </a:prstGeom>
          <a:noFill/>
          <a:ln/>
        </p:spPr>
        <p:txBody>
          <a:bodyPr wrap="square" lIns="0" tIns="0" rIns="0" bIns="0" rtlCol="0" anchor="ctr"/>
          <a:lstStyle/>
          <a:p>
            <a:pPr marL="0" indent="0" algn="ctr">
              <a:buNone/>
            </a:pPr>
            <a:r>
              <a:rPr lang="en-US" sz="1300" b="1" dirty="0">
                <a:solidFill>
                  <a:srgbClr val="1A1916"/>
                </a:solidFill>
                <a:latin typeface="Arial" pitchFamily="34" charset="0"/>
                <a:ea typeface="Arial" pitchFamily="34" charset="-122"/>
                <a:cs typeface="Arial" pitchFamily="34" charset="-120"/>
              </a:rPr>
              <a:t>User</a:t>
            </a:r>
            <a:endParaRPr lang="en-US" sz="1300" dirty="0"/>
          </a:p>
          <a:p>
            <a:pPr marL="0" indent="0" algn="ctr">
              <a:buNone/>
            </a:pPr>
            <a:r>
              <a:rPr lang="en-US" sz="1300" b="1" dirty="0">
                <a:solidFill>
                  <a:srgbClr val="1A1916"/>
                </a:solidFill>
                <a:latin typeface="Arial" pitchFamily="34" charset="0"/>
                <a:ea typeface="Arial" pitchFamily="34" charset="-122"/>
                <a:cs typeface="Arial" pitchFamily="34" charset="-120"/>
              </a:rPr>
              <a:t>browser</a:t>
            </a:r>
            <a:endParaRPr lang="en-US" sz="1300" dirty="0"/>
          </a:p>
        </p:txBody>
      </p:sp>
      <p:sp>
        <p:nvSpPr>
          <p:cNvPr id="8" name="Text 6"/>
          <p:cNvSpPr/>
          <p:nvPr/>
        </p:nvSpPr>
        <p:spPr>
          <a:xfrm>
            <a:off x="320040" y="2423160"/>
            <a:ext cx="2286000" cy="502920"/>
          </a:xfrm>
          <a:prstGeom prst="rect">
            <a:avLst/>
          </a:prstGeom>
          <a:noFill/>
          <a:ln/>
        </p:spPr>
        <p:txBody>
          <a:bodyPr wrap="square" lIns="0" tIns="0" rIns="0" bIns="0" rtlCol="0" anchor="ctr"/>
          <a:lstStyle/>
          <a:p>
            <a:pPr marL="0" indent="0" algn="ctr">
              <a:buNone/>
            </a:pPr>
            <a:r>
              <a:rPr lang="en-US" sz="1000" dirty="0">
                <a:solidFill>
                  <a:srgbClr val="5A5850"/>
                </a:solidFill>
                <a:latin typeface="Arial" pitchFamily="34" charset="0"/>
                <a:ea typeface="Arial" pitchFamily="34" charset="-122"/>
                <a:cs typeface="Arial" pitchFamily="34" charset="-120"/>
              </a:rPr>
              <a:t>HTML file</a:t>
            </a:r>
            <a:endParaRPr lang="en-US" sz="1000" dirty="0"/>
          </a:p>
          <a:p>
            <a:pPr marL="0" indent="0" algn="ctr">
              <a:buNone/>
            </a:pPr>
            <a:r>
              <a:rPr lang="en-US" sz="1000" dirty="0">
                <a:solidFill>
                  <a:srgbClr val="5A5850"/>
                </a:solidFill>
                <a:latin typeface="Arial" pitchFamily="34" charset="0"/>
                <a:ea typeface="Arial" pitchFamily="34" charset="-122"/>
                <a:cs typeface="Arial" pitchFamily="34" charset="-120"/>
              </a:rPr>
              <a:t>Azure / local</a:t>
            </a:r>
            <a:endParaRPr lang="en-US" sz="1000" dirty="0"/>
          </a:p>
        </p:txBody>
      </p:sp>
      <p:sp>
        <p:nvSpPr>
          <p:cNvPr id="9" name="Shape 7"/>
          <p:cNvSpPr/>
          <p:nvPr/>
        </p:nvSpPr>
        <p:spPr>
          <a:xfrm>
            <a:off x="2926080" y="1508760"/>
            <a:ext cx="2468880" cy="1554480"/>
          </a:xfrm>
          <a:prstGeom prst="rect">
            <a:avLst/>
          </a:prstGeom>
          <a:solidFill>
            <a:srgbClr val="FEF3C7"/>
          </a:solidFill>
          <a:ln w="8890">
            <a:solidFill>
              <a:srgbClr val="FCD34D"/>
            </a:solidFill>
            <a:prstDash val="solid"/>
          </a:ln>
          <a:effectLst>
            <a:outerShdw blurRad="63500" dist="25400" dir="8100000" algn="bl" rotWithShape="0">
              <a:srgbClr val="000000">
                <a:alpha val="9000"/>
              </a:srgbClr>
            </a:outerShdw>
          </a:effectLst>
        </p:spPr>
        <p:txBody>
          <a:bodyPr/>
          <a:lstStyle/>
          <a:p>
            <a:endParaRPr lang="pl-PL"/>
          </a:p>
        </p:txBody>
      </p:sp>
      <p:sp>
        <p:nvSpPr>
          <p:cNvPr id="10" name="Text 8"/>
          <p:cNvSpPr/>
          <p:nvPr/>
        </p:nvSpPr>
        <p:spPr>
          <a:xfrm>
            <a:off x="2926080" y="1572768"/>
            <a:ext cx="246888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3017520" y="2011680"/>
            <a:ext cx="2286000" cy="411480"/>
          </a:xfrm>
          <a:prstGeom prst="rect">
            <a:avLst/>
          </a:prstGeom>
          <a:noFill/>
          <a:ln/>
        </p:spPr>
        <p:txBody>
          <a:bodyPr wrap="square" lIns="0" tIns="0" rIns="0" bIns="0" rtlCol="0" anchor="ctr"/>
          <a:lstStyle/>
          <a:p>
            <a:pPr marL="0" indent="0" algn="ctr">
              <a:buNone/>
            </a:pPr>
            <a:r>
              <a:rPr lang="en-US" sz="1300" b="1" dirty="0">
                <a:solidFill>
                  <a:srgbClr val="1A1916"/>
                </a:solidFill>
                <a:latin typeface="Arial" pitchFamily="34" charset="0"/>
                <a:ea typeface="Arial" pitchFamily="34" charset="-122"/>
                <a:cs typeface="Arial" pitchFamily="34" charset="-120"/>
              </a:rPr>
              <a:t>Anthropic API</a:t>
            </a:r>
            <a:endParaRPr lang="en-US" sz="1300" dirty="0"/>
          </a:p>
        </p:txBody>
      </p:sp>
      <p:sp>
        <p:nvSpPr>
          <p:cNvPr id="12" name="Text 10"/>
          <p:cNvSpPr/>
          <p:nvPr/>
        </p:nvSpPr>
        <p:spPr>
          <a:xfrm>
            <a:off x="3017520" y="2423160"/>
            <a:ext cx="2286000" cy="502920"/>
          </a:xfrm>
          <a:prstGeom prst="rect">
            <a:avLst/>
          </a:prstGeom>
          <a:noFill/>
          <a:ln/>
        </p:spPr>
        <p:txBody>
          <a:bodyPr wrap="square" lIns="0" tIns="0" rIns="0" bIns="0" rtlCol="0" anchor="ctr"/>
          <a:lstStyle/>
          <a:p>
            <a:pPr marL="0" indent="0" algn="ctr">
              <a:buNone/>
            </a:pPr>
            <a:r>
              <a:rPr lang="en-US" sz="1000" dirty="0">
                <a:solidFill>
                  <a:srgbClr val="5A5850"/>
                </a:solidFill>
                <a:latin typeface="Arial" pitchFamily="34" charset="0"/>
                <a:ea typeface="Arial" pitchFamily="34" charset="-122"/>
                <a:cs typeface="Arial" pitchFamily="34" charset="-120"/>
              </a:rPr>
              <a:t>Claude Sonnet 4.6</a:t>
            </a:r>
            <a:endParaRPr lang="en-US" sz="1000" dirty="0"/>
          </a:p>
          <a:p>
            <a:pPr marL="0" indent="0" algn="ctr">
              <a:buNone/>
            </a:pPr>
            <a:r>
              <a:rPr lang="en-US" sz="1000" dirty="0">
                <a:solidFill>
                  <a:srgbClr val="5A5850"/>
                </a:solidFill>
                <a:latin typeface="Arial" pitchFamily="34" charset="0"/>
                <a:ea typeface="Arial" pitchFamily="34" charset="-122"/>
                <a:cs typeface="Arial" pitchFamily="34" charset="-120"/>
              </a:rPr>
              <a:t>USA / AWS</a:t>
            </a:r>
            <a:endParaRPr lang="en-US" sz="1000" dirty="0"/>
          </a:p>
        </p:txBody>
      </p:sp>
      <p:sp>
        <p:nvSpPr>
          <p:cNvPr id="13" name="Shape 11"/>
          <p:cNvSpPr/>
          <p:nvPr/>
        </p:nvSpPr>
        <p:spPr>
          <a:xfrm>
            <a:off x="5623560" y="1508760"/>
            <a:ext cx="2468880" cy="1554480"/>
          </a:xfrm>
          <a:prstGeom prst="rect">
            <a:avLst/>
          </a:prstGeom>
          <a:solidFill>
            <a:srgbClr val="D6F0E0"/>
          </a:solidFill>
          <a:ln w="8890">
            <a:solidFill>
              <a:srgbClr val="7ECBA1"/>
            </a:solidFill>
            <a:prstDash val="solid"/>
          </a:ln>
          <a:effectLst>
            <a:outerShdw blurRad="63500" dist="25400" dir="8100000" algn="bl" rotWithShape="0">
              <a:srgbClr val="000000">
                <a:alpha val="9000"/>
              </a:srgbClr>
            </a:outerShdw>
          </a:effectLst>
        </p:spPr>
        <p:txBody>
          <a:bodyPr/>
          <a:lstStyle/>
          <a:p>
            <a:endParaRPr lang="pl-PL"/>
          </a:p>
        </p:txBody>
      </p:sp>
      <p:sp>
        <p:nvSpPr>
          <p:cNvPr id="14" name="Text 12"/>
          <p:cNvSpPr/>
          <p:nvPr/>
        </p:nvSpPr>
        <p:spPr>
          <a:xfrm>
            <a:off x="5623560" y="1572768"/>
            <a:ext cx="246888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5" name="Text 13"/>
          <p:cNvSpPr/>
          <p:nvPr/>
        </p:nvSpPr>
        <p:spPr>
          <a:xfrm>
            <a:off x="5715000" y="2011680"/>
            <a:ext cx="2286000" cy="411480"/>
          </a:xfrm>
          <a:prstGeom prst="rect">
            <a:avLst/>
          </a:prstGeom>
          <a:noFill/>
          <a:ln/>
        </p:spPr>
        <p:txBody>
          <a:bodyPr wrap="square" lIns="0" tIns="0" rIns="0" bIns="0" rtlCol="0" anchor="ctr"/>
          <a:lstStyle/>
          <a:p>
            <a:pPr marL="0" indent="0" algn="ctr">
              <a:buNone/>
            </a:pPr>
            <a:r>
              <a:rPr lang="en-US" sz="1300" b="1" dirty="0">
                <a:solidFill>
                  <a:srgbClr val="1A1916"/>
                </a:solidFill>
                <a:latin typeface="Arial" pitchFamily="34" charset="0"/>
                <a:ea typeface="Arial" pitchFamily="34" charset="-122"/>
                <a:cs typeface="Arial" pitchFamily="34" charset="-120"/>
              </a:rPr>
              <a:t>Knowledge base</a:t>
            </a:r>
            <a:endParaRPr lang="en-US" sz="1300" dirty="0"/>
          </a:p>
        </p:txBody>
      </p:sp>
      <p:sp>
        <p:nvSpPr>
          <p:cNvPr id="16" name="Text 14"/>
          <p:cNvSpPr/>
          <p:nvPr/>
        </p:nvSpPr>
        <p:spPr>
          <a:xfrm>
            <a:off x="5715000" y="2423160"/>
            <a:ext cx="2286000" cy="502920"/>
          </a:xfrm>
          <a:prstGeom prst="rect">
            <a:avLst/>
          </a:prstGeom>
          <a:noFill/>
          <a:ln/>
        </p:spPr>
        <p:txBody>
          <a:bodyPr wrap="square" lIns="0" tIns="0" rIns="0" bIns="0" rtlCol="0" anchor="ctr"/>
          <a:lstStyle/>
          <a:p>
            <a:pPr marL="0" indent="0" algn="ctr">
              <a:buNone/>
            </a:pPr>
            <a:r>
              <a:rPr lang="en-US" sz="1000" dirty="0">
                <a:solidFill>
                  <a:srgbClr val="5A5850"/>
                </a:solidFill>
                <a:latin typeface="Arial" pitchFamily="34" charset="0"/>
                <a:ea typeface="Arial" pitchFamily="34" charset="-122"/>
                <a:cs typeface="Arial" pitchFamily="34" charset="-120"/>
              </a:rPr>
              <a:t>localStorage</a:t>
            </a:r>
            <a:endParaRPr lang="en-US" sz="1000" dirty="0"/>
          </a:p>
          <a:p>
            <a:pPr marL="0" indent="0" algn="ctr">
              <a:buNone/>
            </a:pPr>
            <a:r>
              <a:rPr lang="en-US" sz="1000" dirty="0">
                <a:solidFill>
                  <a:srgbClr val="5A5850"/>
                </a:solidFill>
                <a:latin typeface="Arial" pitchFamily="34" charset="0"/>
                <a:ea typeface="Arial" pitchFamily="34" charset="-122"/>
                <a:cs typeface="Arial" pitchFamily="34" charset="-120"/>
              </a:rPr>
              <a:t>browser</a:t>
            </a:r>
            <a:endParaRPr lang="en-US" sz="1000" dirty="0"/>
          </a:p>
        </p:txBody>
      </p:sp>
      <p:sp>
        <p:nvSpPr>
          <p:cNvPr id="17" name="Shape 15"/>
          <p:cNvSpPr/>
          <p:nvPr/>
        </p:nvSpPr>
        <p:spPr>
          <a:xfrm>
            <a:off x="2706624" y="2176272"/>
            <a:ext cx="201168" cy="73152"/>
          </a:xfrm>
          <a:prstGeom prst="rect">
            <a:avLst/>
          </a:prstGeom>
          <a:solidFill>
            <a:srgbClr val="1A1916"/>
          </a:solidFill>
          <a:ln w="12700">
            <a:solidFill>
              <a:srgbClr val="1A1916"/>
            </a:solidFill>
            <a:prstDash val="solid"/>
          </a:ln>
        </p:spPr>
        <p:txBody>
          <a:bodyPr/>
          <a:lstStyle/>
          <a:p>
            <a:endParaRPr lang="pl-PL"/>
          </a:p>
        </p:txBody>
      </p:sp>
      <p:sp>
        <p:nvSpPr>
          <p:cNvPr id="20" name="Shape 18"/>
          <p:cNvSpPr/>
          <p:nvPr/>
        </p:nvSpPr>
        <p:spPr>
          <a:xfrm>
            <a:off x="5408676" y="2176272"/>
            <a:ext cx="201168" cy="73152"/>
          </a:xfrm>
          <a:prstGeom prst="rect">
            <a:avLst/>
          </a:prstGeom>
          <a:solidFill>
            <a:srgbClr val="1A1916"/>
          </a:solidFill>
          <a:ln w="12700">
            <a:solidFill>
              <a:srgbClr val="1A1916"/>
            </a:solidFill>
            <a:prstDash val="solid"/>
          </a:ln>
        </p:spPr>
        <p:txBody>
          <a:bodyPr/>
          <a:lstStyle/>
          <a:p>
            <a:endParaRPr lang="pl-PL"/>
          </a:p>
        </p:txBody>
      </p:sp>
      <p:sp>
        <p:nvSpPr>
          <p:cNvPr id="23" name="Shape 21"/>
          <p:cNvSpPr/>
          <p:nvPr/>
        </p:nvSpPr>
        <p:spPr>
          <a:xfrm>
            <a:off x="228600" y="3291840"/>
            <a:ext cx="146304" cy="146304"/>
          </a:xfrm>
          <a:prstGeom prst="ellipse">
            <a:avLst/>
          </a:prstGeom>
          <a:solidFill>
            <a:srgbClr val="1E4D8C"/>
          </a:solidFill>
          <a:ln w="12700">
            <a:solidFill>
              <a:srgbClr val="1E4D8C"/>
            </a:solidFill>
            <a:prstDash val="solid"/>
          </a:ln>
        </p:spPr>
        <p:txBody>
          <a:bodyPr/>
          <a:lstStyle/>
          <a:p>
            <a:endParaRPr lang="pl-PL"/>
          </a:p>
        </p:txBody>
      </p:sp>
      <p:sp>
        <p:nvSpPr>
          <p:cNvPr id="24" name="Text 22"/>
          <p:cNvSpPr/>
          <p:nvPr/>
        </p:nvSpPr>
        <p:spPr>
          <a:xfrm>
            <a:off x="475488" y="3255264"/>
            <a:ext cx="8412480" cy="201168"/>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No own Content AI server - the app is a single HTML file</a:t>
            </a:r>
            <a:endParaRPr lang="en-US" sz="1200" dirty="0"/>
          </a:p>
        </p:txBody>
      </p:sp>
      <p:sp>
        <p:nvSpPr>
          <p:cNvPr id="25" name="Shape 23"/>
          <p:cNvSpPr/>
          <p:nvPr/>
        </p:nvSpPr>
        <p:spPr>
          <a:xfrm>
            <a:off x="228600" y="3694176"/>
            <a:ext cx="146304" cy="146304"/>
          </a:xfrm>
          <a:prstGeom prst="ellipse">
            <a:avLst/>
          </a:prstGeom>
          <a:solidFill>
            <a:srgbClr val="B45309"/>
          </a:solidFill>
          <a:ln w="12700">
            <a:solidFill>
              <a:srgbClr val="B45309"/>
            </a:solidFill>
            <a:prstDash val="solid"/>
          </a:ln>
        </p:spPr>
        <p:txBody>
          <a:bodyPr/>
          <a:lstStyle/>
          <a:p>
            <a:endParaRPr lang="pl-PL"/>
          </a:p>
        </p:txBody>
      </p:sp>
      <p:sp>
        <p:nvSpPr>
          <p:cNvPr id="26" name="Text 24"/>
          <p:cNvSpPr/>
          <p:nvPr/>
        </p:nvSpPr>
        <p:spPr>
          <a:xfrm>
            <a:off x="475488" y="3657600"/>
            <a:ext cx="8412480" cy="201168"/>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Content for generation goes to the Anthropic API (encrypted HTTPS/TLS 1.3)</a:t>
            </a:r>
            <a:endParaRPr lang="en-US" sz="1200" dirty="0"/>
          </a:p>
        </p:txBody>
      </p:sp>
      <p:sp>
        <p:nvSpPr>
          <p:cNvPr id="27" name="Shape 25"/>
          <p:cNvSpPr/>
          <p:nvPr/>
        </p:nvSpPr>
        <p:spPr>
          <a:xfrm>
            <a:off x="228600" y="4096512"/>
            <a:ext cx="146304" cy="146304"/>
          </a:xfrm>
          <a:prstGeom prst="ellipse">
            <a:avLst/>
          </a:prstGeom>
          <a:solidFill>
            <a:srgbClr val="1E7A4A"/>
          </a:solidFill>
          <a:ln w="12700">
            <a:solidFill>
              <a:srgbClr val="1E7A4A"/>
            </a:solidFill>
            <a:prstDash val="solid"/>
          </a:ln>
        </p:spPr>
        <p:txBody>
          <a:bodyPr/>
          <a:lstStyle/>
          <a:p>
            <a:endParaRPr lang="pl-PL"/>
          </a:p>
        </p:txBody>
      </p:sp>
      <p:sp>
        <p:nvSpPr>
          <p:cNvPr id="28" name="Text 26"/>
          <p:cNvSpPr/>
          <p:nvPr/>
        </p:nvSpPr>
        <p:spPr>
          <a:xfrm>
            <a:off x="475488" y="4059936"/>
            <a:ext cx="8412480" cy="201168"/>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Article history and knowledge base - only locally in the user's browser</a:t>
            </a:r>
            <a:endParaRPr lang="en-US" sz="1200" dirty="0"/>
          </a:p>
        </p:txBody>
      </p:sp>
      <p:sp>
        <p:nvSpPr>
          <p:cNvPr id="29" name="Shape 27"/>
          <p:cNvSpPr/>
          <p:nvPr/>
        </p:nvSpPr>
        <p:spPr>
          <a:xfrm>
            <a:off x="228600" y="4498848"/>
            <a:ext cx="146304" cy="146304"/>
          </a:xfrm>
          <a:prstGeom prst="ellipse">
            <a:avLst/>
          </a:prstGeom>
          <a:solidFill>
            <a:srgbClr val="E23244"/>
          </a:solidFill>
          <a:ln w="12700">
            <a:solidFill>
              <a:srgbClr val="E23244"/>
            </a:solidFill>
            <a:prstDash val="solid"/>
          </a:ln>
        </p:spPr>
        <p:txBody>
          <a:bodyPr/>
          <a:lstStyle/>
          <a:p>
            <a:endParaRPr lang="pl-PL"/>
          </a:p>
        </p:txBody>
      </p:sp>
      <p:sp>
        <p:nvSpPr>
          <p:cNvPr id="30" name="Text 28"/>
          <p:cNvSpPr/>
          <p:nvPr/>
        </p:nvSpPr>
        <p:spPr>
          <a:xfrm>
            <a:off x="475488" y="4462272"/>
            <a:ext cx="8412480" cy="201168"/>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No data goes to Content AI servers or external databases</a:t>
            </a:r>
            <a:endParaRPr lang="en-US" sz="1200" dirty="0"/>
          </a:p>
        </p:txBody>
      </p:sp>
      <p:sp>
        <p:nvSpPr>
          <p:cNvPr id="31" name="Prostokąt 30">
            <a:extLst>
              <a:ext uri="{FF2B5EF4-FFF2-40B4-BE49-F238E27FC236}">
                <a16:creationId xmlns:a16="http://schemas.microsoft.com/office/drawing/2014/main" id="{C2D9B1A1-57F3-BC2E-2F46-383AC885E827}"/>
              </a:ext>
            </a:extLst>
          </p:cNvPr>
          <p:cNvSpPr/>
          <p:nvPr/>
        </p:nvSpPr>
        <p:spPr>
          <a:xfrm>
            <a:off x="2606040" y="2304288"/>
            <a:ext cx="411480" cy="31089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sp>
        <p:nvSpPr>
          <p:cNvPr id="19" name="Text 17"/>
          <p:cNvSpPr/>
          <p:nvPr/>
        </p:nvSpPr>
        <p:spPr>
          <a:xfrm>
            <a:off x="2587752" y="2304288"/>
            <a:ext cx="457200" cy="320040"/>
          </a:xfrm>
          <a:prstGeom prst="rect">
            <a:avLst/>
          </a:prstGeom>
          <a:noFill/>
          <a:ln/>
        </p:spPr>
        <p:txBody>
          <a:bodyPr wrap="square" lIns="0" tIns="0" rIns="0" bIns="0" rtlCol="0" anchor="ctr"/>
          <a:lstStyle/>
          <a:p>
            <a:pPr marL="0" indent="0" algn="ctr">
              <a:buNone/>
            </a:pPr>
            <a:r>
              <a:rPr lang="en-US" sz="800" dirty="0">
                <a:solidFill>
                  <a:srgbClr val="5A5850"/>
                </a:solidFill>
                <a:latin typeface="Arial" pitchFamily="34" charset="0"/>
                <a:ea typeface="Arial" pitchFamily="34" charset="-122"/>
                <a:cs typeface="Arial" pitchFamily="34" charset="-120"/>
              </a:rPr>
              <a:t>HTTPS</a:t>
            </a:r>
            <a:endParaRPr lang="en-US" sz="800" dirty="0"/>
          </a:p>
          <a:p>
            <a:pPr marL="0" indent="0" algn="ctr">
              <a:buNone/>
            </a:pPr>
            <a:r>
              <a:rPr lang="en-US" sz="800" dirty="0">
                <a:solidFill>
                  <a:srgbClr val="5A5850"/>
                </a:solidFill>
                <a:latin typeface="Arial" pitchFamily="34" charset="0"/>
                <a:ea typeface="Arial" pitchFamily="34" charset="-122"/>
                <a:cs typeface="Arial" pitchFamily="34" charset="-120"/>
              </a:rPr>
              <a:t>API call</a:t>
            </a:r>
            <a:endParaRPr lang="en-US" sz="800" dirty="0"/>
          </a:p>
        </p:txBody>
      </p:sp>
      <p:sp>
        <p:nvSpPr>
          <p:cNvPr id="33" name="Prostokąt 32">
            <a:extLst>
              <a:ext uri="{FF2B5EF4-FFF2-40B4-BE49-F238E27FC236}">
                <a16:creationId xmlns:a16="http://schemas.microsoft.com/office/drawing/2014/main" id="{D4910350-A912-082B-22CA-5080804DC384}"/>
              </a:ext>
            </a:extLst>
          </p:cNvPr>
          <p:cNvSpPr/>
          <p:nvPr/>
        </p:nvSpPr>
        <p:spPr>
          <a:xfrm>
            <a:off x="5296662" y="2304288"/>
            <a:ext cx="411480" cy="31089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sp>
        <p:nvSpPr>
          <p:cNvPr id="22" name="Text 20"/>
          <p:cNvSpPr/>
          <p:nvPr/>
        </p:nvSpPr>
        <p:spPr>
          <a:xfrm>
            <a:off x="5276088" y="2304288"/>
            <a:ext cx="457200" cy="320040"/>
          </a:xfrm>
          <a:prstGeom prst="rect">
            <a:avLst/>
          </a:prstGeom>
          <a:noFill/>
          <a:ln/>
        </p:spPr>
        <p:txBody>
          <a:bodyPr wrap="square" lIns="0" tIns="0" rIns="0" bIns="0" rtlCol="0" anchor="ctr"/>
          <a:lstStyle/>
          <a:p>
            <a:pPr marL="0" indent="0" algn="ctr">
              <a:buNone/>
            </a:pPr>
            <a:r>
              <a:rPr lang="pl-PL" sz="800" dirty="0">
                <a:solidFill>
                  <a:srgbClr val="5A5850"/>
                </a:solidFill>
                <a:latin typeface="Arial" pitchFamily="34" charset="0"/>
                <a:ea typeface="Arial" pitchFamily="34" charset="-122"/>
                <a:cs typeface="Arial" pitchFamily="34" charset="-120"/>
              </a:rPr>
              <a:t>Z</a:t>
            </a:r>
            <a:r>
              <a:rPr lang="en-US" sz="800" dirty="0" err="1">
                <a:solidFill>
                  <a:srgbClr val="5A5850"/>
                </a:solidFill>
                <a:latin typeface="Arial" pitchFamily="34" charset="0"/>
                <a:ea typeface="Arial" pitchFamily="34" charset="-122"/>
                <a:cs typeface="Arial" pitchFamily="34" charset="-120"/>
              </a:rPr>
              <a:t>apis</a:t>
            </a:r>
            <a:endParaRPr lang="en-US" sz="800" dirty="0"/>
          </a:p>
          <a:p>
            <a:pPr marL="0" indent="0" algn="ctr">
              <a:buNone/>
            </a:pPr>
            <a:r>
              <a:rPr lang="en-US" sz="800" dirty="0">
                <a:solidFill>
                  <a:srgbClr val="5A5850"/>
                </a:solidFill>
                <a:latin typeface="Arial" pitchFamily="34" charset="0"/>
                <a:ea typeface="Arial" pitchFamily="34" charset="-122"/>
                <a:cs typeface="Arial" pitchFamily="34" charset="-120"/>
              </a:rPr>
              <a:t>lokalny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916"/>
          </a:solidFill>
          <a:ln w="12700">
            <a:solidFill>
              <a:srgbClr val="1A1916"/>
            </a:solidFill>
            <a:prstDash val="solid"/>
          </a:ln>
        </p:spPr>
        <p:txBody>
          <a:bodyPr/>
          <a:lstStyle/>
          <a:p>
            <a:endParaRPr lang="pl-PL"/>
          </a:p>
        </p:txBody>
      </p:sp>
      <p:sp>
        <p:nvSpPr>
          <p:cNvPr id="3" name="Text 1"/>
          <p:cNvSpPr/>
          <p:nvPr/>
        </p:nvSpPr>
        <p:spPr>
          <a:xfrm>
            <a:off x="320040" y="73152"/>
            <a:ext cx="5486400" cy="420624"/>
          </a:xfrm>
          <a:prstGeom prst="rect">
            <a:avLst/>
          </a:prstGeom>
          <a:noFill/>
          <a:ln/>
        </p:spPr>
        <p:txBody>
          <a:bodyPr wrap="square" lIns="0" tIns="0" rIns="0" bIns="0" rtlCol="0" anchor="ctr"/>
          <a:lstStyle/>
          <a:p>
            <a:pPr marL="0" indent="0">
              <a:buNone/>
            </a:pPr>
            <a:r>
              <a:rPr lang="en-US" sz="1100" b="1" kern="0" spc="500" dirty="0">
                <a:solidFill>
                  <a:srgbClr val="F5A300"/>
                </a:solidFill>
                <a:latin typeface="Arial" pitchFamily="34" charset="0"/>
                <a:ea typeface="Arial" pitchFamily="34" charset="-122"/>
                <a:cs typeface="Arial" pitchFamily="34" charset="-120"/>
              </a:rPr>
              <a:t>DATA FLOW</a:t>
            </a:r>
            <a:endParaRPr lang="en-US" sz="1100" dirty="0"/>
          </a:p>
        </p:txBody>
      </p:sp>
      <p:sp>
        <p:nvSpPr>
          <p:cNvPr id="4" name="Text 2"/>
          <p:cNvSpPr/>
          <p:nvPr/>
        </p:nvSpPr>
        <p:spPr>
          <a:xfrm>
            <a:off x="320040" y="749808"/>
            <a:ext cx="8503920" cy="54864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What goes to Anthropic, and what stays local</a:t>
            </a:r>
            <a:endParaRPr lang="en-US" sz="2600" dirty="0"/>
          </a:p>
        </p:txBody>
      </p:sp>
      <p:sp>
        <p:nvSpPr>
          <p:cNvPr id="5" name="Shape 3"/>
          <p:cNvSpPr/>
          <p:nvPr/>
        </p:nvSpPr>
        <p:spPr>
          <a:xfrm>
            <a:off x="228600" y="1481328"/>
            <a:ext cx="4023360" cy="347472"/>
          </a:xfrm>
          <a:prstGeom prst="rect">
            <a:avLst/>
          </a:prstGeom>
          <a:solidFill>
            <a:srgbClr val="B45309"/>
          </a:solidFill>
          <a:ln w="12700">
            <a:solidFill>
              <a:srgbClr val="B45309"/>
            </a:solidFill>
            <a:prstDash val="solid"/>
          </a:ln>
        </p:spPr>
        <p:txBody>
          <a:bodyPr/>
          <a:lstStyle/>
          <a:p>
            <a:endParaRPr lang="pl-PL"/>
          </a:p>
        </p:txBody>
      </p:sp>
      <p:sp>
        <p:nvSpPr>
          <p:cNvPr id="6" name="Text 4"/>
          <p:cNvSpPr/>
          <p:nvPr/>
        </p:nvSpPr>
        <p:spPr>
          <a:xfrm>
            <a:off x="228600" y="1481328"/>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GOES TO THE ANTHROPIC API</a:t>
            </a:r>
            <a:endParaRPr lang="en-US" sz="1200" dirty="0"/>
          </a:p>
        </p:txBody>
      </p:sp>
      <p:sp>
        <p:nvSpPr>
          <p:cNvPr id="7" name="Shape 5"/>
          <p:cNvSpPr/>
          <p:nvPr/>
        </p:nvSpPr>
        <p:spPr>
          <a:xfrm>
            <a:off x="228600" y="1874520"/>
            <a:ext cx="4023360" cy="420624"/>
          </a:xfrm>
          <a:prstGeom prst="rect">
            <a:avLst/>
          </a:prstGeom>
          <a:solidFill>
            <a:srgbClr val="FEF3C7"/>
          </a:solidFill>
          <a:ln w="5080">
            <a:solidFill>
              <a:srgbClr val="FCD34D"/>
            </a:solidFill>
            <a:prstDash val="solid"/>
          </a:ln>
        </p:spPr>
        <p:txBody>
          <a:bodyPr/>
          <a:lstStyle/>
          <a:p>
            <a:endParaRPr lang="pl-PL"/>
          </a:p>
        </p:txBody>
      </p:sp>
      <p:sp>
        <p:nvSpPr>
          <p:cNvPr id="8" name="Text 6"/>
          <p:cNvSpPr/>
          <p:nvPr/>
        </p:nvSpPr>
        <p:spPr>
          <a:xfrm>
            <a:off x="347472" y="1892808"/>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Article topic (e.g. "Content AI BOX")</a:t>
            </a:r>
            <a:endParaRPr lang="en-US" sz="1150" dirty="0"/>
          </a:p>
        </p:txBody>
      </p:sp>
      <p:sp>
        <p:nvSpPr>
          <p:cNvPr id="9" name="Shape 7"/>
          <p:cNvSpPr/>
          <p:nvPr/>
        </p:nvSpPr>
        <p:spPr>
          <a:xfrm>
            <a:off x="228600" y="2359152"/>
            <a:ext cx="4023360" cy="420624"/>
          </a:xfrm>
          <a:prstGeom prst="rect">
            <a:avLst/>
          </a:prstGeom>
          <a:solidFill>
            <a:srgbClr val="FEF3C7"/>
          </a:solidFill>
          <a:ln w="5080">
            <a:solidFill>
              <a:srgbClr val="FCD34D"/>
            </a:solidFill>
            <a:prstDash val="solid"/>
          </a:ln>
        </p:spPr>
        <p:txBody>
          <a:bodyPr/>
          <a:lstStyle/>
          <a:p>
            <a:endParaRPr lang="pl-PL"/>
          </a:p>
        </p:txBody>
      </p:sp>
      <p:sp>
        <p:nvSpPr>
          <p:cNvPr id="10" name="Text 8"/>
          <p:cNvSpPr/>
          <p:nvPr/>
        </p:nvSpPr>
        <p:spPr>
          <a:xfrm>
            <a:off x="347472" y="2377440"/>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Content of knowledge base documents</a:t>
            </a:r>
            <a:endParaRPr lang="en-US" sz="1150" dirty="0"/>
          </a:p>
        </p:txBody>
      </p:sp>
      <p:sp>
        <p:nvSpPr>
          <p:cNvPr id="11" name="Shape 9"/>
          <p:cNvSpPr/>
          <p:nvPr/>
        </p:nvSpPr>
        <p:spPr>
          <a:xfrm>
            <a:off x="228600" y="2843784"/>
            <a:ext cx="4023360" cy="420624"/>
          </a:xfrm>
          <a:prstGeom prst="rect">
            <a:avLst/>
          </a:prstGeom>
          <a:solidFill>
            <a:srgbClr val="FEF3C7"/>
          </a:solidFill>
          <a:ln w="5080">
            <a:solidFill>
              <a:srgbClr val="FCD34D"/>
            </a:solidFill>
            <a:prstDash val="solid"/>
          </a:ln>
        </p:spPr>
        <p:txBody>
          <a:bodyPr/>
          <a:lstStyle/>
          <a:p>
            <a:endParaRPr lang="pl-PL"/>
          </a:p>
        </p:txBody>
      </p:sp>
      <p:sp>
        <p:nvSpPr>
          <p:cNvPr id="12" name="Text 10"/>
          <p:cNvSpPr/>
          <p:nvPr/>
        </p:nvSpPr>
        <p:spPr>
          <a:xfrm>
            <a:off x="347472" y="2862072"/>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URLs added to the knowledge base</a:t>
            </a:r>
            <a:endParaRPr lang="en-US" sz="1150" dirty="0"/>
          </a:p>
        </p:txBody>
      </p:sp>
      <p:sp>
        <p:nvSpPr>
          <p:cNvPr id="13" name="Shape 11"/>
          <p:cNvSpPr/>
          <p:nvPr/>
        </p:nvSpPr>
        <p:spPr>
          <a:xfrm>
            <a:off x="228600" y="3328416"/>
            <a:ext cx="4023360" cy="420624"/>
          </a:xfrm>
          <a:prstGeom prst="rect">
            <a:avLst/>
          </a:prstGeom>
          <a:solidFill>
            <a:srgbClr val="FEF3C7"/>
          </a:solidFill>
          <a:ln w="5080">
            <a:solidFill>
              <a:srgbClr val="FCD34D"/>
            </a:solidFill>
            <a:prstDash val="solid"/>
          </a:ln>
        </p:spPr>
        <p:txBody>
          <a:bodyPr/>
          <a:lstStyle/>
          <a:p>
            <a:endParaRPr lang="pl-PL"/>
          </a:p>
        </p:txBody>
      </p:sp>
      <p:sp>
        <p:nvSpPr>
          <p:cNvPr id="14" name="Text 12"/>
          <p:cNvSpPr/>
          <p:nvPr/>
        </p:nvSpPr>
        <p:spPr>
          <a:xfrm>
            <a:off x="347472" y="3346704"/>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Generation settings (type, length, tone)</a:t>
            </a:r>
            <a:endParaRPr lang="en-US" sz="1150" dirty="0"/>
          </a:p>
        </p:txBody>
      </p:sp>
      <p:sp>
        <p:nvSpPr>
          <p:cNvPr id="15" name="Shape 13"/>
          <p:cNvSpPr/>
          <p:nvPr/>
        </p:nvSpPr>
        <p:spPr>
          <a:xfrm>
            <a:off x="228600" y="3813048"/>
            <a:ext cx="4023360" cy="420624"/>
          </a:xfrm>
          <a:prstGeom prst="rect">
            <a:avLst/>
          </a:prstGeom>
          <a:solidFill>
            <a:srgbClr val="FEF3C7"/>
          </a:solidFill>
          <a:ln w="5080">
            <a:solidFill>
              <a:srgbClr val="FCD34D"/>
            </a:solidFill>
            <a:prstDash val="solid"/>
          </a:ln>
        </p:spPr>
        <p:txBody>
          <a:bodyPr/>
          <a:lstStyle/>
          <a:p>
            <a:endParaRPr lang="pl-PL"/>
          </a:p>
        </p:txBody>
      </p:sp>
      <p:sp>
        <p:nvSpPr>
          <p:cNvPr id="16" name="Text 14"/>
          <p:cNvSpPr/>
          <p:nvPr/>
        </p:nvSpPr>
        <p:spPr>
          <a:xfrm>
            <a:off x="347472" y="3831336"/>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Brand Voice - writing style description
⚠  Image prompt (to the OpenAI API, when using the image generator)</a:t>
            </a:r>
            <a:endParaRPr lang="en-US" sz="1150" dirty="0"/>
          </a:p>
        </p:txBody>
      </p:sp>
      <p:sp>
        <p:nvSpPr>
          <p:cNvPr id="17" name="Shape 15"/>
          <p:cNvSpPr/>
          <p:nvPr/>
        </p:nvSpPr>
        <p:spPr>
          <a:xfrm>
            <a:off x="4892040" y="1481328"/>
            <a:ext cx="4023360" cy="347472"/>
          </a:xfrm>
          <a:prstGeom prst="rect">
            <a:avLst/>
          </a:prstGeom>
          <a:solidFill>
            <a:srgbClr val="1E7A4A"/>
          </a:solidFill>
          <a:ln w="12700">
            <a:solidFill>
              <a:srgbClr val="1E7A4A"/>
            </a:solidFill>
            <a:prstDash val="solid"/>
          </a:ln>
        </p:spPr>
        <p:txBody>
          <a:bodyPr/>
          <a:lstStyle/>
          <a:p>
            <a:endParaRPr lang="pl-PL"/>
          </a:p>
        </p:txBody>
      </p:sp>
      <p:sp>
        <p:nvSpPr>
          <p:cNvPr id="18" name="Text 16"/>
          <p:cNvSpPr/>
          <p:nvPr/>
        </p:nvSpPr>
        <p:spPr>
          <a:xfrm>
            <a:off x="4892040" y="1481328"/>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STAYS LOCAL</a:t>
            </a:r>
            <a:endParaRPr lang="en-US" sz="1200" dirty="0"/>
          </a:p>
        </p:txBody>
      </p:sp>
      <p:sp>
        <p:nvSpPr>
          <p:cNvPr id="19" name="Shape 17"/>
          <p:cNvSpPr/>
          <p:nvPr/>
        </p:nvSpPr>
        <p:spPr>
          <a:xfrm>
            <a:off x="4892040" y="1874520"/>
            <a:ext cx="4023360" cy="420624"/>
          </a:xfrm>
          <a:prstGeom prst="rect">
            <a:avLst/>
          </a:prstGeom>
          <a:solidFill>
            <a:srgbClr val="D6F0E0"/>
          </a:solidFill>
          <a:ln w="5080">
            <a:solidFill>
              <a:srgbClr val="7ECBA1"/>
            </a:solidFill>
            <a:prstDash val="solid"/>
          </a:ln>
        </p:spPr>
        <p:txBody>
          <a:bodyPr/>
          <a:lstStyle/>
          <a:p>
            <a:endParaRPr lang="pl-PL"/>
          </a:p>
        </p:txBody>
      </p:sp>
      <p:sp>
        <p:nvSpPr>
          <p:cNvPr id="20" name="Text 18"/>
          <p:cNvSpPr/>
          <p:nvPr/>
        </p:nvSpPr>
        <p:spPr>
          <a:xfrm>
            <a:off x="5010912" y="1892808"/>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History of generated articles</a:t>
            </a:r>
            <a:endParaRPr lang="en-US" sz="1150" dirty="0"/>
          </a:p>
        </p:txBody>
      </p:sp>
      <p:sp>
        <p:nvSpPr>
          <p:cNvPr id="21" name="Shape 19"/>
          <p:cNvSpPr/>
          <p:nvPr/>
        </p:nvSpPr>
        <p:spPr>
          <a:xfrm>
            <a:off x="4892040" y="2359152"/>
            <a:ext cx="4023360" cy="420624"/>
          </a:xfrm>
          <a:prstGeom prst="rect">
            <a:avLst/>
          </a:prstGeom>
          <a:solidFill>
            <a:srgbClr val="D6F0E0"/>
          </a:solidFill>
          <a:ln w="5080">
            <a:solidFill>
              <a:srgbClr val="7ECBA1"/>
            </a:solidFill>
            <a:prstDash val="solid"/>
          </a:ln>
        </p:spPr>
        <p:txBody>
          <a:bodyPr/>
          <a:lstStyle/>
          <a:p>
            <a:endParaRPr lang="pl-PL"/>
          </a:p>
        </p:txBody>
      </p:sp>
      <p:sp>
        <p:nvSpPr>
          <p:cNvPr id="22" name="Text 20"/>
          <p:cNvSpPr/>
          <p:nvPr/>
        </p:nvSpPr>
        <p:spPr>
          <a:xfrm>
            <a:off x="5010912" y="2377440"/>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Anthropic API key (in the HTML file)</a:t>
            </a:r>
            <a:endParaRPr lang="en-US" sz="1150" dirty="0"/>
          </a:p>
        </p:txBody>
      </p:sp>
      <p:sp>
        <p:nvSpPr>
          <p:cNvPr id="23" name="Shape 21"/>
          <p:cNvSpPr/>
          <p:nvPr/>
        </p:nvSpPr>
        <p:spPr>
          <a:xfrm>
            <a:off x="4892040" y="2843784"/>
            <a:ext cx="4023360" cy="420624"/>
          </a:xfrm>
          <a:prstGeom prst="rect">
            <a:avLst/>
          </a:prstGeom>
          <a:solidFill>
            <a:srgbClr val="D6F0E0"/>
          </a:solidFill>
          <a:ln w="5080">
            <a:solidFill>
              <a:srgbClr val="7ECBA1"/>
            </a:solidFill>
            <a:prstDash val="solid"/>
          </a:ln>
        </p:spPr>
        <p:txBody>
          <a:bodyPr/>
          <a:lstStyle/>
          <a:p>
            <a:endParaRPr lang="pl-PL"/>
          </a:p>
        </p:txBody>
      </p:sp>
      <p:sp>
        <p:nvSpPr>
          <p:cNvPr id="24" name="Text 22"/>
          <p:cNvSpPr/>
          <p:nvPr/>
        </p:nvSpPr>
        <p:spPr>
          <a:xfrm>
            <a:off x="5010912" y="2862072"/>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Brand Voice settings (style profile)</a:t>
            </a:r>
            <a:endParaRPr lang="en-US" sz="1150" dirty="0"/>
          </a:p>
        </p:txBody>
      </p:sp>
      <p:sp>
        <p:nvSpPr>
          <p:cNvPr id="25" name="Shape 23"/>
          <p:cNvSpPr/>
          <p:nvPr/>
        </p:nvSpPr>
        <p:spPr>
          <a:xfrm>
            <a:off x="4892040" y="3328416"/>
            <a:ext cx="4023360" cy="420624"/>
          </a:xfrm>
          <a:prstGeom prst="rect">
            <a:avLst/>
          </a:prstGeom>
          <a:solidFill>
            <a:srgbClr val="D6F0E0"/>
          </a:solidFill>
          <a:ln w="5080">
            <a:solidFill>
              <a:srgbClr val="7ECBA1"/>
            </a:solidFill>
            <a:prstDash val="solid"/>
          </a:ln>
        </p:spPr>
        <p:txBody>
          <a:bodyPr/>
          <a:lstStyle/>
          <a:p>
            <a:endParaRPr lang="pl-PL"/>
          </a:p>
        </p:txBody>
      </p:sp>
      <p:sp>
        <p:nvSpPr>
          <p:cNvPr id="26" name="Text 24"/>
          <p:cNvSpPr/>
          <p:nvPr/>
        </p:nvSpPr>
        <p:spPr>
          <a:xfrm>
            <a:off x="5010912" y="3346704"/>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Counter of generated articles</a:t>
            </a:r>
            <a:endParaRPr lang="en-US" sz="1150" dirty="0"/>
          </a:p>
        </p:txBody>
      </p:sp>
      <p:sp>
        <p:nvSpPr>
          <p:cNvPr id="27" name="Shape 25"/>
          <p:cNvSpPr/>
          <p:nvPr/>
        </p:nvSpPr>
        <p:spPr>
          <a:xfrm>
            <a:off x="4892040" y="3813048"/>
            <a:ext cx="4023360" cy="420624"/>
          </a:xfrm>
          <a:prstGeom prst="rect">
            <a:avLst/>
          </a:prstGeom>
          <a:solidFill>
            <a:srgbClr val="D6F0E0"/>
          </a:solidFill>
          <a:ln w="5080">
            <a:solidFill>
              <a:srgbClr val="7ECBA1"/>
            </a:solidFill>
            <a:prstDash val="solid"/>
          </a:ln>
        </p:spPr>
        <p:txBody>
          <a:bodyPr/>
          <a:lstStyle/>
          <a:p>
            <a:endParaRPr lang="pl-PL"/>
          </a:p>
        </p:txBody>
      </p:sp>
      <p:sp>
        <p:nvSpPr>
          <p:cNvPr id="28" name="Text 26"/>
          <p:cNvSpPr/>
          <p:nvPr/>
        </p:nvSpPr>
        <p:spPr>
          <a:xfrm>
            <a:off x="5010912" y="3831336"/>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CMS login credentials (WP/Drupal)</a:t>
            </a:r>
            <a:endParaRPr lang="en-US" sz="1150" dirty="0"/>
          </a:p>
        </p:txBody>
      </p:sp>
      <p:sp>
        <p:nvSpPr>
          <p:cNvPr id="29" name="Shape 27"/>
          <p:cNvSpPr/>
          <p:nvPr/>
        </p:nvSpPr>
        <p:spPr>
          <a:xfrm>
            <a:off x="0" y="4828032"/>
            <a:ext cx="9144000" cy="315468"/>
          </a:xfrm>
          <a:prstGeom prst="rect">
            <a:avLst/>
          </a:prstGeom>
          <a:solidFill>
            <a:srgbClr val="F0F0F0"/>
          </a:solidFill>
          <a:ln w="12700">
            <a:solidFill>
              <a:srgbClr val="CCCCCC"/>
            </a:solidFill>
            <a:prstDash val="solid"/>
          </a:ln>
        </p:spPr>
        <p:txBody>
          <a:bodyPr/>
          <a:lstStyle/>
          <a:p>
            <a:endParaRPr lang="pl-PL"/>
          </a:p>
        </p:txBody>
      </p:sp>
      <p:sp>
        <p:nvSpPr>
          <p:cNvPr id="30" name="Text 28"/>
          <p:cNvSpPr/>
          <p:nvPr/>
        </p:nvSpPr>
        <p:spPr>
          <a:xfrm>
            <a:off x="274320" y="4855464"/>
            <a:ext cx="8595360" cy="26517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 xml:space="preserve">Transmission: HTTPS/TLS 1.3. API logs automatically deleted after 7 days (since 14.09.2025). </a:t>
            </a:r>
            <a:endParaRPr lang="pl-PL" sz="1000" dirty="0">
              <a:solidFill>
                <a:srgbClr val="5A5850"/>
              </a:solidFill>
              <a:latin typeface="Arial" pitchFamily="34" charset="0"/>
              <a:ea typeface="Arial" pitchFamily="34" charset="-122"/>
              <a:cs typeface="Arial" pitchFamily="34" charset="-120"/>
            </a:endParaRPr>
          </a:p>
          <a:p>
            <a:pPr marL="0" indent="0">
              <a:buNone/>
            </a:pPr>
            <a:r>
              <a:rPr lang="en-US" sz="1000" dirty="0">
                <a:solidFill>
                  <a:srgbClr val="5A5850"/>
                </a:solidFill>
                <a:latin typeface="Arial" pitchFamily="34" charset="0"/>
                <a:ea typeface="Arial" pitchFamily="34" charset="-122"/>
                <a:cs typeface="Arial" pitchFamily="34" charset="-120"/>
              </a:rPr>
              <a:t xml:space="preserve">Data is NEVER used to train the </a:t>
            </a:r>
            <a:r>
              <a:rPr lang="en-US" sz="1000" dirty="0" err="1">
                <a:solidFill>
                  <a:srgbClr val="5A5850"/>
                </a:solidFill>
                <a:latin typeface="Arial" pitchFamily="34" charset="0"/>
                <a:ea typeface="Arial" pitchFamily="34" charset="-122"/>
                <a:cs typeface="Arial" pitchFamily="34" charset="-120"/>
              </a:rPr>
              <a:t>model</a:t>
            </a:r>
            <a:r>
              <a:rPr lang="en-US" sz="1000" dirty="0">
                <a:solidFill>
                  <a:srgbClr val="5A5850"/>
                </a:solidFill>
                <a:latin typeface="Arial" pitchFamily="34" charset="0"/>
                <a:ea typeface="Arial" pitchFamily="34" charset="-122"/>
                <a:cs typeface="Arial" pitchFamily="34" charset="-120"/>
              </a:rPr>
              <a:t xml:space="preserve"> </a:t>
            </a:r>
            <a:r>
              <a:rPr lang="pl-PL" sz="1000" dirty="0">
                <a:solidFill>
                  <a:srgbClr val="5A5850"/>
                </a:solidFill>
                <a:latin typeface="Arial" pitchFamily="34" charset="0"/>
                <a:ea typeface="Arial" pitchFamily="34" charset="-122"/>
                <a:cs typeface="Arial" pitchFamily="34" charset="-120"/>
              </a:rPr>
              <a:t>-</a:t>
            </a:r>
            <a:r>
              <a:rPr lang="en-US" sz="1000" dirty="0">
                <a:solidFill>
                  <a:srgbClr val="5A5850"/>
                </a:solidFill>
                <a:latin typeface="Arial" pitchFamily="34" charset="0"/>
                <a:ea typeface="Arial" pitchFamily="34" charset="-122"/>
                <a:cs typeface="Arial" pitchFamily="34" charset="-120"/>
              </a:rPr>
              <a:t xml:space="preserve"> a no-exceptions rule for API accounts.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E23244"/>
          </a:solidFill>
          <a:ln w="12700">
            <a:solidFill>
              <a:srgbClr val="E23244"/>
            </a:solidFill>
            <a:prstDash val="solid"/>
          </a:ln>
        </p:spPr>
        <p:txBody>
          <a:bodyPr/>
          <a:lstStyle/>
          <a:p>
            <a:endParaRPr lang="pl-PL"/>
          </a:p>
        </p:txBody>
      </p:sp>
      <p:sp>
        <p:nvSpPr>
          <p:cNvPr id="3" name="Text 1"/>
          <p:cNvSpPr/>
          <p:nvPr/>
        </p:nvSpPr>
        <p:spPr>
          <a:xfrm>
            <a:off x="320040" y="73152"/>
            <a:ext cx="5486400" cy="420624"/>
          </a:xfrm>
          <a:prstGeom prst="rect">
            <a:avLst/>
          </a:prstGeom>
          <a:noFill/>
          <a:ln/>
        </p:spPr>
        <p:txBody>
          <a:bodyPr wrap="square" lIns="0" tIns="0" rIns="0" bIns="0" rtlCol="0" anchor="ctr"/>
          <a:lstStyle/>
          <a:p>
            <a:pPr marL="0" indent="0">
              <a:buNone/>
            </a:pPr>
            <a:r>
              <a:rPr lang="en-US" sz="1100" b="1" kern="0" spc="500" dirty="0">
                <a:solidFill>
                  <a:srgbClr val="FFFFFF"/>
                </a:solidFill>
                <a:latin typeface="Arial" pitchFamily="34" charset="0"/>
                <a:ea typeface="Arial" pitchFamily="34" charset="-122"/>
                <a:cs typeface="Arial" pitchFamily="34" charset="-120"/>
              </a:rPr>
              <a:t>API KEY</a:t>
            </a:r>
            <a:endParaRPr lang="en-US" sz="1100" dirty="0"/>
          </a:p>
        </p:txBody>
      </p:sp>
      <p:sp>
        <p:nvSpPr>
          <p:cNvPr id="4" name="Text 2"/>
          <p:cNvSpPr/>
          <p:nvPr/>
        </p:nvSpPr>
        <p:spPr>
          <a:xfrm>
            <a:off x="320040" y="749808"/>
            <a:ext cx="8503920" cy="54864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Access management and cost control</a:t>
            </a:r>
            <a:endParaRPr lang="en-US" sz="2600" dirty="0"/>
          </a:p>
        </p:txBody>
      </p:sp>
      <p:sp>
        <p:nvSpPr>
          <p:cNvPr id="5" name="Shape 3"/>
          <p:cNvSpPr/>
          <p:nvPr/>
        </p:nvSpPr>
        <p:spPr>
          <a:xfrm>
            <a:off x="228600" y="1444752"/>
            <a:ext cx="8686800" cy="685800"/>
          </a:xfrm>
          <a:prstGeom prst="rect">
            <a:avLst/>
          </a:prstGeom>
          <a:solidFill>
            <a:srgbClr val="FDEAEA"/>
          </a:solidFill>
          <a:ln w="10160">
            <a:solidFill>
              <a:srgbClr val="F5C0BE"/>
            </a:solidFill>
            <a:prstDash val="solid"/>
          </a:ln>
          <a:effectLst>
            <a:outerShdw blurRad="63500" dist="25400" dir="8100000" algn="bl" rotWithShape="0">
              <a:srgbClr val="000000">
                <a:alpha val="9000"/>
              </a:srgbClr>
            </a:outerShdw>
          </a:effectLst>
        </p:spPr>
        <p:txBody>
          <a:bodyPr/>
          <a:lstStyle/>
          <a:p>
            <a:endParaRPr lang="pl-PL"/>
          </a:p>
        </p:txBody>
      </p:sp>
      <p:sp>
        <p:nvSpPr>
          <p:cNvPr id="6" name="Text 4"/>
          <p:cNvSpPr/>
          <p:nvPr/>
        </p:nvSpPr>
        <p:spPr>
          <a:xfrm>
            <a:off x="365760" y="1536192"/>
            <a:ext cx="8412480" cy="502920"/>
          </a:xfrm>
          <a:prstGeom prst="rect">
            <a:avLst/>
          </a:prstGeom>
          <a:noFill/>
          <a:ln/>
        </p:spPr>
        <p:txBody>
          <a:bodyPr wrap="square" lIns="0" tIns="0" rIns="0" bIns="0" rtlCol="0" anchor="ctr"/>
          <a:lstStyle/>
          <a:p>
            <a:pPr marL="0" indent="0">
              <a:buNone/>
            </a:pPr>
            <a:r>
              <a:rPr lang="en-US" sz="1200" b="1" dirty="0">
                <a:solidFill>
                  <a:srgbClr val="E23244"/>
                </a:solidFill>
                <a:latin typeface="Arial" pitchFamily="34" charset="0"/>
                <a:ea typeface="Arial" pitchFamily="34" charset="-122"/>
                <a:cs typeface="Arial" pitchFamily="34" charset="-120"/>
              </a:rPr>
              <a:t>⚠  Main risk: the Anthropic API and OpenAI API keys written into the HTML file are visible to anyone with access to the DEV file. The INTERNAL file has obfuscated keys. Requires file access control.</a:t>
            </a:r>
            <a:endParaRPr lang="en-US" sz="1200" dirty="0"/>
          </a:p>
        </p:txBody>
      </p:sp>
      <p:sp>
        <p:nvSpPr>
          <p:cNvPr id="7" name="Shape 5"/>
          <p:cNvSpPr/>
          <p:nvPr/>
        </p:nvSpPr>
        <p:spPr>
          <a:xfrm>
            <a:off x="228600" y="2331720"/>
            <a:ext cx="8686800" cy="292608"/>
          </a:xfrm>
          <a:prstGeom prst="rect">
            <a:avLst/>
          </a:prstGeom>
          <a:solidFill>
            <a:srgbClr val="1E4D8C"/>
          </a:solidFill>
          <a:ln w="12700">
            <a:solidFill>
              <a:srgbClr val="1E4D8C"/>
            </a:solidFill>
            <a:prstDash val="solid"/>
          </a:ln>
        </p:spPr>
        <p:txBody>
          <a:bodyPr/>
          <a:lstStyle/>
          <a:p>
            <a:endParaRPr lang="pl-PL"/>
          </a:p>
        </p:txBody>
      </p:sp>
      <p:sp>
        <p:nvSpPr>
          <p:cNvPr id="8" name="Text 6"/>
          <p:cNvSpPr/>
          <p:nvPr/>
        </p:nvSpPr>
        <p:spPr>
          <a:xfrm>
            <a:off x="320040" y="2331720"/>
            <a:ext cx="841248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 xml:space="preserve">Distribution: Azure Static Web Apps hosting in the Content AI tenant (recommended) or file via Teams or OneDrive in the pilot </a:t>
            </a:r>
            <a:r>
              <a:rPr lang="pl-PL" sz="1100" b="1" dirty="0">
                <a:solidFill>
                  <a:srgbClr val="FFFFFF"/>
                </a:solidFill>
                <a:latin typeface="Arial" pitchFamily="34" charset="0"/>
                <a:ea typeface="Arial" pitchFamily="34" charset="-122"/>
                <a:cs typeface="Arial" pitchFamily="34" charset="-120"/>
              </a:rPr>
              <a:t>-</a:t>
            </a:r>
            <a:r>
              <a:rPr lang="en-US" sz="1100" b="1" dirty="0">
                <a:solidFill>
                  <a:srgbClr val="FFFFFF"/>
                </a:solidFill>
                <a:latin typeface="Arial" pitchFamily="34" charset="0"/>
                <a:ea typeface="Arial" pitchFamily="34" charset="-122"/>
                <a:cs typeface="Arial" pitchFamily="34" charset="-120"/>
              </a:rPr>
              <a:t xml:space="preserve"> access only for designated people</a:t>
            </a:r>
            <a:endParaRPr lang="en-US" sz="1100" dirty="0"/>
          </a:p>
        </p:txBody>
      </p:sp>
      <p:sp>
        <p:nvSpPr>
          <p:cNvPr id="9" name="Shape 7"/>
          <p:cNvSpPr/>
          <p:nvPr/>
        </p:nvSpPr>
        <p:spPr>
          <a:xfrm>
            <a:off x="228600" y="2743200"/>
            <a:ext cx="4160520" cy="292608"/>
          </a:xfrm>
          <a:prstGeom prst="rect">
            <a:avLst/>
          </a:prstGeom>
          <a:solidFill>
            <a:srgbClr val="1E7A4A"/>
          </a:solidFill>
          <a:ln w="12700">
            <a:solidFill>
              <a:srgbClr val="1E7A4A"/>
            </a:solidFill>
            <a:prstDash val="solid"/>
          </a:ln>
        </p:spPr>
        <p:txBody>
          <a:bodyPr/>
          <a:lstStyle/>
          <a:p>
            <a:endParaRPr lang="pl-PL"/>
          </a:p>
        </p:txBody>
      </p:sp>
      <p:sp>
        <p:nvSpPr>
          <p:cNvPr id="10" name="Text 8"/>
          <p:cNvSpPr/>
          <p:nvPr/>
        </p:nvSpPr>
        <p:spPr>
          <a:xfrm>
            <a:off x="320040" y="2743200"/>
            <a:ext cx="397764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 xml:space="preserve">OPTION A  </a:t>
            </a:r>
            <a:r>
              <a:rPr lang="pl-PL" sz="1100" b="1" dirty="0">
                <a:solidFill>
                  <a:srgbClr val="FFFFFF"/>
                </a:solidFill>
                <a:latin typeface="Arial" pitchFamily="34" charset="0"/>
                <a:ea typeface="Arial" pitchFamily="34" charset="-122"/>
                <a:cs typeface="Arial" pitchFamily="34" charset="-120"/>
              </a:rPr>
              <a:t>-</a:t>
            </a:r>
            <a:r>
              <a:rPr lang="en-US" sz="1100" b="1" dirty="0">
                <a:solidFill>
                  <a:srgbClr val="FFFFFF"/>
                </a:solidFill>
                <a:latin typeface="Arial" pitchFamily="34" charset="0"/>
                <a:ea typeface="Arial" pitchFamily="34" charset="-122"/>
                <a:cs typeface="Arial" pitchFamily="34" charset="-120"/>
              </a:rPr>
              <a:t xml:space="preserve">  One company key (recommended to start)</a:t>
            </a:r>
            <a:endParaRPr lang="en-US" sz="1100" dirty="0"/>
          </a:p>
        </p:txBody>
      </p:sp>
      <p:sp>
        <p:nvSpPr>
          <p:cNvPr id="11" name="Shape 9"/>
          <p:cNvSpPr/>
          <p:nvPr/>
        </p:nvSpPr>
        <p:spPr>
          <a:xfrm>
            <a:off x="228600" y="3063240"/>
            <a:ext cx="4160520" cy="329184"/>
          </a:xfrm>
          <a:prstGeom prst="rect">
            <a:avLst/>
          </a:prstGeom>
          <a:solidFill>
            <a:srgbClr val="D6F0E0"/>
          </a:solidFill>
          <a:ln w="5080">
            <a:solidFill>
              <a:srgbClr val="7ECBA1"/>
            </a:solidFill>
            <a:prstDash val="solid"/>
          </a:ln>
        </p:spPr>
        <p:txBody>
          <a:bodyPr/>
          <a:lstStyle/>
          <a:p>
            <a:endParaRPr lang="pl-PL"/>
          </a:p>
        </p:txBody>
      </p:sp>
      <p:sp>
        <p:nvSpPr>
          <p:cNvPr id="12" name="Text 10"/>
          <p:cNvSpPr/>
          <p:nvPr/>
        </p:nvSpPr>
        <p:spPr>
          <a:xfrm>
            <a:off x="347472" y="3081528"/>
            <a:ext cx="3931920" cy="292608"/>
          </a:xfrm>
          <a:prstGeom prst="rect">
            <a:avLst/>
          </a:prstGeom>
          <a:noFill/>
          <a:ln/>
        </p:spPr>
        <p:txBody>
          <a:bodyPr wrap="square" lIns="0" tIns="0" rIns="0" bIns="0" rtlCol="0" anchor="ctr"/>
          <a:lstStyle/>
          <a:p>
            <a:pPr marL="0" indent="0">
              <a:buNone/>
            </a:pPr>
            <a:r>
              <a:rPr lang="en-US" sz="1050" dirty="0">
                <a:solidFill>
                  <a:srgbClr val="1E7A4A"/>
                </a:solidFill>
                <a:latin typeface="Arial" pitchFamily="34" charset="0"/>
                <a:ea typeface="Arial" pitchFamily="34" charset="-122"/>
                <a:cs typeface="Arial" pitchFamily="34" charset="-120"/>
              </a:rPr>
              <a:t>✓  One API key on the Content AI company account at console.anthropic.com</a:t>
            </a:r>
            <a:endParaRPr lang="en-US" sz="1050" dirty="0"/>
          </a:p>
        </p:txBody>
      </p:sp>
      <p:sp>
        <p:nvSpPr>
          <p:cNvPr id="13" name="Shape 11"/>
          <p:cNvSpPr/>
          <p:nvPr/>
        </p:nvSpPr>
        <p:spPr>
          <a:xfrm>
            <a:off x="228600" y="3438144"/>
            <a:ext cx="4160520" cy="329184"/>
          </a:xfrm>
          <a:prstGeom prst="rect">
            <a:avLst/>
          </a:prstGeom>
          <a:solidFill>
            <a:srgbClr val="D6F0E0"/>
          </a:solidFill>
          <a:ln w="5080">
            <a:solidFill>
              <a:srgbClr val="7ECBA1"/>
            </a:solidFill>
            <a:prstDash val="solid"/>
          </a:ln>
        </p:spPr>
        <p:txBody>
          <a:bodyPr/>
          <a:lstStyle/>
          <a:p>
            <a:endParaRPr lang="pl-PL"/>
          </a:p>
        </p:txBody>
      </p:sp>
      <p:sp>
        <p:nvSpPr>
          <p:cNvPr id="14" name="Text 12"/>
          <p:cNvSpPr/>
          <p:nvPr/>
        </p:nvSpPr>
        <p:spPr>
          <a:xfrm>
            <a:off x="347472" y="3456432"/>
            <a:ext cx="3931920" cy="292608"/>
          </a:xfrm>
          <a:prstGeom prst="rect">
            <a:avLst/>
          </a:prstGeom>
          <a:noFill/>
          <a:ln/>
        </p:spPr>
        <p:txBody>
          <a:bodyPr wrap="square" lIns="0" tIns="0" rIns="0" bIns="0" rtlCol="0" anchor="ctr"/>
          <a:lstStyle/>
          <a:p>
            <a:pPr marL="0" indent="0">
              <a:buNone/>
            </a:pPr>
            <a:r>
              <a:rPr lang="en-US" sz="1050" dirty="0">
                <a:solidFill>
                  <a:srgbClr val="1E7A4A"/>
                </a:solidFill>
                <a:latin typeface="Arial" pitchFamily="34" charset="0"/>
                <a:ea typeface="Arial" pitchFamily="34" charset="-122"/>
                <a:cs typeface="Arial" pitchFamily="34" charset="-120"/>
              </a:rPr>
              <a:t xml:space="preserve">✓  Built into the HTML file </a:t>
            </a:r>
            <a:r>
              <a:rPr lang="pl-PL" sz="1050" dirty="0">
                <a:solidFill>
                  <a:srgbClr val="1E7A4A"/>
                </a:solidFill>
                <a:latin typeface="Arial" pitchFamily="34" charset="0"/>
                <a:ea typeface="Arial" pitchFamily="34" charset="-122"/>
                <a:cs typeface="Arial" pitchFamily="34" charset="-120"/>
              </a:rPr>
              <a:t>-</a:t>
            </a:r>
            <a:r>
              <a:rPr lang="en-US" sz="1050" dirty="0">
                <a:solidFill>
                  <a:srgbClr val="1E7A4A"/>
                </a:solidFill>
                <a:latin typeface="Arial" pitchFamily="34" charset="0"/>
                <a:ea typeface="Arial" pitchFamily="34" charset="-122"/>
                <a:cs typeface="Arial" pitchFamily="34" charset="-120"/>
              </a:rPr>
              <a:t xml:space="preserve"> users configure nothing themselves</a:t>
            </a:r>
            <a:endParaRPr lang="en-US" sz="1050" dirty="0"/>
          </a:p>
        </p:txBody>
      </p:sp>
      <p:sp>
        <p:nvSpPr>
          <p:cNvPr id="15" name="Shape 13"/>
          <p:cNvSpPr/>
          <p:nvPr/>
        </p:nvSpPr>
        <p:spPr>
          <a:xfrm>
            <a:off x="228600" y="3813048"/>
            <a:ext cx="4160520" cy="329184"/>
          </a:xfrm>
          <a:prstGeom prst="rect">
            <a:avLst/>
          </a:prstGeom>
          <a:solidFill>
            <a:srgbClr val="D6F0E0"/>
          </a:solidFill>
          <a:ln w="5080">
            <a:solidFill>
              <a:srgbClr val="7ECBA1"/>
            </a:solidFill>
            <a:prstDash val="solid"/>
          </a:ln>
        </p:spPr>
        <p:txBody>
          <a:bodyPr/>
          <a:lstStyle/>
          <a:p>
            <a:endParaRPr lang="pl-PL"/>
          </a:p>
        </p:txBody>
      </p:sp>
      <p:sp>
        <p:nvSpPr>
          <p:cNvPr id="16" name="Text 14"/>
          <p:cNvSpPr/>
          <p:nvPr/>
        </p:nvSpPr>
        <p:spPr>
          <a:xfrm>
            <a:off x="347472" y="3831336"/>
            <a:ext cx="3931920" cy="292608"/>
          </a:xfrm>
          <a:prstGeom prst="rect">
            <a:avLst/>
          </a:prstGeom>
          <a:noFill/>
          <a:ln/>
        </p:spPr>
        <p:txBody>
          <a:bodyPr wrap="square" lIns="0" tIns="0" rIns="0" bIns="0" rtlCol="0" anchor="ctr"/>
          <a:lstStyle/>
          <a:p>
            <a:pPr marL="0" indent="0">
              <a:buNone/>
            </a:pPr>
            <a:r>
              <a:rPr lang="en-US" sz="1050" dirty="0">
                <a:solidFill>
                  <a:srgbClr val="1E7A4A"/>
                </a:solidFill>
                <a:latin typeface="Arial" pitchFamily="34" charset="0"/>
                <a:ea typeface="Arial" pitchFamily="34" charset="-122"/>
                <a:cs typeface="Arial" pitchFamily="34" charset="-120"/>
              </a:rPr>
              <a:t>✓  One monthly cost limit ($50-100) for all users</a:t>
            </a:r>
            <a:endParaRPr lang="en-US" sz="1050" dirty="0"/>
          </a:p>
        </p:txBody>
      </p:sp>
      <p:sp>
        <p:nvSpPr>
          <p:cNvPr id="17" name="Shape 15"/>
          <p:cNvSpPr/>
          <p:nvPr/>
        </p:nvSpPr>
        <p:spPr>
          <a:xfrm>
            <a:off x="228600" y="4187952"/>
            <a:ext cx="4160520" cy="329184"/>
          </a:xfrm>
          <a:prstGeom prst="rect">
            <a:avLst/>
          </a:prstGeom>
          <a:solidFill>
            <a:srgbClr val="D6F0E0"/>
          </a:solidFill>
          <a:ln w="5080">
            <a:solidFill>
              <a:srgbClr val="7ECBA1"/>
            </a:solidFill>
            <a:prstDash val="solid"/>
          </a:ln>
        </p:spPr>
        <p:txBody>
          <a:bodyPr/>
          <a:lstStyle/>
          <a:p>
            <a:endParaRPr lang="pl-PL"/>
          </a:p>
        </p:txBody>
      </p:sp>
      <p:sp>
        <p:nvSpPr>
          <p:cNvPr id="18" name="Text 16"/>
          <p:cNvSpPr/>
          <p:nvPr/>
        </p:nvSpPr>
        <p:spPr>
          <a:xfrm>
            <a:off x="347472" y="4206240"/>
            <a:ext cx="3931920" cy="292608"/>
          </a:xfrm>
          <a:prstGeom prst="rect">
            <a:avLst/>
          </a:prstGeom>
          <a:noFill/>
          <a:ln/>
        </p:spPr>
        <p:txBody>
          <a:bodyPr wrap="square" lIns="0" tIns="0" rIns="0" bIns="0" rtlCol="0" anchor="ctr"/>
          <a:lstStyle/>
          <a:p>
            <a:pPr marL="0" indent="0">
              <a:buNone/>
            </a:pPr>
            <a:r>
              <a:rPr lang="en-US" sz="1050" dirty="0">
                <a:solidFill>
                  <a:srgbClr val="1E7A4A"/>
                </a:solidFill>
                <a:latin typeface="Arial" pitchFamily="34" charset="0"/>
                <a:ea typeface="Arial" pitchFamily="34" charset="-122"/>
                <a:cs typeface="Arial" pitchFamily="34" charset="-120"/>
              </a:rPr>
              <a:t>✓  Aggregate monitoring: the dashboard shows total token usage</a:t>
            </a:r>
            <a:endParaRPr lang="en-US" sz="1050" dirty="0"/>
          </a:p>
        </p:txBody>
      </p:sp>
      <p:sp>
        <p:nvSpPr>
          <p:cNvPr id="19" name="Shape 17"/>
          <p:cNvSpPr/>
          <p:nvPr/>
        </p:nvSpPr>
        <p:spPr>
          <a:xfrm>
            <a:off x="4754880" y="2743200"/>
            <a:ext cx="4160520" cy="292608"/>
          </a:xfrm>
          <a:prstGeom prst="rect">
            <a:avLst/>
          </a:prstGeom>
          <a:solidFill>
            <a:srgbClr val="1E4D8C"/>
          </a:solidFill>
          <a:ln w="12700">
            <a:solidFill>
              <a:srgbClr val="1E4D8C"/>
            </a:solidFill>
            <a:prstDash val="solid"/>
          </a:ln>
        </p:spPr>
        <p:txBody>
          <a:bodyPr/>
          <a:lstStyle/>
          <a:p>
            <a:endParaRPr lang="pl-PL"/>
          </a:p>
        </p:txBody>
      </p:sp>
      <p:sp>
        <p:nvSpPr>
          <p:cNvPr id="20" name="Text 18"/>
          <p:cNvSpPr/>
          <p:nvPr/>
        </p:nvSpPr>
        <p:spPr>
          <a:xfrm>
            <a:off x="4846320" y="2743200"/>
            <a:ext cx="397764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 xml:space="preserve">OPTION B  </a:t>
            </a:r>
            <a:r>
              <a:rPr lang="pl-PL" sz="1100" b="1" dirty="0">
                <a:solidFill>
                  <a:srgbClr val="FFFFFF"/>
                </a:solidFill>
                <a:latin typeface="Arial" pitchFamily="34" charset="0"/>
                <a:ea typeface="Arial" pitchFamily="34" charset="-122"/>
                <a:cs typeface="Arial" pitchFamily="34" charset="-120"/>
              </a:rPr>
              <a:t>-</a:t>
            </a:r>
            <a:r>
              <a:rPr lang="en-US" sz="1100" b="1" dirty="0">
                <a:solidFill>
                  <a:srgbClr val="FFFFFF"/>
                </a:solidFill>
                <a:latin typeface="Arial" pitchFamily="34" charset="0"/>
                <a:ea typeface="Arial" pitchFamily="34" charset="-122"/>
                <a:cs typeface="Arial" pitchFamily="34" charset="-120"/>
              </a:rPr>
              <a:t xml:space="preserve">  Key per person (full admin control)</a:t>
            </a:r>
            <a:endParaRPr lang="en-US" sz="1100" dirty="0"/>
          </a:p>
        </p:txBody>
      </p:sp>
      <p:sp>
        <p:nvSpPr>
          <p:cNvPr id="21" name="Shape 19"/>
          <p:cNvSpPr/>
          <p:nvPr/>
        </p:nvSpPr>
        <p:spPr>
          <a:xfrm>
            <a:off x="4754880" y="3063240"/>
            <a:ext cx="4160520" cy="329184"/>
          </a:xfrm>
          <a:prstGeom prst="rect">
            <a:avLst/>
          </a:prstGeom>
          <a:solidFill>
            <a:srgbClr val="DBEAFE"/>
          </a:solidFill>
          <a:ln w="5080">
            <a:solidFill>
              <a:srgbClr val="93C5FD"/>
            </a:solidFill>
            <a:prstDash val="solid"/>
          </a:ln>
        </p:spPr>
        <p:txBody>
          <a:bodyPr/>
          <a:lstStyle/>
          <a:p>
            <a:endParaRPr lang="pl-PL"/>
          </a:p>
        </p:txBody>
      </p:sp>
      <p:sp>
        <p:nvSpPr>
          <p:cNvPr id="22" name="Text 20"/>
          <p:cNvSpPr/>
          <p:nvPr/>
        </p:nvSpPr>
        <p:spPr>
          <a:xfrm>
            <a:off x="4873752" y="3081528"/>
            <a:ext cx="3931920" cy="292608"/>
          </a:xfrm>
          <a:prstGeom prst="rect">
            <a:avLst/>
          </a:prstGeom>
          <a:noFill/>
          <a:ln/>
        </p:spPr>
        <p:txBody>
          <a:bodyPr wrap="square" lIns="0" tIns="0" rIns="0" bIns="0" rtlCol="0" anchor="ctr"/>
          <a:lstStyle/>
          <a:p>
            <a:pPr marL="0" indent="0">
              <a:buNone/>
            </a:pPr>
            <a:r>
              <a:rPr lang="en-US" sz="1050" dirty="0">
                <a:solidFill>
                  <a:srgbClr val="1E4D8C"/>
                </a:solidFill>
                <a:latin typeface="Arial" pitchFamily="34" charset="0"/>
                <a:ea typeface="Arial" pitchFamily="34" charset="-122"/>
                <a:cs typeface="Arial" pitchFamily="34" charset="-120"/>
              </a:rPr>
              <a:t>→  Admin creates keys in console.anthropic.com → Settings → API Keys</a:t>
            </a:r>
            <a:endParaRPr lang="en-US" sz="1050" dirty="0"/>
          </a:p>
        </p:txBody>
      </p:sp>
      <p:sp>
        <p:nvSpPr>
          <p:cNvPr id="23" name="Shape 21"/>
          <p:cNvSpPr/>
          <p:nvPr/>
        </p:nvSpPr>
        <p:spPr>
          <a:xfrm>
            <a:off x="4754880" y="3438144"/>
            <a:ext cx="4160520" cy="329184"/>
          </a:xfrm>
          <a:prstGeom prst="rect">
            <a:avLst/>
          </a:prstGeom>
          <a:solidFill>
            <a:srgbClr val="DBEAFE"/>
          </a:solidFill>
          <a:ln w="5080">
            <a:solidFill>
              <a:srgbClr val="93C5FD"/>
            </a:solidFill>
            <a:prstDash val="solid"/>
          </a:ln>
        </p:spPr>
        <p:txBody>
          <a:bodyPr/>
          <a:lstStyle/>
          <a:p>
            <a:endParaRPr lang="pl-PL"/>
          </a:p>
        </p:txBody>
      </p:sp>
      <p:sp>
        <p:nvSpPr>
          <p:cNvPr id="24" name="Text 22"/>
          <p:cNvSpPr/>
          <p:nvPr/>
        </p:nvSpPr>
        <p:spPr>
          <a:xfrm>
            <a:off x="4873752" y="3456432"/>
            <a:ext cx="3931920" cy="292608"/>
          </a:xfrm>
          <a:prstGeom prst="rect">
            <a:avLst/>
          </a:prstGeom>
          <a:noFill/>
          <a:ln/>
        </p:spPr>
        <p:txBody>
          <a:bodyPr wrap="square" lIns="0" tIns="0" rIns="0" bIns="0" rtlCol="0" anchor="ctr"/>
          <a:lstStyle/>
          <a:p>
            <a:pPr marL="0" indent="0">
              <a:buNone/>
            </a:pPr>
            <a:r>
              <a:rPr lang="en-US" sz="1050" dirty="0">
                <a:solidFill>
                  <a:srgbClr val="1E4D8C"/>
                </a:solidFill>
                <a:latin typeface="Arial" pitchFamily="34" charset="0"/>
                <a:ea typeface="Arial" pitchFamily="34" charset="-122"/>
                <a:cs typeface="Arial" pitchFamily="34" charset="-120"/>
              </a:rPr>
              <a:t xml:space="preserve">→  Naming: </a:t>
            </a:r>
            <a:r>
              <a:rPr lang="en-US" sz="1050" dirty="0" err="1">
                <a:solidFill>
                  <a:srgbClr val="1E4D8C"/>
                </a:solidFill>
                <a:latin typeface="Arial" pitchFamily="34" charset="0"/>
                <a:ea typeface="Arial" pitchFamily="34" charset="-122"/>
                <a:cs typeface="Arial" pitchFamily="34" charset="-120"/>
              </a:rPr>
              <a:t>cai</a:t>
            </a:r>
            <a:r>
              <a:rPr lang="en-US" sz="1050" dirty="0">
                <a:solidFill>
                  <a:srgbClr val="1E4D8C"/>
                </a:solidFill>
                <a:latin typeface="Arial" pitchFamily="34" charset="0"/>
                <a:ea typeface="Arial" pitchFamily="34" charset="-122"/>
                <a:cs typeface="Arial" pitchFamily="34" charset="-120"/>
              </a:rPr>
              <a:t>-marketing-</a:t>
            </a:r>
            <a:r>
              <a:rPr lang="en-US" sz="1050" dirty="0" err="1">
                <a:solidFill>
                  <a:srgbClr val="1E4D8C"/>
                </a:solidFill>
                <a:latin typeface="Arial" pitchFamily="34" charset="0"/>
                <a:ea typeface="Arial" pitchFamily="34" charset="-122"/>
                <a:cs typeface="Arial" pitchFamily="34" charset="-120"/>
              </a:rPr>
              <a:t>u</a:t>
            </a:r>
            <a:r>
              <a:rPr lang="en-US" sz="1050" dirty="0">
                <a:solidFill>
                  <a:srgbClr val="1E4D8C"/>
                </a:solidFill>
                <a:latin typeface="Arial" pitchFamily="34" charset="0"/>
                <a:ea typeface="Arial" pitchFamily="34" charset="-122"/>
                <a:cs typeface="Arial" pitchFamily="34" charset="-120"/>
              </a:rPr>
              <a:t>-</a:t>
            </a:r>
            <a:r>
              <a:rPr lang="en-US" sz="1050" dirty="0" err="1">
                <a:solidFill>
                  <a:srgbClr val="1E4D8C"/>
                </a:solidFill>
                <a:latin typeface="Arial" pitchFamily="34" charset="0"/>
                <a:ea typeface="Arial" pitchFamily="34" charset="-122"/>
                <a:cs typeface="Arial" pitchFamily="34" charset="-120"/>
              </a:rPr>
              <a:t>2207</a:t>
            </a:r>
            <a:r>
              <a:rPr lang="en-US" sz="1050" dirty="0">
                <a:solidFill>
                  <a:srgbClr val="1E4D8C"/>
                </a:solidFill>
                <a:latin typeface="Arial" pitchFamily="34" charset="0"/>
                <a:ea typeface="Arial" pitchFamily="34" charset="-122"/>
                <a:cs typeface="Arial" pitchFamily="34" charset="-120"/>
              </a:rPr>
              <a:t xml:space="preserve"> </a:t>
            </a:r>
            <a:r>
              <a:rPr lang="pl-PL" sz="1050" dirty="0">
                <a:solidFill>
                  <a:srgbClr val="1E4D8C"/>
                </a:solidFill>
                <a:latin typeface="Arial" pitchFamily="34" charset="0"/>
                <a:ea typeface="Arial" pitchFamily="34" charset="-122"/>
                <a:cs typeface="Arial" pitchFamily="34" charset="-120"/>
              </a:rPr>
              <a:t>-</a:t>
            </a:r>
            <a:r>
              <a:rPr lang="en-US" sz="1050" dirty="0">
                <a:solidFill>
                  <a:srgbClr val="1E4D8C"/>
                </a:solidFill>
                <a:latin typeface="Arial" pitchFamily="34" charset="0"/>
                <a:ea typeface="Arial" pitchFamily="34" charset="-122"/>
                <a:cs typeface="Arial" pitchFamily="34" charset="-120"/>
              </a:rPr>
              <a:t xml:space="preserve"> visible in the dashboard</a:t>
            </a:r>
            <a:endParaRPr lang="en-US" sz="1050" dirty="0"/>
          </a:p>
        </p:txBody>
      </p:sp>
      <p:sp>
        <p:nvSpPr>
          <p:cNvPr id="25" name="Shape 23"/>
          <p:cNvSpPr/>
          <p:nvPr/>
        </p:nvSpPr>
        <p:spPr>
          <a:xfrm>
            <a:off x="4754880" y="3813048"/>
            <a:ext cx="4160520" cy="329184"/>
          </a:xfrm>
          <a:prstGeom prst="rect">
            <a:avLst/>
          </a:prstGeom>
          <a:solidFill>
            <a:srgbClr val="DBEAFE"/>
          </a:solidFill>
          <a:ln w="5080">
            <a:solidFill>
              <a:srgbClr val="93C5FD"/>
            </a:solidFill>
            <a:prstDash val="solid"/>
          </a:ln>
        </p:spPr>
        <p:txBody>
          <a:bodyPr/>
          <a:lstStyle/>
          <a:p>
            <a:endParaRPr lang="pl-PL"/>
          </a:p>
        </p:txBody>
      </p:sp>
      <p:sp>
        <p:nvSpPr>
          <p:cNvPr id="26" name="Text 24"/>
          <p:cNvSpPr/>
          <p:nvPr/>
        </p:nvSpPr>
        <p:spPr>
          <a:xfrm>
            <a:off x="4873752" y="3831336"/>
            <a:ext cx="3931920" cy="292608"/>
          </a:xfrm>
          <a:prstGeom prst="rect">
            <a:avLst/>
          </a:prstGeom>
          <a:noFill/>
          <a:ln/>
        </p:spPr>
        <p:txBody>
          <a:bodyPr wrap="square" lIns="0" tIns="0" rIns="0" bIns="0" rtlCol="0" anchor="ctr"/>
          <a:lstStyle/>
          <a:p>
            <a:pPr marL="0" indent="0">
              <a:buNone/>
            </a:pPr>
            <a:r>
              <a:rPr lang="en-US" sz="1050" dirty="0">
                <a:solidFill>
                  <a:srgbClr val="1E4D8C"/>
                </a:solidFill>
                <a:latin typeface="Arial" pitchFamily="34" charset="0"/>
                <a:ea typeface="Arial" pitchFamily="34" charset="-122"/>
                <a:cs typeface="Arial" pitchFamily="34" charset="-120"/>
              </a:rPr>
              <a:t>→  Spending limit per key (e.g. $20/mo.) + email alert when exceeded</a:t>
            </a:r>
            <a:endParaRPr lang="en-US" sz="1050" dirty="0"/>
          </a:p>
        </p:txBody>
      </p:sp>
      <p:sp>
        <p:nvSpPr>
          <p:cNvPr id="27" name="Shape 25"/>
          <p:cNvSpPr/>
          <p:nvPr/>
        </p:nvSpPr>
        <p:spPr>
          <a:xfrm>
            <a:off x="4754880" y="4187952"/>
            <a:ext cx="4160520" cy="329184"/>
          </a:xfrm>
          <a:prstGeom prst="rect">
            <a:avLst/>
          </a:prstGeom>
          <a:solidFill>
            <a:srgbClr val="DBEAFE"/>
          </a:solidFill>
          <a:ln w="5080">
            <a:solidFill>
              <a:srgbClr val="93C5FD"/>
            </a:solidFill>
            <a:prstDash val="solid"/>
          </a:ln>
        </p:spPr>
        <p:txBody>
          <a:bodyPr/>
          <a:lstStyle/>
          <a:p>
            <a:endParaRPr lang="pl-PL"/>
          </a:p>
        </p:txBody>
      </p:sp>
      <p:sp>
        <p:nvSpPr>
          <p:cNvPr id="28" name="Text 26"/>
          <p:cNvSpPr/>
          <p:nvPr/>
        </p:nvSpPr>
        <p:spPr>
          <a:xfrm>
            <a:off x="4873752" y="4206240"/>
            <a:ext cx="3931920" cy="292608"/>
          </a:xfrm>
          <a:prstGeom prst="rect">
            <a:avLst/>
          </a:prstGeom>
          <a:noFill/>
          <a:ln/>
        </p:spPr>
        <p:txBody>
          <a:bodyPr wrap="square" lIns="0" tIns="0" rIns="0" bIns="0" rtlCol="0" anchor="ctr"/>
          <a:lstStyle/>
          <a:p>
            <a:pPr marL="0" indent="0">
              <a:buNone/>
            </a:pPr>
            <a:r>
              <a:rPr lang="en-US" sz="1050" dirty="0">
                <a:solidFill>
                  <a:srgbClr val="1E4D8C"/>
                </a:solidFill>
                <a:latin typeface="Arial" pitchFamily="34" charset="0"/>
                <a:ea typeface="Arial" pitchFamily="34" charset="-122"/>
                <a:cs typeface="Arial" pitchFamily="34" charset="-120"/>
              </a:rPr>
              <a:t xml:space="preserve">→  Key deactivation in 1 </a:t>
            </a:r>
            <a:r>
              <a:rPr lang="en-US" sz="1050" dirty="0" err="1">
                <a:solidFill>
                  <a:srgbClr val="1E4D8C"/>
                </a:solidFill>
                <a:latin typeface="Arial" pitchFamily="34" charset="0"/>
                <a:ea typeface="Arial" pitchFamily="34" charset="-122"/>
                <a:cs typeface="Arial" pitchFamily="34" charset="-120"/>
              </a:rPr>
              <a:t>click</a:t>
            </a:r>
            <a:r>
              <a:rPr lang="en-US" sz="1050" dirty="0">
                <a:solidFill>
                  <a:srgbClr val="1E4D8C"/>
                </a:solidFill>
                <a:latin typeface="Arial" pitchFamily="34" charset="0"/>
                <a:ea typeface="Arial" pitchFamily="34" charset="-122"/>
                <a:cs typeface="Arial" pitchFamily="34" charset="-120"/>
              </a:rPr>
              <a:t xml:space="preserve"> </a:t>
            </a:r>
            <a:r>
              <a:rPr lang="pl-PL" sz="1050" dirty="0">
                <a:solidFill>
                  <a:srgbClr val="1E4D8C"/>
                </a:solidFill>
                <a:latin typeface="Arial" pitchFamily="34" charset="0"/>
                <a:ea typeface="Arial" pitchFamily="34" charset="-122"/>
                <a:cs typeface="Arial" pitchFamily="34" charset="-120"/>
              </a:rPr>
              <a:t>-</a:t>
            </a:r>
            <a:r>
              <a:rPr lang="en-US" sz="1050" dirty="0">
                <a:solidFill>
                  <a:srgbClr val="1E4D8C"/>
                </a:solidFill>
                <a:latin typeface="Arial" pitchFamily="34" charset="0"/>
                <a:ea typeface="Arial" pitchFamily="34" charset="-122"/>
                <a:cs typeface="Arial" pitchFamily="34" charset="-120"/>
              </a:rPr>
              <a:t xml:space="preserve"> e.g. when an employee leaves</a:t>
            </a:r>
            <a:endParaRPr lang="en-US" sz="1050" dirty="0"/>
          </a:p>
        </p:txBody>
      </p:sp>
      <p:sp>
        <p:nvSpPr>
          <p:cNvPr id="29" name="Shape 27"/>
          <p:cNvSpPr/>
          <p:nvPr/>
        </p:nvSpPr>
        <p:spPr>
          <a:xfrm>
            <a:off x="4754880" y="4572000"/>
            <a:ext cx="4160520" cy="347472"/>
          </a:xfrm>
          <a:prstGeom prst="rect">
            <a:avLst/>
          </a:prstGeom>
          <a:solidFill>
            <a:srgbClr val="EEF4FF"/>
          </a:solidFill>
          <a:ln w="6350">
            <a:solidFill>
              <a:srgbClr val="93C5FD"/>
            </a:solidFill>
            <a:prstDash val="solid"/>
          </a:ln>
        </p:spPr>
        <p:txBody>
          <a:bodyPr/>
          <a:lstStyle/>
          <a:p>
            <a:endParaRPr lang="pl-PL"/>
          </a:p>
        </p:txBody>
      </p:sp>
      <p:sp>
        <p:nvSpPr>
          <p:cNvPr id="30" name="Text 28"/>
          <p:cNvSpPr/>
          <p:nvPr/>
        </p:nvSpPr>
        <p:spPr>
          <a:xfrm>
            <a:off x="4846320" y="4590288"/>
            <a:ext cx="3977640" cy="310896"/>
          </a:xfrm>
          <a:prstGeom prst="rect">
            <a:avLst/>
          </a:prstGeom>
          <a:noFill/>
          <a:ln/>
        </p:spPr>
        <p:txBody>
          <a:bodyPr wrap="square" lIns="0" tIns="0" rIns="0" bIns="0" rtlCol="0" anchor="ctr"/>
          <a:lstStyle/>
          <a:p>
            <a:pPr marL="0" indent="0">
              <a:buNone/>
            </a:pPr>
            <a:r>
              <a:rPr lang="en-US" sz="950" dirty="0">
                <a:solidFill>
                  <a:srgbClr val="1E4D8C"/>
                </a:solidFill>
                <a:latin typeface="Arial" pitchFamily="34" charset="0"/>
                <a:ea typeface="Arial" pitchFamily="34" charset="-122"/>
                <a:cs typeface="Arial" pitchFamily="34" charset="-120"/>
              </a:rPr>
              <a:t>💡  One company card + one monthly invoice. Granular view of usage and cost per user.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916"/>
          </a:solidFill>
          <a:ln w="12700">
            <a:solidFill>
              <a:srgbClr val="1A1916"/>
            </a:solidFill>
            <a:prstDash val="solid"/>
          </a:ln>
        </p:spPr>
        <p:txBody>
          <a:bodyPr/>
          <a:lstStyle/>
          <a:p>
            <a:endParaRPr lang="pl-PL"/>
          </a:p>
        </p:txBody>
      </p:sp>
      <p:sp>
        <p:nvSpPr>
          <p:cNvPr id="3" name="Text 1"/>
          <p:cNvSpPr/>
          <p:nvPr/>
        </p:nvSpPr>
        <p:spPr>
          <a:xfrm>
            <a:off x="320040" y="73152"/>
            <a:ext cx="5486400" cy="420624"/>
          </a:xfrm>
          <a:prstGeom prst="rect">
            <a:avLst/>
          </a:prstGeom>
          <a:noFill/>
          <a:ln/>
        </p:spPr>
        <p:txBody>
          <a:bodyPr wrap="square" lIns="0" tIns="0" rIns="0" bIns="0" rtlCol="0" anchor="ctr"/>
          <a:lstStyle/>
          <a:p>
            <a:pPr marL="0" indent="0">
              <a:buNone/>
            </a:pPr>
            <a:r>
              <a:rPr lang="en-US" sz="1100" b="1" kern="0" spc="500" dirty="0">
                <a:solidFill>
                  <a:srgbClr val="F5A300"/>
                </a:solidFill>
                <a:latin typeface="Arial" pitchFamily="34" charset="0"/>
                <a:ea typeface="Arial" pitchFamily="34" charset="-122"/>
                <a:cs typeface="Arial" pitchFamily="34" charset="-120"/>
              </a:rPr>
              <a:t>DATA RETENTION</a:t>
            </a:r>
            <a:endParaRPr lang="en-US" sz="1100" dirty="0"/>
          </a:p>
        </p:txBody>
      </p:sp>
      <p:sp>
        <p:nvSpPr>
          <p:cNvPr id="4" name="Text 2"/>
          <p:cNvSpPr/>
          <p:nvPr/>
        </p:nvSpPr>
        <p:spPr>
          <a:xfrm>
            <a:off x="320040" y="749808"/>
            <a:ext cx="8503920" cy="50292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API vs employees' private accounts</a:t>
            </a:r>
            <a:endParaRPr lang="en-US" sz="2600" dirty="0"/>
          </a:p>
        </p:txBody>
      </p:sp>
      <p:sp>
        <p:nvSpPr>
          <p:cNvPr id="5" name="Shape 3"/>
          <p:cNvSpPr/>
          <p:nvPr/>
        </p:nvSpPr>
        <p:spPr>
          <a:xfrm>
            <a:off x="228600" y="1417320"/>
            <a:ext cx="8686800" cy="658368"/>
          </a:xfrm>
          <a:prstGeom prst="rect">
            <a:avLst/>
          </a:prstGeom>
          <a:solidFill>
            <a:srgbClr val="D6F0E0"/>
          </a:solidFill>
          <a:ln w="10160">
            <a:solidFill>
              <a:srgbClr val="7ECBA1"/>
            </a:solidFill>
            <a:prstDash val="solid"/>
          </a:ln>
          <a:effectLst>
            <a:outerShdw blurRad="63500" dist="25400" dir="8100000" algn="bl" rotWithShape="0">
              <a:srgbClr val="000000">
                <a:alpha val="9000"/>
              </a:srgbClr>
            </a:outerShdw>
          </a:effectLst>
        </p:spPr>
        <p:txBody>
          <a:bodyPr/>
          <a:lstStyle/>
          <a:p>
            <a:endParaRPr lang="pl-PL"/>
          </a:p>
        </p:txBody>
      </p:sp>
      <p:sp>
        <p:nvSpPr>
          <p:cNvPr id="6" name="Text 4"/>
          <p:cNvSpPr/>
          <p:nvPr/>
        </p:nvSpPr>
        <p:spPr>
          <a:xfrm>
            <a:off x="347472" y="1481328"/>
            <a:ext cx="365760" cy="502920"/>
          </a:xfrm>
          <a:prstGeom prst="rect">
            <a:avLst/>
          </a:prstGeom>
          <a:noFill/>
          <a:ln/>
        </p:spPr>
        <p:txBody>
          <a:bodyPr wrap="square" lIns="0" tIns="0" rIns="0" bIns="0" rtlCol="0" anchor="ctr"/>
          <a:lstStyle/>
          <a:p>
            <a:pPr marL="0" indent="0">
              <a:buNone/>
            </a:pPr>
            <a:r>
              <a:rPr lang="en-US" sz="2200" b="1" dirty="0">
                <a:solidFill>
                  <a:srgbClr val="1E7A4A"/>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713232" y="1490472"/>
            <a:ext cx="8092440" cy="512064"/>
          </a:xfrm>
          <a:prstGeom prst="rect">
            <a:avLst/>
          </a:prstGeom>
          <a:noFill/>
          <a:ln/>
        </p:spPr>
        <p:txBody>
          <a:bodyPr wrap="square" lIns="0" tIns="0" rIns="0" bIns="0" rtlCol="0" anchor="ctr"/>
          <a:lstStyle/>
          <a:p>
            <a:pPr marL="0" indent="0">
              <a:buNone/>
            </a:pPr>
            <a:r>
              <a:rPr lang="en-US" sz="1250" b="1" dirty="0">
                <a:solidFill>
                  <a:srgbClr val="1E7A4A"/>
                </a:solidFill>
                <a:latin typeface="Arial" pitchFamily="34" charset="0"/>
                <a:ea typeface="Arial" pitchFamily="34" charset="-122"/>
                <a:cs typeface="Arial" pitchFamily="34" charset="-120"/>
              </a:rPr>
              <a:t xml:space="preserve">Content AI uses an API account </a:t>
            </a:r>
            <a:r>
              <a:rPr lang="pl-PL" sz="1250" b="1" dirty="0">
                <a:solidFill>
                  <a:srgbClr val="1E7A4A"/>
                </a:solidFill>
                <a:latin typeface="Arial" pitchFamily="34" charset="0"/>
                <a:ea typeface="Arial" pitchFamily="34" charset="-122"/>
                <a:cs typeface="Arial" pitchFamily="34" charset="-120"/>
              </a:rPr>
              <a:t>-</a:t>
            </a:r>
            <a:r>
              <a:rPr lang="en-US" sz="1250" b="1" dirty="0">
                <a:solidFill>
                  <a:srgbClr val="1E7A4A"/>
                </a:solidFill>
                <a:latin typeface="Arial" pitchFamily="34" charset="0"/>
                <a:ea typeface="Arial" pitchFamily="34" charset="-122"/>
                <a:cs typeface="Arial" pitchFamily="34" charset="-120"/>
              </a:rPr>
              <a:t xml:space="preserve"> logs deleted automatically after 7 days (since 14.09.2025). Data is NEVER used to train the model. A no-exceptions rule.</a:t>
            </a:r>
            <a:endParaRPr lang="en-US" sz="1250" dirty="0"/>
          </a:p>
        </p:txBody>
      </p:sp>
      <p:sp>
        <p:nvSpPr>
          <p:cNvPr id="8" name="Shape 6"/>
          <p:cNvSpPr/>
          <p:nvPr/>
        </p:nvSpPr>
        <p:spPr>
          <a:xfrm>
            <a:off x="228600" y="2212848"/>
            <a:ext cx="2834640" cy="347472"/>
          </a:xfrm>
          <a:prstGeom prst="rect">
            <a:avLst/>
          </a:prstGeom>
          <a:solidFill>
            <a:srgbClr val="1A1916"/>
          </a:solidFill>
          <a:ln w="12700">
            <a:solidFill>
              <a:srgbClr val="1A1916"/>
            </a:solidFill>
            <a:prstDash val="solid"/>
          </a:ln>
        </p:spPr>
        <p:txBody>
          <a:bodyPr/>
          <a:lstStyle/>
          <a:p>
            <a:endParaRPr lang="pl-PL"/>
          </a:p>
        </p:txBody>
      </p:sp>
      <p:sp>
        <p:nvSpPr>
          <p:cNvPr id="9" name="Text 7"/>
          <p:cNvSpPr/>
          <p:nvPr/>
        </p:nvSpPr>
        <p:spPr>
          <a:xfrm>
            <a:off x="320040" y="2212848"/>
            <a:ext cx="2651760" cy="34747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Criterion</a:t>
            </a:r>
            <a:endParaRPr lang="en-US" sz="1050" dirty="0"/>
          </a:p>
        </p:txBody>
      </p:sp>
      <p:sp>
        <p:nvSpPr>
          <p:cNvPr id="10" name="Shape 8"/>
          <p:cNvSpPr/>
          <p:nvPr/>
        </p:nvSpPr>
        <p:spPr>
          <a:xfrm>
            <a:off x="3108960" y="2212848"/>
            <a:ext cx="2743200" cy="347472"/>
          </a:xfrm>
          <a:prstGeom prst="rect">
            <a:avLst/>
          </a:prstGeom>
          <a:solidFill>
            <a:srgbClr val="1E7A4A"/>
          </a:solidFill>
          <a:ln w="12700">
            <a:solidFill>
              <a:srgbClr val="1E7A4A"/>
            </a:solidFill>
            <a:prstDash val="solid"/>
          </a:ln>
        </p:spPr>
        <p:txBody>
          <a:bodyPr/>
          <a:lstStyle/>
          <a:p>
            <a:endParaRPr lang="pl-PL"/>
          </a:p>
        </p:txBody>
      </p:sp>
      <p:sp>
        <p:nvSpPr>
          <p:cNvPr id="11" name="Text 9"/>
          <p:cNvSpPr/>
          <p:nvPr/>
        </p:nvSpPr>
        <p:spPr>
          <a:xfrm>
            <a:off x="3200400" y="2212848"/>
            <a:ext cx="2560320" cy="34747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Content AI API</a:t>
            </a:r>
            <a:endParaRPr lang="en-US" sz="1050" dirty="0"/>
          </a:p>
        </p:txBody>
      </p:sp>
      <p:sp>
        <p:nvSpPr>
          <p:cNvPr id="12" name="Shape 10"/>
          <p:cNvSpPr/>
          <p:nvPr/>
        </p:nvSpPr>
        <p:spPr>
          <a:xfrm>
            <a:off x="5897880" y="2212848"/>
            <a:ext cx="3017520" cy="347472"/>
          </a:xfrm>
          <a:prstGeom prst="rect">
            <a:avLst/>
          </a:prstGeom>
          <a:solidFill>
            <a:srgbClr val="E23244"/>
          </a:solidFill>
          <a:ln w="12700">
            <a:solidFill>
              <a:srgbClr val="E23244"/>
            </a:solidFill>
            <a:prstDash val="solid"/>
          </a:ln>
        </p:spPr>
        <p:txBody>
          <a:bodyPr/>
          <a:lstStyle/>
          <a:p>
            <a:endParaRPr lang="pl-PL"/>
          </a:p>
        </p:txBody>
      </p:sp>
      <p:sp>
        <p:nvSpPr>
          <p:cNvPr id="13" name="Text 11"/>
          <p:cNvSpPr/>
          <p:nvPr/>
        </p:nvSpPr>
        <p:spPr>
          <a:xfrm>
            <a:off x="5989320" y="2212848"/>
            <a:ext cx="2834640" cy="34747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  claude.ai private account (Shadow AI)</a:t>
            </a:r>
            <a:endParaRPr lang="en-US" sz="1050" dirty="0"/>
          </a:p>
        </p:txBody>
      </p:sp>
      <p:sp>
        <p:nvSpPr>
          <p:cNvPr id="14" name="Shape 12"/>
          <p:cNvSpPr/>
          <p:nvPr/>
        </p:nvSpPr>
        <p:spPr>
          <a:xfrm>
            <a:off x="228600" y="2587752"/>
            <a:ext cx="2834640" cy="393192"/>
          </a:xfrm>
          <a:prstGeom prst="rect">
            <a:avLst/>
          </a:prstGeom>
          <a:solidFill>
            <a:srgbClr val="FFFFFF"/>
          </a:solidFill>
          <a:ln w="3810">
            <a:solidFill>
              <a:srgbClr val="CCCCCC"/>
            </a:solidFill>
            <a:prstDash val="solid"/>
          </a:ln>
        </p:spPr>
        <p:txBody>
          <a:bodyPr/>
          <a:lstStyle/>
          <a:p>
            <a:endParaRPr lang="pl-PL"/>
          </a:p>
        </p:txBody>
      </p:sp>
      <p:sp>
        <p:nvSpPr>
          <p:cNvPr id="15" name="Text 13"/>
          <p:cNvSpPr/>
          <p:nvPr/>
        </p:nvSpPr>
        <p:spPr>
          <a:xfrm>
            <a:off x="320040" y="2606040"/>
            <a:ext cx="2651760" cy="35661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Log retention</a:t>
            </a:r>
            <a:endParaRPr lang="en-US" sz="1050" dirty="0"/>
          </a:p>
        </p:txBody>
      </p:sp>
      <p:sp>
        <p:nvSpPr>
          <p:cNvPr id="16" name="Shape 14"/>
          <p:cNvSpPr/>
          <p:nvPr/>
        </p:nvSpPr>
        <p:spPr>
          <a:xfrm>
            <a:off x="3108960" y="2587752"/>
            <a:ext cx="2743200" cy="393192"/>
          </a:xfrm>
          <a:prstGeom prst="rect">
            <a:avLst/>
          </a:prstGeom>
          <a:solidFill>
            <a:srgbClr val="D6F0E0"/>
          </a:solidFill>
          <a:ln w="3810">
            <a:solidFill>
              <a:srgbClr val="CCCCCC"/>
            </a:solidFill>
            <a:prstDash val="solid"/>
          </a:ln>
        </p:spPr>
        <p:txBody>
          <a:bodyPr/>
          <a:lstStyle/>
          <a:p>
            <a:endParaRPr lang="pl-PL"/>
          </a:p>
        </p:txBody>
      </p:sp>
      <p:sp>
        <p:nvSpPr>
          <p:cNvPr id="17" name="Text 15"/>
          <p:cNvSpPr/>
          <p:nvPr/>
        </p:nvSpPr>
        <p:spPr>
          <a:xfrm>
            <a:off x="3200400" y="2606040"/>
            <a:ext cx="2560320" cy="356616"/>
          </a:xfrm>
          <a:prstGeom prst="rect">
            <a:avLst/>
          </a:prstGeom>
          <a:noFill/>
          <a:ln/>
        </p:spPr>
        <p:txBody>
          <a:bodyPr wrap="square" lIns="0" tIns="0" rIns="0" bIns="0" rtlCol="0" anchor="ctr"/>
          <a:lstStyle/>
          <a:p>
            <a:pPr marL="0" indent="0">
              <a:buNone/>
            </a:pPr>
            <a:r>
              <a:rPr lang="en-US" sz="1000" dirty="0">
                <a:solidFill>
                  <a:srgbClr val="1E7A4A"/>
                </a:solidFill>
                <a:latin typeface="Arial" pitchFamily="34" charset="0"/>
                <a:ea typeface="Arial" pitchFamily="34" charset="-122"/>
                <a:cs typeface="Arial" pitchFamily="34" charset="-120"/>
              </a:rPr>
              <a:t>7 days → auto-deleted</a:t>
            </a:r>
            <a:endParaRPr lang="en-US" sz="1000" dirty="0"/>
          </a:p>
        </p:txBody>
      </p:sp>
      <p:sp>
        <p:nvSpPr>
          <p:cNvPr id="18" name="Shape 16"/>
          <p:cNvSpPr/>
          <p:nvPr/>
        </p:nvSpPr>
        <p:spPr>
          <a:xfrm>
            <a:off x="5897880" y="2587752"/>
            <a:ext cx="3017520" cy="393192"/>
          </a:xfrm>
          <a:prstGeom prst="rect">
            <a:avLst/>
          </a:prstGeom>
          <a:solidFill>
            <a:srgbClr val="FDEAEA"/>
          </a:solidFill>
          <a:ln w="3810">
            <a:solidFill>
              <a:srgbClr val="CCCCCC"/>
            </a:solidFill>
            <a:prstDash val="solid"/>
          </a:ln>
        </p:spPr>
        <p:txBody>
          <a:bodyPr/>
          <a:lstStyle/>
          <a:p>
            <a:endParaRPr lang="pl-PL"/>
          </a:p>
        </p:txBody>
      </p:sp>
      <p:sp>
        <p:nvSpPr>
          <p:cNvPr id="19" name="Text 17"/>
          <p:cNvSpPr/>
          <p:nvPr/>
        </p:nvSpPr>
        <p:spPr>
          <a:xfrm>
            <a:off x="5989320" y="2606040"/>
            <a:ext cx="2834640" cy="356616"/>
          </a:xfrm>
          <a:prstGeom prst="rect">
            <a:avLst/>
          </a:prstGeom>
          <a:noFill/>
          <a:ln/>
        </p:spPr>
        <p:txBody>
          <a:bodyPr wrap="square" lIns="0" tIns="0" rIns="0" bIns="0" rtlCol="0" anchor="ctr"/>
          <a:lstStyle/>
          <a:p>
            <a:pPr marL="0" indent="0">
              <a:buNone/>
            </a:pPr>
            <a:r>
              <a:rPr lang="en-US" sz="1000" dirty="0">
                <a:solidFill>
                  <a:srgbClr val="E23244"/>
                </a:solidFill>
                <a:latin typeface="Arial" pitchFamily="34" charset="0"/>
                <a:ea typeface="Arial" pitchFamily="34" charset="-122"/>
                <a:cs typeface="Arial" pitchFamily="34" charset="-120"/>
              </a:rPr>
              <a:t>30 days (opt-out) or 5 years (opt-in)</a:t>
            </a:r>
            <a:endParaRPr lang="en-US" sz="1000" dirty="0"/>
          </a:p>
        </p:txBody>
      </p:sp>
      <p:sp>
        <p:nvSpPr>
          <p:cNvPr id="20" name="Shape 18"/>
          <p:cNvSpPr/>
          <p:nvPr/>
        </p:nvSpPr>
        <p:spPr>
          <a:xfrm>
            <a:off x="228600" y="3008376"/>
            <a:ext cx="2834640" cy="393192"/>
          </a:xfrm>
          <a:prstGeom prst="rect">
            <a:avLst/>
          </a:prstGeom>
          <a:solidFill>
            <a:srgbClr val="F0F0F0"/>
          </a:solidFill>
          <a:ln w="3810">
            <a:solidFill>
              <a:srgbClr val="CCCCCC"/>
            </a:solidFill>
            <a:prstDash val="solid"/>
          </a:ln>
        </p:spPr>
        <p:txBody>
          <a:bodyPr/>
          <a:lstStyle/>
          <a:p>
            <a:endParaRPr lang="pl-PL"/>
          </a:p>
        </p:txBody>
      </p:sp>
      <p:sp>
        <p:nvSpPr>
          <p:cNvPr id="21" name="Text 19"/>
          <p:cNvSpPr/>
          <p:nvPr/>
        </p:nvSpPr>
        <p:spPr>
          <a:xfrm>
            <a:off x="320040" y="3026664"/>
            <a:ext cx="2651760" cy="35661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Model training</a:t>
            </a:r>
            <a:endParaRPr lang="en-US" sz="1050" dirty="0"/>
          </a:p>
        </p:txBody>
      </p:sp>
      <p:sp>
        <p:nvSpPr>
          <p:cNvPr id="22" name="Shape 20"/>
          <p:cNvSpPr/>
          <p:nvPr/>
        </p:nvSpPr>
        <p:spPr>
          <a:xfrm>
            <a:off x="3108960" y="3008376"/>
            <a:ext cx="2743200" cy="393192"/>
          </a:xfrm>
          <a:prstGeom prst="rect">
            <a:avLst/>
          </a:prstGeom>
          <a:solidFill>
            <a:srgbClr val="E8F5EE"/>
          </a:solidFill>
          <a:ln w="3810">
            <a:solidFill>
              <a:srgbClr val="CCCCCC"/>
            </a:solidFill>
            <a:prstDash val="solid"/>
          </a:ln>
        </p:spPr>
        <p:txBody>
          <a:bodyPr/>
          <a:lstStyle/>
          <a:p>
            <a:endParaRPr lang="pl-PL"/>
          </a:p>
        </p:txBody>
      </p:sp>
      <p:sp>
        <p:nvSpPr>
          <p:cNvPr id="23" name="Text 21"/>
          <p:cNvSpPr/>
          <p:nvPr/>
        </p:nvSpPr>
        <p:spPr>
          <a:xfrm>
            <a:off x="3200400" y="3026664"/>
            <a:ext cx="2560320" cy="356616"/>
          </a:xfrm>
          <a:prstGeom prst="rect">
            <a:avLst/>
          </a:prstGeom>
          <a:noFill/>
          <a:ln/>
        </p:spPr>
        <p:txBody>
          <a:bodyPr wrap="square" lIns="0" tIns="0" rIns="0" bIns="0" rtlCol="0" anchor="ctr"/>
          <a:lstStyle/>
          <a:p>
            <a:pPr marL="0" indent="0">
              <a:buNone/>
            </a:pPr>
            <a:r>
              <a:rPr lang="en-US" sz="1000" dirty="0">
                <a:solidFill>
                  <a:srgbClr val="1E7A4A"/>
                </a:solidFill>
                <a:latin typeface="Arial" pitchFamily="34" charset="0"/>
                <a:ea typeface="Arial" pitchFamily="34" charset="-122"/>
                <a:cs typeface="Arial" pitchFamily="34" charset="-120"/>
              </a:rPr>
              <a:t xml:space="preserve">NIE </a:t>
            </a:r>
            <a:r>
              <a:rPr lang="pl-PL" sz="1000" dirty="0">
                <a:solidFill>
                  <a:srgbClr val="1E7A4A"/>
                </a:solidFill>
                <a:latin typeface="Arial" pitchFamily="34" charset="0"/>
                <a:ea typeface="Arial" pitchFamily="34" charset="-122"/>
                <a:cs typeface="Arial" pitchFamily="34" charset="-120"/>
              </a:rPr>
              <a:t>-</a:t>
            </a:r>
            <a:r>
              <a:rPr lang="en-US" sz="1000" dirty="0">
                <a:solidFill>
                  <a:srgbClr val="1E7A4A"/>
                </a:solidFill>
                <a:latin typeface="Arial" pitchFamily="34" charset="0"/>
                <a:ea typeface="Arial" pitchFamily="34" charset="-122"/>
                <a:cs typeface="Arial" pitchFamily="34" charset="-120"/>
              </a:rPr>
              <a:t xml:space="preserve"> a no-exceptions rule</a:t>
            </a:r>
            <a:endParaRPr lang="en-US" sz="1000" dirty="0"/>
          </a:p>
        </p:txBody>
      </p:sp>
      <p:sp>
        <p:nvSpPr>
          <p:cNvPr id="24" name="Shape 22"/>
          <p:cNvSpPr/>
          <p:nvPr/>
        </p:nvSpPr>
        <p:spPr>
          <a:xfrm>
            <a:off x="5897880" y="3008376"/>
            <a:ext cx="3017520" cy="393192"/>
          </a:xfrm>
          <a:prstGeom prst="rect">
            <a:avLst/>
          </a:prstGeom>
          <a:solidFill>
            <a:srgbClr val="FCF0EF"/>
          </a:solidFill>
          <a:ln w="3810">
            <a:solidFill>
              <a:srgbClr val="CCCCCC"/>
            </a:solidFill>
            <a:prstDash val="solid"/>
          </a:ln>
        </p:spPr>
        <p:txBody>
          <a:bodyPr/>
          <a:lstStyle/>
          <a:p>
            <a:endParaRPr lang="pl-PL"/>
          </a:p>
        </p:txBody>
      </p:sp>
      <p:sp>
        <p:nvSpPr>
          <p:cNvPr id="25" name="Text 23"/>
          <p:cNvSpPr/>
          <p:nvPr/>
        </p:nvSpPr>
        <p:spPr>
          <a:xfrm>
            <a:off x="5989320" y="3026664"/>
            <a:ext cx="2834640" cy="356616"/>
          </a:xfrm>
          <a:prstGeom prst="rect">
            <a:avLst/>
          </a:prstGeom>
          <a:noFill/>
          <a:ln/>
        </p:spPr>
        <p:txBody>
          <a:bodyPr wrap="square" lIns="0" tIns="0" rIns="0" bIns="0" rtlCol="0" anchor="ctr"/>
          <a:lstStyle/>
          <a:p>
            <a:pPr marL="0" indent="0">
              <a:buNone/>
            </a:pPr>
            <a:r>
              <a:rPr lang="en-US" sz="1000" dirty="0">
                <a:solidFill>
                  <a:srgbClr val="E23244"/>
                </a:solidFill>
                <a:latin typeface="Arial" pitchFamily="34" charset="0"/>
                <a:ea typeface="Arial" pitchFamily="34" charset="-122"/>
                <a:cs typeface="Arial" pitchFamily="34" charset="-120"/>
              </a:rPr>
              <a:t>TAK</a:t>
            </a:r>
            <a:r>
              <a:rPr lang="pl-PL" sz="1000" dirty="0">
                <a:solidFill>
                  <a:srgbClr val="E23244"/>
                </a:solidFill>
                <a:latin typeface="Arial" pitchFamily="34" charset="0"/>
                <a:ea typeface="Arial" pitchFamily="34" charset="-122"/>
                <a:cs typeface="Arial" pitchFamily="34" charset="-120"/>
              </a:rPr>
              <a:t xml:space="preserve"> - </a:t>
            </a:r>
            <a:r>
              <a:rPr lang="en-US" sz="1000" dirty="0" err="1">
                <a:solidFill>
                  <a:srgbClr val="E23244"/>
                </a:solidFill>
                <a:latin typeface="Arial" pitchFamily="34" charset="0"/>
                <a:ea typeface="Arial" pitchFamily="34" charset="-122"/>
                <a:cs typeface="Arial" pitchFamily="34" charset="-120"/>
              </a:rPr>
              <a:t>if</a:t>
            </a:r>
            <a:r>
              <a:rPr lang="en-US" sz="1000" dirty="0">
                <a:solidFill>
                  <a:srgbClr val="E23244"/>
                </a:solidFill>
                <a:latin typeface="Arial" pitchFamily="34" charset="0"/>
                <a:ea typeface="Arial" pitchFamily="34" charset="-122"/>
                <a:cs typeface="Arial" pitchFamily="34" charset="-120"/>
              </a:rPr>
              <a:t xml:space="preserve"> the employee accepted opt-in</a:t>
            </a:r>
            <a:endParaRPr lang="en-US" sz="1000" dirty="0"/>
          </a:p>
        </p:txBody>
      </p:sp>
      <p:sp>
        <p:nvSpPr>
          <p:cNvPr id="26" name="Shape 24"/>
          <p:cNvSpPr/>
          <p:nvPr/>
        </p:nvSpPr>
        <p:spPr>
          <a:xfrm>
            <a:off x="228600" y="3429000"/>
            <a:ext cx="2834640" cy="393192"/>
          </a:xfrm>
          <a:prstGeom prst="rect">
            <a:avLst/>
          </a:prstGeom>
          <a:solidFill>
            <a:srgbClr val="FFFFFF"/>
          </a:solidFill>
          <a:ln w="3810">
            <a:solidFill>
              <a:srgbClr val="CCCCCC"/>
            </a:solidFill>
            <a:prstDash val="solid"/>
          </a:ln>
        </p:spPr>
        <p:txBody>
          <a:bodyPr/>
          <a:lstStyle/>
          <a:p>
            <a:endParaRPr lang="pl-PL"/>
          </a:p>
        </p:txBody>
      </p:sp>
      <p:sp>
        <p:nvSpPr>
          <p:cNvPr id="27" name="Text 25"/>
          <p:cNvSpPr/>
          <p:nvPr/>
        </p:nvSpPr>
        <p:spPr>
          <a:xfrm>
            <a:off x="320040" y="3447288"/>
            <a:ext cx="2651760" cy="35661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Company control</a:t>
            </a:r>
            <a:endParaRPr lang="en-US" sz="1050" dirty="0"/>
          </a:p>
        </p:txBody>
      </p:sp>
      <p:sp>
        <p:nvSpPr>
          <p:cNvPr id="28" name="Shape 26"/>
          <p:cNvSpPr/>
          <p:nvPr/>
        </p:nvSpPr>
        <p:spPr>
          <a:xfrm>
            <a:off x="3108960" y="3429000"/>
            <a:ext cx="2743200" cy="393192"/>
          </a:xfrm>
          <a:prstGeom prst="rect">
            <a:avLst/>
          </a:prstGeom>
          <a:solidFill>
            <a:srgbClr val="D6F0E0"/>
          </a:solidFill>
          <a:ln w="3810">
            <a:solidFill>
              <a:srgbClr val="CCCCCC"/>
            </a:solidFill>
            <a:prstDash val="solid"/>
          </a:ln>
        </p:spPr>
        <p:txBody>
          <a:bodyPr/>
          <a:lstStyle/>
          <a:p>
            <a:endParaRPr lang="pl-PL"/>
          </a:p>
        </p:txBody>
      </p:sp>
      <p:sp>
        <p:nvSpPr>
          <p:cNvPr id="29" name="Text 27"/>
          <p:cNvSpPr/>
          <p:nvPr/>
        </p:nvSpPr>
        <p:spPr>
          <a:xfrm>
            <a:off x="3200400" y="3447288"/>
            <a:ext cx="2560320" cy="356616"/>
          </a:xfrm>
          <a:prstGeom prst="rect">
            <a:avLst/>
          </a:prstGeom>
          <a:noFill/>
          <a:ln/>
        </p:spPr>
        <p:txBody>
          <a:bodyPr wrap="square" lIns="0" tIns="0" rIns="0" bIns="0" rtlCol="0" anchor="ctr"/>
          <a:lstStyle/>
          <a:p>
            <a:pPr marL="0" indent="0">
              <a:buNone/>
            </a:pPr>
            <a:r>
              <a:rPr lang="en-US" sz="1000" dirty="0">
                <a:solidFill>
                  <a:srgbClr val="1E7A4A"/>
                </a:solidFill>
                <a:latin typeface="Arial" pitchFamily="34" charset="0"/>
                <a:ea typeface="Arial" pitchFamily="34" charset="-122"/>
                <a:cs typeface="Arial" pitchFamily="34" charset="-120"/>
              </a:rPr>
              <a:t xml:space="preserve">Tak </a:t>
            </a:r>
            <a:r>
              <a:rPr lang="pl-PL" sz="1000" dirty="0">
                <a:solidFill>
                  <a:srgbClr val="1E7A4A"/>
                </a:solidFill>
                <a:latin typeface="Arial" pitchFamily="34" charset="0"/>
                <a:ea typeface="Arial" pitchFamily="34" charset="-122"/>
                <a:cs typeface="Arial" pitchFamily="34" charset="-120"/>
              </a:rPr>
              <a:t>-</a:t>
            </a:r>
            <a:r>
              <a:rPr lang="en-US" sz="1000" dirty="0">
                <a:solidFill>
                  <a:srgbClr val="1E7A4A"/>
                </a:solidFill>
                <a:latin typeface="Arial" pitchFamily="34" charset="0"/>
                <a:ea typeface="Arial" pitchFamily="34" charset="-122"/>
                <a:cs typeface="Arial" pitchFamily="34" charset="-120"/>
              </a:rPr>
              <a:t xml:space="preserve"> API key, monitoring</a:t>
            </a:r>
            <a:endParaRPr lang="en-US" sz="1000" dirty="0"/>
          </a:p>
        </p:txBody>
      </p:sp>
      <p:sp>
        <p:nvSpPr>
          <p:cNvPr id="30" name="Shape 28"/>
          <p:cNvSpPr/>
          <p:nvPr/>
        </p:nvSpPr>
        <p:spPr>
          <a:xfrm>
            <a:off x="5897880" y="3429000"/>
            <a:ext cx="3017520" cy="393192"/>
          </a:xfrm>
          <a:prstGeom prst="rect">
            <a:avLst/>
          </a:prstGeom>
          <a:solidFill>
            <a:srgbClr val="FDEAEA"/>
          </a:solidFill>
          <a:ln w="3810">
            <a:solidFill>
              <a:srgbClr val="CCCCCC"/>
            </a:solidFill>
            <a:prstDash val="solid"/>
          </a:ln>
        </p:spPr>
        <p:txBody>
          <a:bodyPr/>
          <a:lstStyle/>
          <a:p>
            <a:endParaRPr lang="pl-PL"/>
          </a:p>
        </p:txBody>
      </p:sp>
      <p:sp>
        <p:nvSpPr>
          <p:cNvPr id="31" name="Text 29"/>
          <p:cNvSpPr/>
          <p:nvPr/>
        </p:nvSpPr>
        <p:spPr>
          <a:xfrm>
            <a:off x="5989320" y="3447288"/>
            <a:ext cx="2834640" cy="356616"/>
          </a:xfrm>
          <a:prstGeom prst="rect">
            <a:avLst/>
          </a:prstGeom>
          <a:noFill/>
          <a:ln/>
        </p:spPr>
        <p:txBody>
          <a:bodyPr wrap="square" lIns="0" tIns="0" rIns="0" bIns="0" rtlCol="0" anchor="ctr"/>
          <a:lstStyle/>
          <a:p>
            <a:pPr marL="0" indent="0">
              <a:buNone/>
            </a:pPr>
            <a:r>
              <a:rPr lang="en-US" sz="1000" dirty="0">
                <a:solidFill>
                  <a:srgbClr val="E23244"/>
                </a:solidFill>
                <a:latin typeface="Arial" pitchFamily="34" charset="0"/>
                <a:ea typeface="Arial" pitchFamily="34" charset="-122"/>
                <a:cs typeface="Arial" pitchFamily="34" charset="-120"/>
              </a:rPr>
              <a:t xml:space="preserve">NIE </a:t>
            </a:r>
            <a:r>
              <a:rPr lang="pl-PL" sz="1000" dirty="0">
                <a:solidFill>
                  <a:srgbClr val="E23244"/>
                </a:solidFill>
                <a:latin typeface="Arial" pitchFamily="34" charset="0"/>
                <a:ea typeface="Arial" pitchFamily="34" charset="-122"/>
                <a:cs typeface="Arial" pitchFamily="34" charset="-120"/>
              </a:rPr>
              <a:t>-</a:t>
            </a:r>
            <a:r>
              <a:rPr lang="en-US" sz="1000" dirty="0">
                <a:solidFill>
                  <a:srgbClr val="E23244"/>
                </a:solidFill>
                <a:latin typeface="Arial" pitchFamily="34" charset="0"/>
                <a:ea typeface="Arial" pitchFamily="34" charset="-122"/>
                <a:cs typeface="Arial" pitchFamily="34" charset="-120"/>
              </a:rPr>
              <a:t xml:space="preserve"> employee private account</a:t>
            </a:r>
            <a:endParaRPr lang="en-US" sz="1000" dirty="0"/>
          </a:p>
        </p:txBody>
      </p:sp>
      <p:sp>
        <p:nvSpPr>
          <p:cNvPr id="32" name="Shape 30"/>
          <p:cNvSpPr/>
          <p:nvPr/>
        </p:nvSpPr>
        <p:spPr>
          <a:xfrm>
            <a:off x="228600" y="3849624"/>
            <a:ext cx="2834640" cy="393192"/>
          </a:xfrm>
          <a:prstGeom prst="rect">
            <a:avLst/>
          </a:prstGeom>
          <a:solidFill>
            <a:srgbClr val="F0F0F0"/>
          </a:solidFill>
          <a:ln w="3810">
            <a:solidFill>
              <a:srgbClr val="CCCCCC"/>
            </a:solidFill>
            <a:prstDash val="solid"/>
          </a:ln>
        </p:spPr>
        <p:txBody>
          <a:bodyPr/>
          <a:lstStyle/>
          <a:p>
            <a:endParaRPr lang="pl-PL"/>
          </a:p>
        </p:txBody>
      </p:sp>
      <p:sp>
        <p:nvSpPr>
          <p:cNvPr id="33" name="Text 31"/>
          <p:cNvSpPr/>
          <p:nvPr/>
        </p:nvSpPr>
        <p:spPr>
          <a:xfrm>
            <a:off x="320040" y="3867912"/>
            <a:ext cx="2651760" cy="35661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Company data in the request</a:t>
            </a:r>
            <a:endParaRPr lang="en-US" sz="1050" dirty="0"/>
          </a:p>
        </p:txBody>
      </p:sp>
      <p:sp>
        <p:nvSpPr>
          <p:cNvPr id="34" name="Shape 32"/>
          <p:cNvSpPr/>
          <p:nvPr/>
        </p:nvSpPr>
        <p:spPr>
          <a:xfrm>
            <a:off x="3108960" y="3849624"/>
            <a:ext cx="2743200" cy="393192"/>
          </a:xfrm>
          <a:prstGeom prst="rect">
            <a:avLst/>
          </a:prstGeom>
          <a:solidFill>
            <a:srgbClr val="E8F5EE"/>
          </a:solidFill>
          <a:ln w="3810">
            <a:solidFill>
              <a:srgbClr val="CCCCCC"/>
            </a:solidFill>
            <a:prstDash val="solid"/>
          </a:ln>
        </p:spPr>
        <p:txBody>
          <a:bodyPr/>
          <a:lstStyle/>
          <a:p>
            <a:endParaRPr lang="pl-PL"/>
          </a:p>
        </p:txBody>
      </p:sp>
      <p:sp>
        <p:nvSpPr>
          <p:cNvPr id="35" name="Text 33"/>
          <p:cNvSpPr/>
          <p:nvPr/>
        </p:nvSpPr>
        <p:spPr>
          <a:xfrm>
            <a:off x="3200400" y="3867912"/>
            <a:ext cx="2560320" cy="356616"/>
          </a:xfrm>
          <a:prstGeom prst="rect">
            <a:avLst/>
          </a:prstGeom>
          <a:noFill/>
          <a:ln/>
        </p:spPr>
        <p:txBody>
          <a:bodyPr wrap="square" lIns="0" tIns="0" rIns="0" bIns="0" rtlCol="0" anchor="ctr"/>
          <a:lstStyle/>
          <a:p>
            <a:pPr marL="0" indent="0">
              <a:buNone/>
            </a:pPr>
            <a:r>
              <a:rPr lang="en-US" sz="1000" dirty="0">
                <a:solidFill>
                  <a:srgbClr val="1E7A4A"/>
                </a:solidFill>
                <a:latin typeface="Arial" pitchFamily="34" charset="0"/>
                <a:ea typeface="Arial" pitchFamily="34" charset="-122"/>
                <a:cs typeface="Arial" pitchFamily="34" charset="-120"/>
              </a:rPr>
              <a:t>Governed by business terms</a:t>
            </a:r>
            <a:endParaRPr lang="en-US" sz="1000" dirty="0"/>
          </a:p>
        </p:txBody>
      </p:sp>
      <p:sp>
        <p:nvSpPr>
          <p:cNvPr id="36" name="Shape 34"/>
          <p:cNvSpPr/>
          <p:nvPr/>
        </p:nvSpPr>
        <p:spPr>
          <a:xfrm>
            <a:off x="5897880" y="3849624"/>
            <a:ext cx="3017520" cy="393192"/>
          </a:xfrm>
          <a:prstGeom prst="rect">
            <a:avLst/>
          </a:prstGeom>
          <a:solidFill>
            <a:srgbClr val="FCF0EF"/>
          </a:solidFill>
          <a:ln w="3810">
            <a:solidFill>
              <a:srgbClr val="CCCCCC"/>
            </a:solidFill>
            <a:prstDash val="solid"/>
          </a:ln>
        </p:spPr>
        <p:txBody>
          <a:bodyPr/>
          <a:lstStyle/>
          <a:p>
            <a:endParaRPr lang="pl-PL"/>
          </a:p>
        </p:txBody>
      </p:sp>
      <p:sp>
        <p:nvSpPr>
          <p:cNvPr id="37" name="Text 35"/>
          <p:cNvSpPr/>
          <p:nvPr/>
        </p:nvSpPr>
        <p:spPr>
          <a:xfrm>
            <a:off x="5989320" y="3867912"/>
            <a:ext cx="2834640" cy="356616"/>
          </a:xfrm>
          <a:prstGeom prst="rect">
            <a:avLst/>
          </a:prstGeom>
          <a:noFill/>
          <a:ln/>
        </p:spPr>
        <p:txBody>
          <a:bodyPr wrap="square" lIns="0" tIns="0" rIns="0" bIns="0" rtlCol="0" anchor="ctr"/>
          <a:lstStyle/>
          <a:p>
            <a:pPr marL="0" indent="0">
              <a:buNone/>
            </a:pPr>
            <a:r>
              <a:rPr lang="en-US" sz="1000" dirty="0">
                <a:solidFill>
                  <a:srgbClr val="E23244"/>
                </a:solidFill>
                <a:latin typeface="Arial" pitchFamily="34" charset="0"/>
                <a:ea typeface="Arial" pitchFamily="34" charset="-122"/>
                <a:cs typeface="Arial" pitchFamily="34" charset="-120"/>
              </a:rPr>
              <a:t>Governed by consumer terms</a:t>
            </a:r>
            <a:endParaRPr lang="en-US" sz="1000" dirty="0"/>
          </a:p>
        </p:txBody>
      </p:sp>
      <p:sp>
        <p:nvSpPr>
          <p:cNvPr id="38" name="Shape 36"/>
          <p:cNvSpPr/>
          <p:nvPr/>
        </p:nvSpPr>
        <p:spPr>
          <a:xfrm>
            <a:off x="228600" y="4270248"/>
            <a:ext cx="2834640" cy="393192"/>
          </a:xfrm>
          <a:prstGeom prst="rect">
            <a:avLst/>
          </a:prstGeom>
          <a:solidFill>
            <a:srgbClr val="FFFFFF"/>
          </a:solidFill>
          <a:ln w="3810">
            <a:solidFill>
              <a:srgbClr val="CCCCCC"/>
            </a:solidFill>
            <a:prstDash val="solid"/>
          </a:ln>
        </p:spPr>
        <p:txBody>
          <a:bodyPr/>
          <a:lstStyle/>
          <a:p>
            <a:endParaRPr lang="pl-PL"/>
          </a:p>
        </p:txBody>
      </p:sp>
      <p:sp>
        <p:nvSpPr>
          <p:cNvPr id="39" name="Text 37"/>
          <p:cNvSpPr/>
          <p:nvPr/>
        </p:nvSpPr>
        <p:spPr>
          <a:xfrm>
            <a:off x="320040" y="4288536"/>
            <a:ext cx="2651760" cy="35661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Leak risk</a:t>
            </a:r>
            <a:endParaRPr lang="en-US" sz="1050" dirty="0"/>
          </a:p>
        </p:txBody>
      </p:sp>
      <p:sp>
        <p:nvSpPr>
          <p:cNvPr id="40" name="Shape 38"/>
          <p:cNvSpPr/>
          <p:nvPr/>
        </p:nvSpPr>
        <p:spPr>
          <a:xfrm>
            <a:off x="3108960" y="4270248"/>
            <a:ext cx="2743200" cy="393192"/>
          </a:xfrm>
          <a:prstGeom prst="rect">
            <a:avLst/>
          </a:prstGeom>
          <a:solidFill>
            <a:srgbClr val="D6F0E0"/>
          </a:solidFill>
          <a:ln w="3810">
            <a:solidFill>
              <a:srgbClr val="CCCCCC"/>
            </a:solidFill>
            <a:prstDash val="solid"/>
          </a:ln>
        </p:spPr>
        <p:txBody>
          <a:bodyPr/>
          <a:lstStyle/>
          <a:p>
            <a:endParaRPr lang="pl-PL"/>
          </a:p>
        </p:txBody>
      </p:sp>
      <p:sp>
        <p:nvSpPr>
          <p:cNvPr id="41" name="Text 39"/>
          <p:cNvSpPr/>
          <p:nvPr/>
        </p:nvSpPr>
        <p:spPr>
          <a:xfrm>
            <a:off x="3200400" y="4288536"/>
            <a:ext cx="2560320" cy="356616"/>
          </a:xfrm>
          <a:prstGeom prst="rect">
            <a:avLst/>
          </a:prstGeom>
          <a:noFill/>
          <a:ln/>
        </p:spPr>
        <p:txBody>
          <a:bodyPr wrap="square" lIns="0" tIns="0" rIns="0" bIns="0" rtlCol="0" anchor="ctr"/>
          <a:lstStyle/>
          <a:p>
            <a:pPr marL="0" indent="0">
              <a:buNone/>
            </a:pPr>
            <a:r>
              <a:rPr lang="en-US" sz="1000" dirty="0">
                <a:solidFill>
                  <a:srgbClr val="1E7A4A"/>
                </a:solidFill>
                <a:latin typeface="Arial" pitchFamily="34" charset="0"/>
                <a:ea typeface="Arial" pitchFamily="34" charset="-122"/>
                <a:cs typeface="Arial" pitchFamily="34" charset="-120"/>
              </a:rPr>
              <a:t>Low / controlled</a:t>
            </a:r>
            <a:endParaRPr lang="en-US" sz="1000" dirty="0"/>
          </a:p>
        </p:txBody>
      </p:sp>
      <p:sp>
        <p:nvSpPr>
          <p:cNvPr id="42" name="Shape 40"/>
          <p:cNvSpPr/>
          <p:nvPr/>
        </p:nvSpPr>
        <p:spPr>
          <a:xfrm>
            <a:off x="5897880" y="4270248"/>
            <a:ext cx="3017520" cy="393192"/>
          </a:xfrm>
          <a:prstGeom prst="rect">
            <a:avLst/>
          </a:prstGeom>
          <a:solidFill>
            <a:srgbClr val="FDEAEA"/>
          </a:solidFill>
          <a:ln w="3810">
            <a:solidFill>
              <a:srgbClr val="CCCCCC"/>
            </a:solidFill>
            <a:prstDash val="solid"/>
          </a:ln>
        </p:spPr>
        <p:txBody>
          <a:bodyPr/>
          <a:lstStyle/>
          <a:p>
            <a:endParaRPr lang="pl-PL"/>
          </a:p>
        </p:txBody>
      </p:sp>
      <p:sp>
        <p:nvSpPr>
          <p:cNvPr id="43" name="Text 41"/>
          <p:cNvSpPr/>
          <p:nvPr/>
        </p:nvSpPr>
        <p:spPr>
          <a:xfrm>
            <a:off x="5989320" y="4288536"/>
            <a:ext cx="2834640" cy="356616"/>
          </a:xfrm>
          <a:prstGeom prst="rect">
            <a:avLst/>
          </a:prstGeom>
          <a:noFill/>
          <a:ln/>
        </p:spPr>
        <p:txBody>
          <a:bodyPr wrap="square" lIns="0" tIns="0" rIns="0" bIns="0" rtlCol="0" anchor="ctr"/>
          <a:lstStyle/>
          <a:p>
            <a:pPr marL="0" indent="0">
              <a:buNone/>
            </a:pPr>
            <a:r>
              <a:rPr lang="en-US" sz="1000" dirty="0" err="1">
                <a:solidFill>
                  <a:srgbClr val="E23244"/>
                </a:solidFill>
                <a:latin typeface="Arial" pitchFamily="34" charset="0"/>
                <a:ea typeface="Arial" pitchFamily="34" charset="-122"/>
                <a:cs typeface="Arial" pitchFamily="34" charset="-120"/>
              </a:rPr>
              <a:t>Wysokie</a:t>
            </a:r>
            <a:r>
              <a:rPr lang="en-US" sz="1000" dirty="0">
                <a:solidFill>
                  <a:srgbClr val="E23244"/>
                </a:solidFill>
                <a:latin typeface="Arial" pitchFamily="34" charset="0"/>
                <a:ea typeface="Arial" pitchFamily="34" charset="-122"/>
                <a:cs typeface="Arial" pitchFamily="34" charset="-120"/>
              </a:rPr>
              <a:t xml:space="preserve"> </a:t>
            </a:r>
            <a:r>
              <a:rPr lang="pl-PL" sz="1000" dirty="0">
                <a:solidFill>
                  <a:srgbClr val="E23244"/>
                </a:solidFill>
                <a:latin typeface="Arial" pitchFamily="34" charset="0"/>
                <a:ea typeface="Arial" pitchFamily="34" charset="-122"/>
                <a:cs typeface="Arial" pitchFamily="34" charset="-120"/>
              </a:rPr>
              <a:t>-</a:t>
            </a:r>
            <a:r>
              <a:rPr lang="en-US" sz="1000" dirty="0">
                <a:solidFill>
                  <a:srgbClr val="E23244"/>
                </a:solidFill>
                <a:latin typeface="Arial" pitchFamily="34" charset="0"/>
                <a:ea typeface="Arial" pitchFamily="34" charset="-122"/>
                <a:cs typeface="Arial" pitchFamily="34" charset="-120"/>
              </a:rPr>
              <a:t xml:space="preserve"> data outside Content AI control</a:t>
            </a:r>
            <a:endParaRPr lang="en-US" sz="1000" dirty="0"/>
          </a:p>
        </p:txBody>
      </p:sp>
      <p:sp>
        <p:nvSpPr>
          <p:cNvPr id="44" name="Shape 42"/>
          <p:cNvSpPr/>
          <p:nvPr/>
        </p:nvSpPr>
        <p:spPr>
          <a:xfrm>
            <a:off x="0" y="4828032"/>
            <a:ext cx="9144000" cy="315468"/>
          </a:xfrm>
          <a:prstGeom prst="rect">
            <a:avLst/>
          </a:prstGeom>
          <a:solidFill>
            <a:srgbClr val="FEF3C7"/>
          </a:solidFill>
          <a:ln w="12700">
            <a:solidFill>
              <a:srgbClr val="FCD34D"/>
            </a:solidFill>
            <a:prstDash val="solid"/>
          </a:ln>
        </p:spPr>
        <p:txBody>
          <a:bodyPr/>
          <a:lstStyle/>
          <a:p>
            <a:endParaRPr lang="pl-PL"/>
          </a:p>
        </p:txBody>
      </p:sp>
      <p:sp>
        <p:nvSpPr>
          <p:cNvPr id="45" name="Text 43"/>
          <p:cNvSpPr/>
          <p:nvPr/>
        </p:nvSpPr>
        <p:spPr>
          <a:xfrm>
            <a:off x="274320" y="4846320"/>
            <a:ext cx="8595360" cy="274320"/>
          </a:xfrm>
          <a:prstGeom prst="rect">
            <a:avLst/>
          </a:prstGeom>
          <a:noFill/>
          <a:ln/>
        </p:spPr>
        <p:txBody>
          <a:bodyPr wrap="square" lIns="0" tIns="0" rIns="0" bIns="0" rtlCol="0" anchor="ctr"/>
          <a:lstStyle/>
          <a:p>
            <a:pPr marL="0" indent="0">
              <a:buNone/>
            </a:pPr>
            <a:r>
              <a:rPr lang="en-US" sz="1050" b="1" dirty="0">
                <a:solidFill>
                  <a:srgbClr val="B45309"/>
                </a:solidFill>
                <a:latin typeface="Arial" pitchFamily="34" charset="0"/>
                <a:ea typeface="Arial" pitchFamily="34" charset="-122"/>
                <a:cs typeface="Arial" pitchFamily="34" charset="-120"/>
              </a:rPr>
              <a:t>⚠  Shadow AI: employees using private claude.ai accounts for company work is a greater risk than deploying Content AI with a controlled API key.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916"/>
          </a:solidFill>
          <a:ln w="12700">
            <a:solidFill>
              <a:srgbClr val="1A1916"/>
            </a:solidFill>
            <a:prstDash val="solid"/>
          </a:ln>
        </p:spPr>
        <p:txBody>
          <a:bodyPr/>
          <a:lstStyle/>
          <a:p>
            <a:endParaRPr lang="pl-PL"/>
          </a:p>
        </p:txBody>
      </p:sp>
      <p:sp>
        <p:nvSpPr>
          <p:cNvPr id="3" name="Text 1"/>
          <p:cNvSpPr/>
          <p:nvPr/>
        </p:nvSpPr>
        <p:spPr>
          <a:xfrm>
            <a:off x="320040" y="73152"/>
            <a:ext cx="5486400" cy="420624"/>
          </a:xfrm>
          <a:prstGeom prst="rect">
            <a:avLst/>
          </a:prstGeom>
          <a:noFill/>
          <a:ln/>
        </p:spPr>
        <p:txBody>
          <a:bodyPr wrap="square" lIns="0" tIns="0" rIns="0" bIns="0" rtlCol="0" anchor="ctr"/>
          <a:lstStyle/>
          <a:p>
            <a:pPr marL="0" indent="0">
              <a:buNone/>
            </a:pPr>
            <a:r>
              <a:rPr lang="en-US" sz="1100" b="1" kern="0" spc="500" dirty="0">
                <a:solidFill>
                  <a:srgbClr val="F5A300"/>
                </a:solidFill>
                <a:latin typeface="Arial" pitchFamily="34" charset="0"/>
                <a:ea typeface="Arial" pitchFamily="34" charset="-122"/>
                <a:cs typeface="Arial" pitchFamily="34" charset="-120"/>
              </a:rPr>
              <a:t>GDPR AND COMPLIANCE</a:t>
            </a:r>
            <a:endParaRPr lang="en-US" sz="1100" dirty="0"/>
          </a:p>
        </p:txBody>
      </p:sp>
      <p:sp>
        <p:nvSpPr>
          <p:cNvPr id="4" name="Text 2"/>
          <p:cNvSpPr/>
          <p:nvPr/>
        </p:nvSpPr>
        <p:spPr>
          <a:xfrm>
            <a:off x="320040" y="749808"/>
            <a:ext cx="8503920" cy="502920"/>
          </a:xfrm>
          <a:prstGeom prst="rect">
            <a:avLst/>
          </a:prstGeom>
          <a:noFill/>
          <a:ln/>
        </p:spPr>
        <p:txBody>
          <a:bodyPr wrap="square" lIns="0" tIns="0" rIns="0" bIns="0" rtlCol="0" anchor="ctr"/>
          <a:lstStyle/>
          <a:p>
            <a:pPr marL="0" indent="0">
              <a:buNone/>
            </a:pPr>
            <a:r>
              <a:rPr lang="en-US" sz="2400" b="1" dirty="0">
                <a:solidFill>
                  <a:srgbClr val="1A1916"/>
                </a:solidFill>
                <a:latin typeface="Arial Black" pitchFamily="34" charset="0"/>
                <a:ea typeface="Arial Black" pitchFamily="34" charset="-122"/>
                <a:cs typeface="Arial Black" pitchFamily="34" charset="-120"/>
              </a:rPr>
              <a:t xml:space="preserve">Comparison with other </a:t>
            </a:r>
            <a:r>
              <a:rPr lang="pl-PL" sz="2400" b="1" dirty="0">
                <a:solidFill>
                  <a:srgbClr val="1A1916"/>
                </a:solidFill>
                <a:latin typeface="Arial Black" pitchFamily="34" charset="0"/>
                <a:ea typeface="Arial Black" pitchFamily="34" charset="-122"/>
                <a:cs typeface="Arial Black" pitchFamily="34" charset="-120"/>
              </a:rPr>
              <a:t xml:space="preserve">innymi </a:t>
            </a:r>
            <a:r>
              <a:rPr lang="en-US" sz="2400" b="1" dirty="0" err="1">
                <a:solidFill>
                  <a:srgbClr val="1A1916"/>
                </a:solidFill>
                <a:latin typeface="Arial Black" pitchFamily="34" charset="0"/>
                <a:ea typeface="Arial Black" pitchFamily="34" charset="-122"/>
                <a:cs typeface="Arial Black" pitchFamily="34" charset="-120"/>
              </a:rPr>
              <a:t>AI tools</a:t>
            </a:r>
            <a:r>
              <a:rPr lang="pl-PL" sz="2400" b="1" dirty="0">
                <a:solidFill>
                  <a:srgbClr val="1A1916"/>
                </a:solidFill>
                <a:latin typeface="Arial Black" pitchFamily="34" charset="0"/>
                <a:ea typeface="Arial Black" pitchFamily="34" charset="-122"/>
                <a:cs typeface="Arial Black" pitchFamily="34" charset="-120"/>
              </a:rPr>
              <a:t xml:space="preserve"> AI</a:t>
            </a:r>
            <a:endParaRPr lang="en-US" sz="2400" dirty="0"/>
          </a:p>
        </p:txBody>
      </p:sp>
      <p:sp>
        <p:nvSpPr>
          <p:cNvPr id="5" name="Shape 3"/>
          <p:cNvSpPr/>
          <p:nvPr/>
        </p:nvSpPr>
        <p:spPr>
          <a:xfrm>
            <a:off x="228600" y="1417320"/>
            <a:ext cx="2011680" cy="347472"/>
          </a:xfrm>
          <a:prstGeom prst="rect">
            <a:avLst/>
          </a:prstGeom>
          <a:solidFill>
            <a:srgbClr val="1A1916"/>
          </a:solidFill>
          <a:ln w="12700">
            <a:solidFill>
              <a:srgbClr val="1A1916"/>
            </a:solidFill>
            <a:prstDash val="solid"/>
          </a:ln>
        </p:spPr>
        <p:txBody>
          <a:bodyPr/>
          <a:lstStyle/>
          <a:p>
            <a:endParaRPr lang="pl-PL"/>
          </a:p>
        </p:txBody>
      </p:sp>
      <p:sp>
        <p:nvSpPr>
          <p:cNvPr id="6" name="Text 4"/>
          <p:cNvSpPr/>
          <p:nvPr/>
        </p:nvSpPr>
        <p:spPr>
          <a:xfrm>
            <a:off x="301752" y="1417320"/>
            <a:ext cx="1865376"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Criterion</a:t>
            </a:r>
            <a:endParaRPr lang="en-US" sz="1100" dirty="0"/>
          </a:p>
        </p:txBody>
      </p:sp>
      <p:sp>
        <p:nvSpPr>
          <p:cNvPr id="7" name="Shape 5"/>
          <p:cNvSpPr/>
          <p:nvPr/>
        </p:nvSpPr>
        <p:spPr>
          <a:xfrm>
            <a:off x="2286000" y="1417320"/>
            <a:ext cx="2103120" cy="347472"/>
          </a:xfrm>
          <a:prstGeom prst="rect">
            <a:avLst/>
          </a:prstGeom>
          <a:solidFill>
            <a:srgbClr val="1A1916"/>
          </a:solidFill>
          <a:ln w="12700">
            <a:solidFill>
              <a:srgbClr val="1A1916"/>
            </a:solidFill>
            <a:prstDash val="solid"/>
          </a:ln>
        </p:spPr>
        <p:txBody>
          <a:bodyPr/>
          <a:lstStyle/>
          <a:p>
            <a:endParaRPr lang="pl-PL"/>
          </a:p>
        </p:txBody>
      </p:sp>
      <p:sp>
        <p:nvSpPr>
          <p:cNvPr id="8" name="Text 6"/>
          <p:cNvSpPr/>
          <p:nvPr/>
        </p:nvSpPr>
        <p:spPr>
          <a:xfrm>
            <a:off x="2359152" y="1417320"/>
            <a:ext cx="1956816"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Content AI</a:t>
            </a:r>
            <a:endParaRPr lang="en-US" sz="1100" dirty="0"/>
          </a:p>
        </p:txBody>
      </p:sp>
      <p:sp>
        <p:nvSpPr>
          <p:cNvPr id="9" name="Shape 7"/>
          <p:cNvSpPr/>
          <p:nvPr/>
        </p:nvSpPr>
        <p:spPr>
          <a:xfrm>
            <a:off x="4434840" y="1417320"/>
            <a:ext cx="2103120" cy="347472"/>
          </a:xfrm>
          <a:prstGeom prst="rect">
            <a:avLst/>
          </a:prstGeom>
          <a:solidFill>
            <a:srgbClr val="1A1916"/>
          </a:solidFill>
          <a:ln w="12700">
            <a:solidFill>
              <a:srgbClr val="1A1916"/>
            </a:solidFill>
            <a:prstDash val="solid"/>
          </a:ln>
        </p:spPr>
        <p:txBody>
          <a:bodyPr/>
          <a:lstStyle/>
          <a:p>
            <a:endParaRPr lang="pl-PL"/>
          </a:p>
        </p:txBody>
      </p:sp>
      <p:sp>
        <p:nvSpPr>
          <p:cNvPr id="10" name="Text 8"/>
          <p:cNvSpPr/>
          <p:nvPr/>
        </p:nvSpPr>
        <p:spPr>
          <a:xfrm>
            <a:off x="4507992" y="1417320"/>
            <a:ext cx="1956816"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ChatGPT (business version)</a:t>
            </a:r>
            <a:endParaRPr lang="en-US" sz="1100" dirty="0"/>
          </a:p>
        </p:txBody>
      </p:sp>
      <p:sp>
        <p:nvSpPr>
          <p:cNvPr id="11" name="Shape 9"/>
          <p:cNvSpPr/>
          <p:nvPr/>
        </p:nvSpPr>
        <p:spPr>
          <a:xfrm>
            <a:off x="6583680" y="1417320"/>
            <a:ext cx="2331720" cy="347472"/>
          </a:xfrm>
          <a:prstGeom prst="rect">
            <a:avLst/>
          </a:prstGeom>
          <a:solidFill>
            <a:srgbClr val="1A1916"/>
          </a:solidFill>
          <a:ln w="12700">
            <a:solidFill>
              <a:srgbClr val="1A1916"/>
            </a:solidFill>
            <a:prstDash val="solid"/>
          </a:ln>
        </p:spPr>
        <p:txBody>
          <a:bodyPr/>
          <a:lstStyle/>
          <a:p>
            <a:endParaRPr lang="pl-PL"/>
          </a:p>
        </p:txBody>
      </p:sp>
      <p:sp>
        <p:nvSpPr>
          <p:cNvPr id="12" name="Text 10"/>
          <p:cNvSpPr/>
          <p:nvPr/>
        </p:nvSpPr>
        <p:spPr>
          <a:xfrm>
            <a:off x="6656832" y="1417320"/>
            <a:ext cx="2185416"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Microsoft Copilot</a:t>
            </a:r>
            <a:endParaRPr lang="en-US" sz="1100" dirty="0"/>
          </a:p>
        </p:txBody>
      </p:sp>
      <p:sp>
        <p:nvSpPr>
          <p:cNvPr id="13" name="Shape 11"/>
          <p:cNvSpPr/>
          <p:nvPr/>
        </p:nvSpPr>
        <p:spPr>
          <a:xfrm>
            <a:off x="228600" y="1783080"/>
            <a:ext cx="2011680" cy="402336"/>
          </a:xfrm>
          <a:prstGeom prst="rect">
            <a:avLst/>
          </a:prstGeom>
          <a:solidFill>
            <a:srgbClr val="FFFFFF"/>
          </a:solidFill>
          <a:ln w="3810">
            <a:solidFill>
              <a:srgbClr val="CCCCCC"/>
            </a:solidFill>
            <a:prstDash val="solid"/>
          </a:ln>
        </p:spPr>
        <p:txBody>
          <a:bodyPr/>
          <a:lstStyle/>
          <a:p>
            <a:endParaRPr lang="pl-PL"/>
          </a:p>
        </p:txBody>
      </p:sp>
      <p:sp>
        <p:nvSpPr>
          <p:cNvPr id="14" name="Text 12"/>
          <p:cNvSpPr/>
          <p:nvPr/>
        </p:nvSpPr>
        <p:spPr>
          <a:xfrm>
            <a:off x="301752" y="1801368"/>
            <a:ext cx="1865376" cy="365760"/>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Data for training</a:t>
            </a:r>
            <a:endParaRPr lang="en-US" sz="1050" dirty="0"/>
          </a:p>
        </p:txBody>
      </p:sp>
      <p:sp>
        <p:nvSpPr>
          <p:cNvPr id="15" name="Shape 13"/>
          <p:cNvSpPr/>
          <p:nvPr/>
        </p:nvSpPr>
        <p:spPr>
          <a:xfrm>
            <a:off x="2286000" y="1783080"/>
            <a:ext cx="2103120" cy="402336"/>
          </a:xfrm>
          <a:prstGeom prst="rect">
            <a:avLst/>
          </a:prstGeom>
          <a:solidFill>
            <a:srgbClr val="DBEAFE"/>
          </a:solidFill>
          <a:ln w="3810">
            <a:solidFill>
              <a:srgbClr val="CCCCCC"/>
            </a:solidFill>
            <a:prstDash val="solid"/>
          </a:ln>
        </p:spPr>
        <p:txBody>
          <a:bodyPr/>
          <a:lstStyle/>
          <a:p>
            <a:endParaRPr lang="pl-PL"/>
          </a:p>
        </p:txBody>
      </p:sp>
      <p:sp>
        <p:nvSpPr>
          <p:cNvPr id="16" name="Text 14"/>
          <p:cNvSpPr/>
          <p:nvPr/>
        </p:nvSpPr>
        <p:spPr>
          <a:xfrm>
            <a:off x="2359152" y="1801368"/>
            <a:ext cx="1956816" cy="365760"/>
          </a:xfrm>
          <a:prstGeom prst="rect">
            <a:avLst/>
          </a:prstGeom>
          <a:noFill/>
          <a:ln/>
        </p:spPr>
        <p:txBody>
          <a:bodyPr wrap="square" lIns="0" tIns="0" rIns="0" bIns="0" rtlCol="0" anchor="ctr"/>
          <a:lstStyle/>
          <a:p>
            <a:pPr marL="0" indent="0">
              <a:buNone/>
            </a:pPr>
            <a:r>
              <a:rPr lang="en-US" sz="1000" dirty="0">
                <a:solidFill>
                  <a:srgbClr val="1E4D8C"/>
                </a:solidFill>
                <a:latin typeface="Arial" pitchFamily="34" charset="0"/>
                <a:ea typeface="Arial" pitchFamily="34" charset="-122"/>
                <a:cs typeface="Arial" pitchFamily="34" charset="-120"/>
              </a:rPr>
              <a:t>NO (API)</a:t>
            </a:r>
            <a:endParaRPr lang="en-US" sz="1000" dirty="0"/>
          </a:p>
        </p:txBody>
      </p:sp>
      <p:sp>
        <p:nvSpPr>
          <p:cNvPr id="17" name="Shape 15"/>
          <p:cNvSpPr/>
          <p:nvPr/>
        </p:nvSpPr>
        <p:spPr>
          <a:xfrm>
            <a:off x="4434840" y="1783080"/>
            <a:ext cx="2103120" cy="402336"/>
          </a:xfrm>
          <a:prstGeom prst="rect">
            <a:avLst/>
          </a:prstGeom>
          <a:solidFill>
            <a:srgbClr val="FFFFFF"/>
          </a:solidFill>
          <a:ln w="3810">
            <a:solidFill>
              <a:srgbClr val="CCCCCC"/>
            </a:solidFill>
            <a:prstDash val="solid"/>
          </a:ln>
        </p:spPr>
        <p:txBody>
          <a:bodyPr/>
          <a:lstStyle/>
          <a:p>
            <a:endParaRPr lang="pl-PL"/>
          </a:p>
        </p:txBody>
      </p:sp>
      <p:sp>
        <p:nvSpPr>
          <p:cNvPr id="18" name="Text 16"/>
          <p:cNvSpPr/>
          <p:nvPr/>
        </p:nvSpPr>
        <p:spPr>
          <a:xfrm>
            <a:off x="4507992" y="1801368"/>
            <a:ext cx="19568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NO (Enterprise)</a:t>
            </a:r>
            <a:endParaRPr lang="en-US" sz="1000" dirty="0"/>
          </a:p>
        </p:txBody>
      </p:sp>
      <p:sp>
        <p:nvSpPr>
          <p:cNvPr id="19" name="Shape 17"/>
          <p:cNvSpPr/>
          <p:nvPr/>
        </p:nvSpPr>
        <p:spPr>
          <a:xfrm>
            <a:off x="6583680" y="1783080"/>
            <a:ext cx="2331720" cy="402336"/>
          </a:xfrm>
          <a:prstGeom prst="rect">
            <a:avLst/>
          </a:prstGeom>
          <a:solidFill>
            <a:srgbClr val="FFFFFF"/>
          </a:solidFill>
          <a:ln w="3810">
            <a:solidFill>
              <a:srgbClr val="CCCCCC"/>
            </a:solidFill>
            <a:prstDash val="solid"/>
          </a:ln>
        </p:spPr>
        <p:txBody>
          <a:bodyPr/>
          <a:lstStyle/>
          <a:p>
            <a:endParaRPr lang="pl-PL"/>
          </a:p>
        </p:txBody>
      </p:sp>
      <p:sp>
        <p:nvSpPr>
          <p:cNvPr id="20" name="Text 18"/>
          <p:cNvSpPr/>
          <p:nvPr/>
        </p:nvSpPr>
        <p:spPr>
          <a:xfrm>
            <a:off x="6656832" y="1801368"/>
            <a:ext cx="21854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NO (Enterprise)</a:t>
            </a:r>
            <a:endParaRPr lang="en-US" sz="1000" dirty="0"/>
          </a:p>
        </p:txBody>
      </p:sp>
      <p:sp>
        <p:nvSpPr>
          <p:cNvPr id="21" name="Shape 19"/>
          <p:cNvSpPr/>
          <p:nvPr/>
        </p:nvSpPr>
        <p:spPr>
          <a:xfrm>
            <a:off x="228600" y="2212848"/>
            <a:ext cx="2011680" cy="402336"/>
          </a:xfrm>
          <a:prstGeom prst="rect">
            <a:avLst/>
          </a:prstGeom>
          <a:solidFill>
            <a:srgbClr val="F0F0F0"/>
          </a:solidFill>
          <a:ln w="3810">
            <a:solidFill>
              <a:srgbClr val="CCCCCC"/>
            </a:solidFill>
            <a:prstDash val="solid"/>
          </a:ln>
        </p:spPr>
        <p:txBody>
          <a:bodyPr/>
          <a:lstStyle/>
          <a:p>
            <a:endParaRPr lang="pl-PL"/>
          </a:p>
        </p:txBody>
      </p:sp>
      <p:sp>
        <p:nvSpPr>
          <p:cNvPr id="22" name="Text 20"/>
          <p:cNvSpPr/>
          <p:nvPr/>
        </p:nvSpPr>
        <p:spPr>
          <a:xfrm>
            <a:off x="301752" y="2231136"/>
            <a:ext cx="1865376" cy="365760"/>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Transmission encryption</a:t>
            </a:r>
            <a:endParaRPr lang="en-US" sz="1050" dirty="0"/>
          </a:p>
        </p:txBody>
      </p:sp>
      <p:sp>
        <p:nvSpPr>
          <p:cNvPr id="23" name="Shape 21"/>
          <p:cNvSpPr/>
          <p:nvPr/>
        </p:nvSpPr>
        <p:spPr>
          <a:xfrm>
            <a:off x="2286000" y="2212848"/>
            <a:ext cx="2103120" cy="402336"/>
          </a:xfrm>
          <a:prstGeom prst="rect">
            <a:avLst/>
          </a:prstGeom>
          <a:solidFill>
            <a:srgbClr val="DBEAFE"/>
          </a:solidFill>
          <a:ln w="3810">
            <a:solidFill>
              <a:srgbClr val="CCCCCC"/>
            </a:solidFill>
            <a:prstDash val="solid"/>
          </a:ln>
        </p:spPr>
        <p:txBody>
          <a:bodyPr/>
          <a:lstStyle/>
          <a:p>
            <a:endParaRPr lang="pl-PL"/>
          </a:p>
        </p:txBody>
      </p:sp>
      <p:sp>
        <p:nvSpPr>
          <p:cNvPr id="24" name="Text 22"/>
          <p:cNvSpPr/>
          <p:nvPr/>
        </p:nvSpPr>
        <p:spPr>
          <a:xfrm>
            <a:off x="2359152" y="2231136"/>
            <a:ext cx="1956816" cy="365760"/>
          </a:xfrm>
          <a:prstGeom prst="rect">
            <a:avLst/>
          </a:prstGeom>
          <a:noFill/>
          <a:ln/>
        </p:spPr>
        <p:txBody>
          <a:bodyPr wrap="square" lIns="0" tIns="0" rIns="0" bIns="0" rtlCol="0" anchor="ctr"/>
          <a:lstStyle/>
          <a:p>
            <a:pPr marL="0" indent="0">
              <a:buNone/>
            </a:pPr>
            <a:r>
              <a:rPr lang="en-US" sz="1000" dirty="0">
                <a:solidFill>
                  <a:srgbClr val="1E4D8C"/>
                </a:solidFill>
                <a:latin typeface="Arial" pitchFamily="34" charset="0"/>
                <a:ea typeface="Arial" pitchFamily="34" charset="-122"/>
                <a:cs typeface="Arial" pitchFamily="34" charset="-120"/>
              </a:rPr>
              <a:t>TLS 1.3</a:t>
            </a:r>
            <a:endParaRPr lang="en-US" sz="1000" dirty="0"/>
          </a:p>
        </p:txBody>
      </p:sp>
      <p:sp>
        <p:nvSpPr>
          <p:cNvPr id="25" name="Shape 23"/>
          <p:cNvSpPr/>
          <p:nvPr/>
        </p:nvSpPr>
        <p:spPr>
          <a:xfrm>
            <a:off x="4434840" y="2212848"/>
            <a:ext cx="2103120" cy="402336"/>
          </a:xfrm>
          <a:prstGeom prst="rect">
            <a:avLst/>
          </a:prstGeom>
          <a:solidFill>
            <a:srgbClr val="F0F0F0"/>
          </a:solidFill>
          <a:ln w="3810">
            <a:solidFill>
              <a:srgbClr val="CCCCCC"/>
            </a:solidFill>
            <a:prstDash val="solid"/>
          </a:ln>
        </p:spPr>
        <p:txBody>
          <a:bodyPr/>
          <a:lstStyle/>
          <a:p>
            <a:endParaRPr lang="pl-PL"/>
          </a:p>
        </p:txBody>
      </p:sp>
      <p:sp>
        <p:nvSpPr>
          <p:cNvPr id="26" name="Text 24"/>
          <p:cNvSpPr/>
          <p:nvPr/>
        </p:nvSpPr>
        <p:spPr>
          <a:xfrm>
            <a:off x="4507992" y="2231136"/>
            <a:ext cx="19568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TLS 1.3</a:t>
            </a:r>
            <a:endParaRPr lang="en-US" sz="1000" dirty="0"/>
          </a:p>
        </p:txBody>
      </p:sp>
      <p:sp>
        <p:nvSpPr>
          <p:cNvPr id="27" name="Shape 25"/>
          <p:cNvSpPr/>
          <p:nvPr/>
        </p:nvSpPr>
        <p:spPr>
          <a:xfrm>
            <a:off x="6583680" y="2212848"/>
            <a:ext cx="2331720" cy="402336"/>
          </a:xfrm>
          <a:prstGeom prst="rect">
            <a:avLst/>
          </a:prstGeom>
          <a:solidFill>
            <a:srgbClr val="F0F0F0"/>
          </a:solidFill>
          <a:ln w="3810">
            <a:solidFill>
              <a:srgbClr val="CCCCCC"/>
            </a:solidFill>
            <a:prstDash val="solid"/>
          </a:ln>
        </p:spPr>
        <p:txBody>
          <a:bodyPr/>
          <a:lstStyle/>
          <a:p>
            <a:endParaRPr lang="pl-PL"/>
          </a:p>
        </p:txBody>
      </p:sp>
      <p:sp>
        <p:nvSpPr>
          <p:cNvPr id="28" name="Text 26"/>
          <p:cNvSpPr/>
          <p:nvPr/>
        </p:nvSpPr>
        <p:spPr>
          <a:xfrm>
            <a:off x="6656832" y="2231136"/>
            <a:ext cx="21854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TLS 1.3</a:t>
            </a:r>
            <a:endParaRPr lang="en-US" sz="1000" dirty="0"/>
          </a:p>
        </p:txBody>
      </p:sp>
      <p:sp>
        <p:nvSpPr>
          <p:cNvPr id="29" name="Shape 27"/>
          <p:cNvSpPr/>
          <p:nvPr/>
        </p:nvSpPr>
        <p:spPr>
          <a:xfrm>
            <a:off x="228600" y="2642616"/>
            <a:ext cx="2011680" cy="402336"/>
          </a:xfrm>
          <a:prstGeom prst="rect">
            <a:avLst/>
          </a:prstGeom>
          <a:solidFill>
            <a:srgbClr val="FFFFFF"/>
          </a:solidFill>
          <a:ln w="3810">
            <a:solidFill>
              <a:srgbClr val="CCCCCC"/>
            </a:solidFill>
            <a:prstDash val="solid"/>
          </a:ln>
        </p:spPr>
        <p:txBody>
          <a:bodyPr/>
          <a:lstStyle/>
          <a:p>
            <a:endParaRPr lang="pl-PL"/>
          </a:p>
        </p:txBody>
      </p:sp>
      <p:sp>
        <p:nvSpPr>
          <p:cNvPr id="30" name="Text 28"/>
          <p:cNvSpPr/>
          <p:nvPr/>
        </p:nvSpPr>
        <p:spPr>
          <a:xfrm>
            <a:off x="301752" y="2660904"/>
            <a:ext cx="1865376" cy="365760"/>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Data storage</a:t>
            </a:r>
            <a:endParaRPr lang="en-US" sz="1050" dirty="0"/>
          </a:p>
        </p:txBody>
      </p:sp>
      <p:sp>
        <p:nvSpPr>
          <p:cNvPr id="31" name="Shape 29"/>
          <p:cNvSpPr/>
          <p:nvPr/>
        </p:nvSpPr>
        <p:spPr>
          <a:xfrm>
            <a:off x="2286000" y="2642616"/>
            <a:ext cx="2103120" cy="402336"/>
          </a:xfrm>
          <a:prstGeom prst="rect">
            <a:avLst/>
          </a:prstGeom>
          <a:solidFill>
            <a:srgbClr val="DBEAFE"/>
          </a:solidFill>
          <a:ln w="3810">
            <a:solidFill>
              <a:srgbClr val="CCCCCC"/>
            </a:solidFill>
            <a:prstDash val="solid"/>
          </a:ln>
        </p:spPr>
        <p:txBody>
          <a:bodyPr/>
          <a:lstStyle/>
          <a:p>
            <a:endParaRPr lang="pl-PL"/>
          </a:p>
        </p:txBody>
      </p:sp>
      <p:sp>
        <p:nvSpPr>
          <p:cNvPr id="32" name="Text 30"/>
          <p:cNvSpPr/>
          <p:nvPr/>
        </p:nvSpPr>
        <p:spPr>
          <a:xfrm>
            <a:off x="2359152" y="2660904"/>
            <a:ext cx="1956816" cy="365760"/>
          </a:xfrm>
          <a:prstGeom prst="rect">
            <a:avLst/>
          </a:prstGeom>
          <a:noFill/>
          <a:ln/>
        </p:spPr>
        <p:txBody>
          <a:bodyPr wrap="square" lIns="0" tIns="0" rIns="0" bIns="0" rtlCol="0" anchor="ctr"/>
          <a:lstStyle/>
          <a:p>
            <a:pPr marL="0" indent="0">
              <a:buNone/>
            </a:pPr>
            <a:r>
              <a:rPr lang="en-US" sz="1000" dirty="0">
                <a:solidFill>
                  <a:srgbClr val="1E4D8C"/>
                </a:solidFill>
                <a:latin typeface="Arial" pitchFamily="34" charset="0"/>
                <a:ea typeface="Arial" pitchFamily="34" charset="-122"/>
                <a:cs typeface="Arial" pitchFamily="34" charset="-120"/>
              </a:rPr>
              <a:t>Locally in the browser</a:t>
            </a:r>
            <a:endParaRPr lang="en-US" sz="1000" dirty="0"/>
          </a:p>
        </p:txBody>
      </p:sp>
      <p:sp>
        <p:nvSpPr>
          <p:cNvPr id="33" name="Shape 31"/>
          <p:cNvSpPr/>
          <p:nvPr/>
        </p:nvSpPr>
        <p:spPr>
          <a:xfrm>
            <a:off x="4434840" y="2642616"/>
            <a:ext cx="2103120" cy="402336"/>
          </a:xfrm>
          <a:prstGeom prst="rect">
            <a:avLst/>
          </a:prstGeom>
          <a:solidFill>
            <a:srgbClr val="FFFFFF"/>
          </a:solidFill>
          <a:ln w="3810">
            <a:solidFill>
              <a:srgbClr val="CCCCCC"/>
            </a:solidFill>
            <a:prstDash val="solid"/>
          </a:ln>
        </p:spPr>
        <p:txBody>
          <a:bodyPr/>
          <a:lstStyle/>
          <a:p>
            <a:endParaRPr lang="pl-PL"/>
          </a:p>
        </p:txBody>
      </p:sp>
      <p:sp>
        <p:nvSpPr>
          <p:cNvPr id="34" name="Text 32"/>
          <p:cNvSpPr/>
          <p:nvPr/>
        </p:nvSpPr>
        <p:spPr>
          <a:xfrm>
            <a:off x="4507992" y="2660904"/>
            <a:ext cx="19568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OpenAI servers (USA)</a:t>
            </a:r>
            <a:endParaRPr lang="en-US" sz="1000" dirty="0"/>
          </a:p>
        </p:txBody>
      </p:sp>
      <p:sp>
        <p:nvSpPr>
          <p:cNvPr id="35" name="Shape 33"/>
          <p:cNvSpPr/>
          <p:nvPr/>
        </p:nvSpPr>
        <p:spPr>
          <a:xfrm>
            <a:off x="6583680" y="2642616"/>
            <a:ext cx="2331720" cy="402336"/>
          </a:xfrm>
          <a:prstGeom prst="rect">
            <a:avLst/>
          </a:prstGeom>
          <a:solidFill>
            <a:srgbClr val="FFFFFF"/>
          </a:solidFill>
          <a:ln w="3810">
            <a:solidFill>
              <a:srgbClr val="CCCCCC"/>
            </a:solidFill>
            <a:prstDash val="solid"/>
          </a:ln>
        </p:spPr>
        <p:txBody>
          <a:bodyPr/>
          <a:lstStyle/>
          <a:p>
            <a:endParaRPr lang="pl-PL"/>
          </a:p>
        </p:txBody>
      </p:sp>
      <p:sp>
        <p:nvSpPr>
          <p:cNvPr id="36" name="Text 34"/>
          <p:cNvSpPr/>
          <p:nvPr/>
        </p:nvSpPr>
        <p:spPr>
          <a:xfrm>
            <a:off x="6656832" y="2660904"/>
            <a:ext cx="21854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MS servers (EU/USA)</a:t>
            </a:r>
            <a:endParaRPr lang="en-US" sz="1000" dirty="0"/>
          </a:p>
        </p:txBody>
      </p:sp>
      <p:sp>
        <p:nvSpPr>
          <p:cNvPr id="37" name="Shape 35"/>
          <p:cNvSpPr/>
          <p:nvPr/>
        </p:nvSpPr>
        <p:spPr>
          <a:xfrm>
            <a:off x="228600" y="3072384"/>
            <a:ext cx="2011680" cy="402336"/>
          </a:xfrm>
          <a:prstGeom prst="rect">
            <a:avLst/>
          </a:prstGeom>
          <a:solidFill>
            <a:srgbClr val="F0F0F0"/>
          </a:solidFill>
          <a:ln w="3810">
            <a:solidFill>
              <a:srgbClr val="CCCCCC"/>
            </a:solidFill>
            <a:prstDash val="solid"/>
          </a:ln>
        </p:spPr>
        <p:txBody>
          <a:bodyPr/>
          <a:lstStyle/>
          <a:p>
            <a:endParaRPr lang="pl-PL"/>
          </a:p>
        </p:txBody>
      </p:sp>
      <p:sp>
        <p:nvSpPr>
          <p:cNvPr id="38" name="Text 36"/>
          <p:cNvSpPr/>
          <p:nvPr/>
        </p:nvSpPr>
        <p:spPr>
          <a:xfrm>
            <a:off x="301752" y="3090672"/>
            <a:ext cx="1865376" cy="365760"/>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Personal data in content</a:t>
            </a:r>
            <a:endParaRPr lang="en-US" sz="1050" dirty="0"/>
          </a:p>
        </p:txBody>
      </p:sp>
      <p:sp>
        <p:nvSpPr>
          <p:cNvPr id="39" name="Shape 37"/>
          <p:cNvSpPr/>
          <p:nvPr/>
        </p:nvSpPr>
        <p:spPr>
          <a:xfrm>
            <a:off x="2286000" y="3072384"/>
            <a:ext cx="2103120" cy="402336"/>
          </a:xfrm>
          <a:prstGeom prst="rect">
            <a:avLst/>
          </a:prstGeom>
          <a:solidFill>
            <a:srgbClr val="DBEAFE"/>
          </a:solidFill>
          <a:ln w="3810">
            <a:solidFill>
              <a:srgbClr val="CCCCCC"/>
            </a:solidFill>
            <a:prstDash val="solid"/>
          </a:ln>
        </p:spPr>
        <p:txBody>
          <a:bodyPr/>
          <a:lstStyle/>
          <a:p>
            <a:endParaRPr lang="pl-PL"/>
          </a:p>
        </p:txBody>
      </p:sp>
      <p:sp>
        <p:nvSpPr>
          <p:cNvPr id="40" name="Text 38"/>
          <p:cNvSpPr/>
          <p:nvPr/>
        </p:nvSpPr>
        <p:spPr>
          <a:xfrm>
            <a:off x="2359152" y="3090672"/>
            <a:ext cx="1956816" cy="365760"/>
          </a:xfrm>
          <a:prstGeom prst="rect">
            <a:avLst/>
          </a:prstGeom>
          <a:noFill/>
          <a:ln/>
        </p:spPr>
        <p:txBody>
          <a:bodyPr wrap="square" lIns="0" tIns="0" rIns="0" bIns="0" rtlCol="0" anchor="ctr"/>
          <a:lstStyle/>
          <a:p>
            <a:pPr marL="0" indent="0">
              <a:buNone/>
            </a:pPr>
            <a:r>
              <a:rPr lang="en-US" sz="1000" dirty="0">
                <a:solidFill>
                  <a:srgbClr val="1E4D8C"/>
                </a:solidFill>
                <a:latin typeface="Arial" pitchFamily="34" charset="0"/>
                <a:ea typeface="Arial" pitchFamily="34" charset="-122"/>
                <a:cs typeface="Arial" pitchFamily="34" charset="-120"/>
              </a:rPr>
              <a:t>Not applicable*</a:t>
            </a:r>
            <a:endParaRPr lang="en-US" sz="1000" dirty="0"/>
          </a:p>
        </p:txBody>
      </p:sp>
      <p:sp>
        <p:nvSpPr>
          <p:cNvPr id="41" name="Shape 39"/>
          <p:cNvSpPr/>
          <p:nvPr/>
        </p:nvSpPr>
        <p:spPr>
          <a:xfrm>
            <a:off x="4434840" y="3072384"/>
            <a:ext cx="2103120" cy="402336"/>
          </a:xfrm>
          <a:prstGeom prst="rect">
            <a:avLst/>
          </a:prstGeom>
          <a:solidFill>
            <a:srgbClr val="F0F0F0"/>
          </a:solidFill>
          <a:ln w="3810">
            <a:solidFill>
              <a:srgbClr val="CCCCCC"/>
            </a:solidFill>
            <a:prstDash val="solid"/>
          </a:ln>
        </p:spPr>
        <p:txBody>
          <a:bodyPr/>
          <a:lstStyle/>
          <a:p>
            <a:endParaRPr lang="pl-PL"/>
          </a:p>
        </p:txBody>
      </p:sp>
      <p:sp>
        <p:nvSpPr>
          <p:cNvPr id="42" name="Text 40"/>
          <p:cNvSpPr/>
          <p:nvPr/>
        </p:nvSpPr>
        <p:spPr>
          <a:xfrm>
            <a:off x="4507992" y="3090672"/>
            <a:ext cx="19568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Risk depends on use</a:t>
            </a:r>
            <a:endParaRPr lang="en-US" sz="1000" dirty="0"/>
          </a:p>
        </p:txBody>
      </p:sp>
      <p:sp>
        <p:nvSpPr>
          <p:cNvPr id="43" name="Shape 41"/>
          <p:cNvSpPr/>
          <p:nvPr/>
        </p:nvSpPr>
        <p:spPr>
          <a:xfrm>
            <a:off x="6583680" y="3072384"/>
            <a:ext cx="2331720" cy="402336"/>
          </a:xfrm>
          <a:prstGeom prst="rect">
            <a:avLst/>
          </a:prstGeom>
          <a:solidFill>
            <a:srgbClr val="F0F0F0"/>
          </a:solidFill>
          <a:ln w="3810">
            <a:solidFill>
              <a:srgbClr val="CCCCCC"/>
            </a:solidFill>
            <a:prstDash val="solid"/>
          </a:ln>
        </p:spPr>
        <p:txBody>
          <a:bodyPr/>
          <a:lstStyle/>
          <a:p>
            <a:endParaRPr lang="pl-PL"/>
          </a:p>
        </p:txBody>
      </p:sp>
      <p:sp>
        <p:nvSpPr>
          <p:cNvPr id="44" name="Text 42"/>
          <p:cNvSpPr/>
          <p:nvPr/>
        </p:nvSpPr>
        <p:spPr>
          <a:xfrm>
            <a:off x="6656832" y="3090672"/>
            <a:ext cx="21854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Risk depends on use</a:t>
            </a:r>
            <a:endParaRPr lang="en-US" sz="1000" dirty="0"/>
          </a:p>
        </p:txBody>
      </p:sp>
      <p:sp>
        <p:nvSpPr>
          <p:cNvPr id="45" name="Shape 43"/>
          <p:cNvSpPr/>
          <p:nvPr/>
        </p:nvSpPr>
        <p:spPr>
          <a:xfrm>
            <a:off x="228600" y="3502152"/>
            <a:ext cx="2011680" cy="402336"/>
          </a:xfrm>
          <a:prstGeom prst="rect">
            <a:avLst/>
          </a:prstGeom>
          <a:solidFill>
            <a:srgbClr val="FFFFFF"/>
          </a:solidFill>
          <a:ln w="3810">
            <a:solidFill>
              <a:srgbClr val="CCCCCC"/>
            </a:solidFill>
            <a:prstDash val="solid"/>
          </a:ln>
        </p:spPr>
        <p:txBody>
          <a:bodyPr/>
          <a:lstStyle/>
          <a:p>
            <a:endParaRPr lang="pl-PL"/>
          </a:p>
        </p:txBody>
      </p:sp>
      <p:sp>
        <p:nvSpPr>
          <p:cNvPr id="46" name="Text 44"/>
          <p:cNvSpPr/>
          <p:nvPr/>
        </p:nvSpPr>
        <p:spPr>
          <a:xfrm>
            <a:off x="301752" y="3520440"/>
            <a:ext cx="1865376" cy="365760"/>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Access control</a:t>
            </a:r>
            <a:endParaRPr lang="en-US" sz="1050" dirty="0"/>
          </a:p>
        </p:txBody>
      </p:sp>
      <p:sp>
        <p:nvSpPr>
          <p:cNvPr id="47" name="Shape 45"/>
          <p:cNvSpPr/>
          <p:nvPr/>
        </p:nvSpPr>
        <p:spPr>
          <a:xfrm>
            <a:off x="2286000" y="3502152"/>
            <a:ext cx="2103120" cy="402336"/>
          </a:xfrm>
          <a:prstGeom prst="rect">
            <a:avLst/>
          </a:prstGeom>
          <a:solidFill>
            <a:srgbClr val="DBEAFE"/>
          </a:solidFill>
          <a:ln w="3810">
            <a:solidFill>
              <a:srgbClr val="CCCCCC"/>
            </a:solidFill>
            <a:prstDash val="solid"/>
          </a:ln>
        </p:spPr>
        <p:txBody>
          <a:bodyPr/>
          <a:lstStyle/>
          <a:p>
            <a:endParaRPr lang="pl-PL"/>
          </a:p>
        </p:txBody>
      </p:sp>
      <p:sp>
        <p:nvSpPr>
          <p:cNvPr id="48" name="Text 46"/>
          <p:cNvSpPr/>
          <p:nvPr/>
        </p:nvSpPr>
        <p:spPr>
          <a:xfrm>
            <a:off x="2359152" y="3520440"/>
            <a:ext cx="1956816" cy="365760"/>
          </a:xfrm>
          <a:prstGeom prst="rect">
            <a:avLst/>
          </a:prstGeom>
          <a:noFill/>
          <a:ln/>
        </p:spPr>
        <p:txBody>
          <a:bodyPr wrap="square" lIns="0" tIns="0" rIns="0" bIns="0" rtlCol="0" anchor="ctr"/>
          <a:lstStyle/>
          <a:p>
            <a:pPr marL="0" indent="0">
              <a:buNone/>
            </a:pPr>
            <a:r>
              <a:rPr lang="en-US" sz="1000" dirty="0">
                <a:solidFill>
                  <a:srgbClr val="1E4D8C"/>
                </a:solidFill>
                <a:latin typeface="Arial" pitchFamily="34" charset="0"/>
                <a:ea typeface="Arial" pitchFamily="34" charset="-122"/>
                <a:cs typeface="Arial" pitchFamily="34" charset="-120"/>
              </a:rPr>
              <a:t>File + API key</a:t>
            </a:r>
            <a:endParaRPr lang="en-US" sz="1000" dirty="0"/>
          </a:p>
        </p:txBody>
      </p:sp>
      <p:sp>
        <p:nvSpPr>
          <p:cNvPr id="49" name="Shape 47"/>
          <p:cNvSpPr/>
          <p:nvPr/>
        </p:nvSpPr>
        <p:spPr>
          <a:xfrm>
            <a:off x="4434840" y="3502152"/>
            <a:ext cx="2103120" cy="402336"/>
          </a:xfrm>
          <a:prstGeom prst="rect">
            <a:avLst/>
          </a:prstGeom>
          <a:solidFill>
            <a:srgbClr val="FFFFFF"/>
          </a:solidFill>
          <a:ln w="3810">
            <a:solidFill>
              <a:srgbClr val="CCCCCC"/>
            </a:solidFill>
            <a:prstDash val="solid"/>
          </a:ln>
        </p:spPr>
        <p:txBody>
          <a:bodyPr/>
          <a:lstStyle/>
          <a:p>
            <a:endParaRPr lang="pl-PL"/>
          </a:p>
        </p:txBody>
      </p:sp>
      <p:sp>
        <p:nvSpPr>
          <p:cNvPr id="50" name="Text 48"/>
          <p:cNvSpPr/>
          <p:nvPr/>
        </p:nvSpPr>
        <p:spPr>
          <a:xfrm>
            <a:off x="4507992" y="3520440"/>
            <a:ext cx="19568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Company login</a:t>
            </a:r>
            <a:endParaRPr lang="en-US" sz="1000" dirty="0"/>
          </a:p>
        </p:txBody>
      </p:sp>
      <p:sp>
        <p:nvSpPr>
          <p:cNvPr id="51" name="Shape 49"/>
          <p:cNvSpPr/>
          <p:nvPr/>
        </p:nvSpPr>
        <p:spPr>
          <a:xfrm>
            <a:off x="6583680" y="3502152"/>
            <a:ext cx="2331720" cy="402336"/>
          </a:xfrm>
          <a:prstGeom prst="rect">
            <a:avLst/>
          </a:prstGeom>
          <a:solidFill>
            <a:srgbClr val="FFFFFF"/>
          </a:solidFill>
          <a:ln w="3810">
            <a:solidFill>
              <a:srgbClr val="CCCCCC"/>
            </a:solidFill>
            <a:prstDash val="solid"/>
          </a:ln>
        </p:spPr>
        <p:txBody>
          <a:bodyPr/>
          <a:lstStyle/>
          <a:p>
            <a:endParaRPr lang="pl-PL"/>
          </a:p>
        </p:txBody>
      </p:sp>
      <p:sp>
        <p:nvSpPr>
          <p:cNvPr id="52" name="Text 50"/>
          <p:cNvSpPr/>
          <p:nvPr/>
        </p:nvSpPr>
        <p:spPr>
          <a:xfrm>
            <a:off x="6656832" y="3520440"/>
            <a:ext cx="21854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AD/Azure login</a:t>
            </a:r>
            <a:endParaRPr lang="en-US" sz="1000" dirty="0"/>
          </a:p>
        </p:txBody>
      </p:sp>
      <p:sp>
        <p:nvSpPr>
          <p:cNvPr id="53" name="Shape 51"/>
          <p:cNvSpPr/>
          <p:nvPr/>
        </p:nvSpPr>
        <p:spPr>
          <a:xfrm>
            <a:off x="228600" y="3931920"/>
            <a:ext cx="2011680" cy="402336"/>
          </a:xfrm>
          <a:prstGeom prst="rect">
            <a:avLst/>
          </a:prstGeom>
          <a:solidFill>
            <a:srgbClr val="F0F0F0"/>
          </a:solidFill>
          <a:ln w="3810">
            <a:solidFill>
              <a:srgbClr val="CCCCCC"/>
            </a:solidFill>
            <a:prstDash val="solid"/>
          </a:ln>
        </p:spPr>
        <p:txBody>
          <a:bodyPr/>
          <a:lstStyle/>
          <a:p>
            <a:endParaRPr lang="pl-PL"/>
          </a:p>
        </p:txBody>
      </p:sp>
      <p:sp>
        <p:nvSpPr>
          <p:cNvPr id="54" name="Text 52"/>
          <p:cNvSpPr/>
          <p:nvPr/>
        </p:nvSpPr>
        <p:spPr>
          <a:xfrm>
            <a:off x="301752" y="3950208"/>
            <a:ext cx="1865376" cy="365760"/>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Usage monitoring</a:t>
            </a:r>
            <a:endParaRPr lang="en-US" sz="1050" dirty="0"/>
          </a:p>
        </p:txBody>
      </p:sp>
      <p:sp>
        <p:nvSpPr>
          <p:cNvPr id="55" name="Shape 53"/>
          <p:cNvSpPr/>
          <p:nvPr/>
        </p:nvSpPr>
        <p:spPr>
          <a:xfrm>
            <a:off x="2286000" y="3931920"/>
            <a:ext cx="2103120" cy="402336"/>
          </a:xfrm>
          <a:prstGeom prst="rect">
            <a:avLst/>
          </a:prstGeom>
          <a:solidFill>
            <a:srgbClr val="DBEAFE"/>
          </a:solidFill>
          <a:ln w="3810">
            <a:solidFill>
              <a:srgbClr val="CCCCCC"/>
            </a:solidFill>
            <a:prstDash val="solid"/>
          </a:ln>
        </p:spPr>
        <p:txBody>
          <a:bodyPr/>
          <a:lstStyle/>
          <a:p>
            <a:endParaRPr lang="pl-PL"/>
          </a:p>
        </p:txBody>
      </p:sp>
      <p:sp>
        <p:nvSpPr>
          <p:cNvPr id="56" name="Text 54"/>
          <p:cNvSpPr/>
          <p:nvPr/>
        </p:nvSpPr>
        <p:spPr>
          <a:xfrm>
            <a:off x="2359152" y="3950208"/>
            <a:ext cx="1956816" cy="365760"/>
          </a:xfrm>
          <a:prstGeom prst="rect">
            <a:avLst/>
          </a:prstGeom>
          <a:noFill/>
          <a:ln/>
        </p:spPr>
        <p:txBody>
          <a:bodyPr wrap="square" lIns="0" tIns="0" rIns="0" bIns="0" rtlCol="0" anchor="ctr"/>
          <a:lstStyle/>
          <a:p>
            <a:pPr marL="0" indent="0">
              <a:buNone/>
            </a:pPr>
            <a:r>
              <a:rPr lang="en-US" sz="1000" dirty="0">
                <a:solidFill>
                  <a:srgbClr val="1E4D8C"/>
                </a:solidFill>
                <a:latin typeface="Arial" pitchFamily="34" charset="0"/>
                <a:ea typeface="Arial" pitchFamily="34" charset="-122"/>
                <a:cs typeface="Arial" pitchFamily="34" charset="-120"/>
              </a:rPr>
              <a:t>console.anthropic.com</a:t>
            </a:r>
            <a:endParaRPr lang="en-US" sz="1000" dirty="0"/>
          </a:p>
        </p:txBody>
      </p:sp>
      <p:sp>
        <p:nvSpPr>
          <p:cNvPr id="57" name="Shape 55"/>
          <p:cNvSpPr/>
          <p:nvPr/>
        </p:nvSpPr>
        <p:spPr>
          <a:xfrm>
            <a:off x="4434840" y="3931920"/>
            <a:ext cx="2103120" cy="402336"/>
          </a:xfrm>
          <a:prstGeom prst="rect">
            <a:avLst/>
          </a:prstGeom>
          <a:solidFill>
            <a:srgbClr val="F0F0F0"/>
          </a:solidFill>
          <a:ln w="3810">
            <a:solidFill>
              <a:srgbClr val="CCCCCC"/>
            </a:solidFill>
            <a:prstDash val="solid"/>
          </a:ln>
        </p:spPr>
        <p:txBody>
          <a:bodyPr/>
          <a:lstStyle/>
          <a:p>
            <a:endParaRPr lang="pl-PL"/>
          </a:p>
        </p:txBody>
      </p:sp>
      <p:sp>
        <p:nvSpPr>
          <p:cNvPr id="58" name="Text 56"/>
          <p:cNvSpPr/>
          <p:nvPr/>
        </p:nvSpPr>
        <p:spPr>
          <a:xfrm>
            <a:off x="4507992" y="3950208"/>
            <a:ext cx="19568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OpenAI dashboard</a:t>
            </a:r>
            <a:endParaRPr lang="en-US" sz="1000" dirty="0"/>
          </a:p>
        </p:txBody>
      </p:sp>
      <p:sp>
        <p:nvSpPr>
          <p:cNvPr id="59" name="Shape 57"/>
          <p:cNvSpPr/>
          <p:nvPr/>
        </p:nvSpPr>
        <p:spPr>
          <a:xfrm>
            <a:off x="6583680" y="3931920"/>
            <a:ext cx="2331720" cy="402336"/>
          </a:xfrm>
          <a:prstGeom prst="rect">
            <a:avLst/>
          </a:prstGeom>
          <a:solidFill>
            <a:srgbClr val="F0F0F0"/>
          </a:solidFill>
          <a:ln w="3810">
            <a:solidFill>
              <a:srgbClr val="CCCCCC"/>
            </a:solidFill>
            <a:prstDash val="solid"/>
          </a:ln>
        </p:spPr>
        <p:txBody>
          <a:bodyPr/>
          <a:lstStyle/>
          <a:p>
            <a:endParaRPr lang="pl-PL"/>
          </a:p>
        </p:txBody>
      </p:sp>
      <p:sp>
        <p:nvSpPr>
          <p:cNvPr id="60" name="Text 58"/>
          <p:cNvSpPr/>
          <p:nvPr/>
        </p:nvSpPr>
        <p:spPr>
          <a:xfrm>
            <a:off x="6656832" y="3950208"/>
            <a:ext cx="2185416" cy="36576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Microsoft 365 Admin</a:t>
            </a:r>
            <a:endParaRPr lang="en-US" sz="1000" dirty="0"/>
          </a:p>
        </p:txBody>
      </p:sp>
      <p:sp>
        <p:nvSpPr>
          <p:cNvPr id="61" name="Text 59"/>
          <p:cNvSpPr/>
          <p:nvPr/>
        </p:nvSpPr>
        <p:spPr>
          <a:xfrm>
            <a:off x="228600" y="4416552"/>
            <a:ext cx="8686800" cy="228600"/>
          </a:xfrm>
          <a:prstGeom prst="rect">
            <a:avLst/>
          </a:prstGeom>
          <a:noFill/>
          <a:ln/>
        </p:spPr>
        <p:txBody>
          <a:bodyPr wrap="square" lIns="0" tIns="0" rIns="0" bIns="0" rtlCol="0" anchor="ctr"/>
          <a:lstStyle/>
          <a:p>
            <a:pPr marL="0" indent="0">
              <a:buNone/>
            </a:pPr>
            <a:r>
              <a:rPr lang="en-US" sz="950" i="1" dirty="0">
                <a:solidFill>
                  <a:srgbClr val="5A5850"/>
                </a:solidFill>
                <a:latin typeface="Arial" pitchFamily="34" charset="0"/>
                <a:ea typeface="Arial" pitchFamily="34" charset="-122"/>
                <a:cs typeface="Arial" pitchFamily="34" charset="-120"/>
              </a:rPr>
              <a:t>* The app generates marketing content - it does not process Content AI customers' personal data.</a:t>
            </a:r>
            <a:endParaRPr lang="en-US" sz="950" dirty="0"/>
          </a:p>
        </p:txBody>
      </p:sp>
      <p:sp>
        <p:nvSpPr>
          <p:cNvPr id="62" name="Shape 60"/>
          <p:cNvSpPr/>
          <p:nvPr/>
        </p:nvSpPr>
        <p:spPr>
          <a:xfrm>
            <a:off x="0" y="4828032"/>
            <a:ext cx="9144000" cy="315468"/>
          </a:xfrm>
          <a:prstGeom prst="rect">
            <a:avLst/>
          </a:prstGeom>
          <a:solidFill>
            <a:srgbClr val="DBEAFE"/>
          </a:solidFill>
          <a:ln w="12700">
            <a:solidFill>
              <a:srgbClr val="93C5FD"/>
            </a:solidFill>
            <a:prstDash val="solid"/>
          </a:ln>
        </p:spPr>
        <p:txBody>
          <a:bodyPr/>
          <a:lstStyle/>
          <a:p>
            <a:endParaRPr lang="pl-PL"/>
          </a:p>
        </p:txBody>
      </p:sp>
      <p:sp>
        <p:nvSpPr>
          <p:cNvPr id="63" name="Text 61"/>
          <p:cNvSpPr/>
          <p:nvPr/>
        </p:nvSpPr>
        <p:spPr>
          <a:xfrm>
            <a:off x="274320" y="4846320"/>
            <a:ext cx="8595360" cy="274320"/>
          </a:xfrm>
          <a:prstGeom prst="rect">
            <a:avLst/>
          </a:prstGeom>
          <a:noFill/>
          <a:ln/>
        </p:spPr>
        <p:txBody>
          <a:bodyPr wrap="square" lIns="0" tIns="0" rIns="0" bIns="0" rtlCol="0" anchor="ctr"/>
          <a:lstStyle/>
          <a:p>
            <a:pPr marL="0" indent="0">
              <a:buNone/>
            </a:pPr>
            <a:r>
              <a:rPr lang="en-US" sz="1050" b="1" dirty="0">
                <a:solidFill>
                  <a:srgbClr val="1E4D8C"/>
                </a:solidFill>
                <a:latin typeface="Arial" pitchFamily="34" charset="0"/>
                <a:ea typeface="Arial" pitchFamily="34" charset="-122"/>
                <a:cs typeface="Arial" pitchFamily="34" charset="-120"/>
              </a:rPr>
              <a:t>Content AI has a comparable or lower risk profile than AI tools already approved and used in the organization.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916"/>
          </a:solidFill>
          <a:ln w="12700">
            <a:solidFill>
              <a:srgbClr val="1A1916"/>
            </a:solidFill>
            <a:prstDash val="solid"/>
          </a:ln>
        </p:spPr>
        <p:txBody>
          <a:bodyPr/>
          <a:lstStyle/>
          <a:p>
            <a:endParaRPr lang="pl-PL"/>
          </a:p>
        </p:txBody>
      </p:sp>
      <p:sp>
        <p:nvSpPr>
          <p:cNvPr id="3" name="Text 1"/>
          <p:cNvSpPr/>
          <p:nvPr/>
        </p:nvSpPr>
        <p:spPr>
          <a:xfrm>
            <a:off x="320040" y="73152"/>
            <a:ext cx="5486400" cy="420624"/>
          </a:xfrm>
          <a:prstGeom prst="rect">
            <a:avLst/>
          </a:prstGeom>
          <a:noFill/>
          <a:ln/>
        </p:spPr>
        <p:txBody>
          <a:bodyPr wrap="square" lIns="0" tIns="0" rIns="0" bIns="0" rtlCol="0" anchor="ctr"/>
          <a:lstStyle/>
          <a:p>
            <a:pPr marL="0" indent="0">
              <a:buNone/>
            </a:pPr>
            <a:r>
              <a:rPr lang="en-US" sz="1100" b="1" kern="0" spc="500" dirty="0">
                <a:solidFill>
                  <a:srgbClr val="F5A300"/>
                </a:solidFill>
                <a:latin typeface="Arial" pitchFamily="34" charset="0"/>
                <a:ea typeface="Arial" pitchFamily="34" charset="-122"/>
                <a:cs typeface="Arial" pitchFamily="34" charset="-120"/>
              </a:rPr>
              <a:t>RISK ASSESSMENT</a:t>
            </a:r>
            <a:endParaRPr lang="en-US" sz="1100" dirty="0"/>
          </a:p>
        </p:txBody>
      </p:sp>
      <p:sp>
        <p:nvSpPr>
          <p:cNvPr id="4" name="Text 2"/>
          <p:cNvSpPr/>
          <p:nvPr/>
        </p:nvSpPr>
        <p:spPr>
          <a:xfrm>
            <a:off x="320040" y="647970"/>
            <a:ext cx="8503920" cy="50292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Risk matrix and control measures</a:t>
            </a:r>
            <a:endParaRPr lang="en-US" sz="2600" dirty="0"/>
          </a:p>
        </p:txBody>
      </p:sp>
      <p:sp>
        <p:nvSpPr>
          <p:cNvPr id="5" name="Shape 3"/>
          <p:cNvSpPr/>
          <p:nvPr/>
        </p:nvSpPr>
        <p:spPr>
          <a:xfrm>
            <a:off x="228600" y="1204501"/>
            <a:ext cx="2926080" cy="320040"/>
          </a:xfrm>
          <a:prstGeom prst="rect">
            <a:avLst/>
          </a:prstGeom>
          <a:solidFill>
            <a:srgbClr val="5A5850"/>
          </a:solidFill>
          <a:ln w="12700">
            <a:solidFill>
              <a:srgbClr val="5A5850"/>
            </a:solidFill>
            <a:prstDash val="solid"/>
          </a:ln>
        </p:spPr>
        <p:txBody>
          <a:bodyPr/>
          <a:lstStyle/>
          <a:p>
            <a:endParaRPr lang="pl-PL"/>
          </a:p>
        </p:txBody>
      </p:sp>
      <p:sp>
        <p:nvSpPr>
          <p:cNvPr id="6" name="Text 4"/>
          <p:cNvSpPr/>
          <p:nvPr/>
        </p:nvSpPr>
        <p:spPr>
          <a:xfrm>
            <a:off x="301752" y="1204501"/>
            <a:ext cx="2816352"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Risk</a:t>
            </a:r>
            <a:endParaRPr lang="en-US" sz="1000" dirty="0"/>
          </a:p>
        </p:txBody>
      </p:sp>
      <p:sp>
        <p:nvSpPr>
          <p:cNvPr id="7" name="Shape 5"/>
          <p:cNvSpPr/>
          <p:nvPr/>
        </p:nvSpPr>
        <p:spPr>
          <a:xfrm>
            <a:off x="3200400" y="1204501"/>
            <a:ext cx="1371600" cy="320040"/>
          </a:xfrm>
          <a:prstGeom prst="rect">
            <a:avLst/>
          </a:prstGeom>
          <a:solidFill>
            <a:srgbClr val="5A5850"/>
          </a:solidFill>
          <a:ln w="12700">
            <a:solidFill>
              <a:srgbClr val="5A5850"/>
            </a:solidFill>
            <a:prstDash val="solid"/>
          </a:ln>
        </p:spPr>
        <p:txBody>
          <a:bodyPr/>
          <a:lstStyle/>
          <a:p>
            <a:endParaRPr lang="pl-PL"/>
          </a:p>
        </p:txBody>
      </p:sp>
      <p:sp>
        <p:nvSpPr>
          <p:cNvPr id="8" name="Text 6"/>
          <p:cNvSpPr/>
          <p:nvPr/>
        </p:nvSpPr>
        <p:spPr>
          <a:xfrm>
            <a:off x="3273552" y="1204501"/>
            <a:ext cx="1261872"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Likelihood</a:t>
            </a:r>
            <a:endParaRPr lang="en-US" sz="1000" dirty="0"/>
          </a:p>
        </p:txBody>
      </p:sp>
      <p:sp>
        <p:nvSpPr>
          <p:cNvPr id="9" name="Shape 7"/>
          <p:cNvSpPr/>
          <p:nvPr/>
        </p:nvSpPr>
        <p:spPr>
          <a:xfrm>
            <a:off x="4617720" y="1204501"/>
            <a:ext cx="1097280" cy="320040"/>
          </a:xfrm>
          <a:prstGeom prst="rect">
            <a:avLst/>
          </a:prstGeom>
          <a:solidFill>
            <a:srgbClr val="5A5850"/>
          </a:solidFill>
          <a:ln w="12700">
            <a:solidFill>
              <a:srgbClr val="5A5850"/>
            </a:solidFill>
            <a:prstDash val="solid"/>
          </a:ln>
        </p:spPr>
        <p:txBody>
          <a:bodyPr/>
          <a:lstStyle/>
          <a:p>
            <a:endParaRPr lang="pl-PL"/>
          </a:p>
        </p:txBody>
      </p:sp>
      <p:sp>
        <p:nvSpPr>
          <p:cNvPr id="10" name="Text 8"/>
          <p:cNvSpPr/>
          <p:nvPr/>
        </p:nvSpPr>
        <p:spPr>
          <a:xfrm>
            <a:off x="4690872" y="1204501"/>
            <a:ext cx="987552"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Impact</a:t>
            </a:r>
            <a:endParaRPr lang="en-US" sz="1000" dirty="0"/>
          </a:p>
        </p:txBody>
      </p:sp>
      <p:sp>
        <p:nvSpPr>
          <p:cNvPr id="11" name="Shape 9"/>
          <p:cNvSpPr/>
          <p:nvPr/>
        </p:nvSpPr>
        <p:spPr>
          <a:xfrm>
            <a:off x="5760720" y="1204501"/>
            <a:ext cx="3154680" cy="320040"/>
          </a:xfrm>
          <a:prstGeom prst="rect">
            <a:avLst/>
          </a:prstGeom>
          <a:solidFill>
            <a:srgbClr val="5A5850"/>
          </a:solidFill>
          <a:ln w="12700">
            <a:solidFill>
              <a:srgbClr val="5A5850"/>
            </a:solidFill>
            <a:prstDash val="solid"/>
          </a:ln>
        </p:spPr>
        <p:txBody>
          <a:bodyPr/>
          <a:lstStyle/>
          <a:p>
            <a:endParaRPr lang="pl-PL"/>
          </a:p>
        </p:txBody>
      </p:sp>
      <p:sp>
        <p:nvSpPr>
          <p:cNvPr id="12" name="Text 10"/>
          <p:cNvSpPr/>
          <p:nvPr/>
        </p:nvSpPr>
        <p:spPr>
          <a:xfrm>
            <a:off x="5833872" y="1204501"/>
            <a:ext cx="3410712"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Control measure</a:t>
            </a:r>
            <a:endParaRPr lang="en-US" sz="1000" dirty="0"/>
          </a:p>
        </p:txBody>
      </p:sp>
      <p:sp>
        <p:nvSpPr>
          <p:cNvPr id="13" name="Shape 11"/>
          <p:cNvSpPr/>
          <p:nvPr/>
        </p:nvSpPr>
        <p:spPr>
          <a:xfrm>
            <a:off x="228600" y="1551973"/>
            <a:ext cx="2926080" cy="530352"/>
          </a:xfrm>
          <a:prstGeom prst="rect">
            <a:avLst/>
          </a:prstGeom>
          <a:solidFill>
            <a:srgbClr val="FEF3C7"/>
          </a:solidFill>
          <a:ln w="5080">
            <a:solidFill>
              <a:srgbClr val="FCD34D"/>
            </a:solidFill>
            <a:prstDash val="solid"/>
          </a:ln>
        </p:spPr>
        <p:txBody>
          <a:bodyPr/>
          <a:lstStyle/>
          <a:p>
            <a:endParaRPr lang="pl-PL"/>
          </a:p>
        </p:txBody>
      </p:sp>
      <p:sp>
        <p:nvSpPr>
          <p:cNvPr id="14" name="Text 12"/>
          <p:cNvSpPr/>
          <p:nvPr/>
        </p:nvSpPr>
        <p:spPr>
          <a:xfrm>
            <a:off x="320040" y="1588549"/>
            <a:ext cx="2743200" cy="457200"/>
          </a:xfrm>
          <a:prstGeom prst="rect">
            <a:avLst/>
          </a:prstGeom>
          <a:noFill/>
          <a:ln/>
        </p:spPr>
        <p:txBody>
          <a:bodyPr wrap="square" lIns="0" tIns="0" rIns="0" bIns="0" rtlCol="0" anchor="ctr"/>
          <a:lstStyle/>
          <a:p>
            <a:pPr marL="0" indent="0">
              <a:buNone/>
            </a:pPr>
            <a:r>
              <a:rPr lang="en-US" sz="1100" b="1" dirty="0">
                <a:solidFill>
                  <a:srgbClr val="1A1916"/>
                </a:solidFill>
                <a:latin typeface="Arial" pitchFamily="34" charset="0"/>
                <a:ea typeface="Arial" pitchFamily="34" charset="-122"/>
                <a:cs typeface="Arial" pitchFamily="34" charset="-120"/>
              </a:rPr>
              <a:t>API key leak</a:t>
            </a:r>
            <a:endParaRPr lang="en-US" sz="1100" dirty="0"/>
          </a:p>
        </p:txBody>
      </p:sp>
      <p:sp>
        <p:nvSpPr>
          <p:cNvPr id="15" name="Shape 13"/>
          <p:cNvSpPr/>
          <p:nvPr/>
        </p:nvSpPr>
        <p:spPr>
          <a:xfrm>
            <a:off x="3200400" y="1551973"/>
            <a:ext cx="1325880" cy="530352"/>
          </a:xfrm>
          <a:prstGeom prst="rect">
            <a:avLst/>
          </a:prstGeom>
          <a:solidFill>
            <a:srgbClr val="D6F0E0"/>
          </a:solidFill>
          <a:ln w="5080">
            <a:solidFill>
              <a:srgbClr val="7ECBA1"/>
            </a:solidFill>
            <a:prstDash val="solid"/>
          </a:ln>
        </p:spPr>
        <p:txBody>
          <a:bodyPr/>
          <a:lstStyle/>
          <a:p>
            <a:endParaRPr lang="pl-PL"/>
          </a:p>
        </p:txBody>
      </p:sp>
      <p:sp>
        <p:nvSpPr>
          <p:cNvPr id="16" name="Text 14"/>
          <p:cNvSpPr/>
          <p:nvPr/>
        </p:nvSpPr>
        <p:spPr>
          <a:xfrm>
            <a:off x="3200400" y="1551973"/>
            <a:ext cx="1325880" cy="530352"/>
          </a:xfrm>
          <a:prstGeom prst="rect">
            <a:avLst/>
          </a:prstGeom>
          <a:noFill/>
          <a:ln/>
        </p:spPr>
        <p:txBody>
          <a:bodyPr wrap="square" lIns="0" tIns="0" rIns="0" bIns="0" rtlCol="0" anchor="ctr"/>
          <a:lstStyle/>
          <a:p>
            <a:pPr marL="0" indent="0" algn="ctr">
              <a:buNone/>
            </a:pPr>
            <a:r>
              <a:rPr lang="en-US" sz="1000" b="1" dirty="0">
                <a:solidFill>
                  <a:srgbClr val="1E7A4A"/>
                </a:solidFill>
                <a:latin typeface="Arial" pitchFamily="34" charset="0"/>
                <a:ea typeface="Arial" pitchFamily="34" charset="-122"/>
                <a:cs typeface="Arial" pitchFamily="34" charset="-120"/>
              </a:rPr>
              <a:t>LOW</a:t>
            </a:r>
            <a:endParaRPr lang="en-US" sz="1000" dirty="0"/>
          </a:p>
        </p:txBody>
      </p:sp>
      <p:sp>
        <p:nvSpPr>
          <p:cNvPr id="17" name="Shape 15"/>
          <p:cNvSpPr/>
          <p:nvPr/>
        </p:nvSpPr>
        <p:spPr>
          <a:xfrm>
            <a:off x="4617720" y="1551973"/>
            <a:ext cx="1097280" cy="530352"/>
          </a:xfrm>
          <a:prstGeom prst="rect">
            <a:avLst/>
          </a:prstGeom>
          <a:solidFill>
            <a:srgbClr val="FEF3C7"/>
          </a:solidFill>
          <a:ln w="5080">
            <a:solidFill>
              <a:srgbClr val="FCD34D"/>
            </a:solidFill>
            <a:prstDash val="solid"/>
          </a:ln>
        </p:spPr>
        <p:txBody>
          <a:bodyPr/>
          <a:lstStyle/>
          <a:p>
            <a:endParaRPr lang="pl-PL"/>
          </a:p>
        </p:txBody>
      </p:sp>
      <p:sp>
        <p:nvSpPr>
          <p:cNvPr id="18" name="Text 16"/>
          <p:cNvSpPr/>
          <p:nvPr/>
        </p:nvSpPr>
        <p:spPr>
          <a:xfrm>
            <a:off x="4617720" y="1551973"/>
            <a:ext cx="1097280" cy="530352"/>
          </a:xfrm>
          <a:prstGeom prst="rect">
            <a:avLst/>
          </a:prstGeom>
          <a:noFill/>
          <a:ln/>
        </p:spPr>
        <p:txBody>
          <a:bodyPr wrap="square" lIns="0" tIns="0" rIns="0" bIns="0" rtlCol="0" anchor="ctr"/>
          <a:lstStyle/>
          <a:p>
            <a:pPr marL="0" indent="0" algn="ctr">
              <a:buNone/>
            </a:pPr>
            <a:r>
              <a:rPr lang="en-US" sz="1000" b="1" dirty="0">
                <a:solidFill>
                  <a:srgbClr val="B45309"/>
                </a:solidFill>
                <a:latin typeface="Arial" pitchFamily="34" charset="0"/>
                <a:ea typeface="Arial" pitchFamily="34" charset="-122"/>
                <a:cs typeface="Arial" pitchFamily="34" charset="-120"/>
              </a:rPr>
              <a:t>MEDIUM</a:t>
            </a:r>
            <a:endParaRPr lang="en-US" sz="1000" dirty="0"/>
          </a:p>
        </p:txBody>
      </p:sp>
      <p:sp>
        <p:nvSpPr>
          <p:cNvPr id="19" name="Shape 17"/>
          <p:cNvSpPr/>
          <p:nvPr/>
        </p:nvSpPr>
        <p:spPr>
          <a:xfrm>
            <a:off x="5760720" y="1551973"/>
            <a:ext cx="3154680" cy="530352"/>
          </a:xfrm>
          <a:prstGeom prst="rect">
            <a:avLst/>
          </a:prstGeom>
          <a:solidFill>
            <a:srgbClr val="F0F0F0"/>
          </a:solidFill>
          <a:ln w="3810">
            <a:solidFill>
              <a:srgbClr val="CCCCCC"/>
            </a:solidFill>
            <a:prstDash val="solid"/>
          </a:ln>
        </p:spPr>
        <p:txBody>
          <a:bodyPr/>
          <a:lstStyle/>
          <a:p>
            <a:endParaRPr lang="pl-PL"/>
          </a:p>
        </p:txBody>
      </p:sp>
      <p:sp>
        <p:nvSpPr>
          <p:cNvPr id="20" name="Text 18"/>
          <p:cNvSpPr/>
          <p:nvPr/>
        </p:nvSpPr>
        <p:spPr>
          <a:xfrm>
            <a:off x="5852160" y="1588549"/>
            <a:ext cx="2971800" cy="457200"/>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 xml:space="preserve">Cost limit + 90-day rotation </a:t>
            </a:r>
            <a:r>
              <a:rPr lang="en-US" sz="950" dirty="0" err="1">
                <a:solidFill>
                  <a:srgbClr val="5A5850"/>
                </a:solidFill>
                <a:latin typeface="Arial" pitchFamily="34" charset="0"/>
                <a:ea typeface="Arial" pitchFamily="34" charset="-122"/>
                <a:cs typeface="Arial" pitchFamily="34" charset="-120"/>
              </a:rPr>
              <a:t>dni</a:t>
            </a:r>
            <a:endParaRPr lang="en-US" sz="950" dirty="0"/>
          </a:p>
        </p:txBody>
      </p:sp>
      <p:sp>
        <p:nvSpPr>
          <p:cNvPr id="21" name="Shape 19"/>
          <p:cNvSpPr/>
          <p:nvPr/>
        </p:nvSpPr>
        <p:spPr>
          <a:xfrm>
            <a:off x="228600" y="2146333"/>
            <a:ext cx="2926080" cy="530352"/>
          </a:xfrm>
          <a:prstGeom prst="rect">
            <a:avLst/>
          </a:prstGeom>
          <a:solidFill>
            <a:srgbClr val="FEF3C7"/>
          </a:solidFill>
          <a:ln w="5080">
            <a:solidFill>
              <a:srgbClr val="FCD34D"/>
            </a:solidFill>
            <a:prstDash val="solid"/>
          </a:ln>
        </p:spPr>
        <p:txBody>
          <a:bodyPr/>
          <a:lstStyle/>
          <a:p>
            <a:endParaRPr lang="pl-PL"/>
          </a:p>
        </p:txBody>
      </p:sp>
      <p:sp>
        <p:nvSpPr>
          <p:cNvPr id="22" name="Text 20"/>
          <p:cNvSpPr/>
          <p:nvPr/>
        </p:nvSpPr>
        <p:spPr>
          <a:xfrm>
            <a:off x="320040" y="2182909"/>
            <a:ext cx="2743200" cy="457200"/>
          </a:xfrm>
          <a:prstGeom prst="rect">
            <a:avLst/>
          </a:prstGeom>
          <a:noFill/>
          <a:ln/>
        </p:spPr>
        <p:txBody>
          <a:bodyPr wrap="square" lIns="0" tIns="0" rIns="0" bIns="0" rtlCol="0" anchor="ctr"/>
          <a:lstStyle/>
          <a:p>
            <a:pPr marL="0" indent="0">
              <a:buNone/>
            </a:pPr>
            <a:r>
              <a:rPr lang="en-US" sz="1100" b="1" dirty="0">
                <a:solidFill>
                  <a:srgbClr val="1A1916"/>
                </a:solidFill>
                <a:latin typeface="Arial" pitchFamily="34" charset="0"/>
                <a:ea typeface="Arial" pitchFamily="34" charset="-122"/>
                <a:cs typeface="Arial" pitchFamily="34" charset="-120"/>
              </a:rPr>
              <a:t>Unauthorized access to the HTML file</a:t>
            </a:r>
            <a:endParaRPr lang="en-US" sz="1100" dirty="0"/>
          </a:p>
        </p:txBody>
      </p:sp>
      <p:sp>
        <p:nvSpPr>
          <p:cNvPr id="23" name="Shape 21"/>
          <p:cNvSpPr/>
          <p:nvPr/>
        </p:nvSpPr>
        <p:spPr>
          <a:xfrm>
            <a:off x="3200400" y="2146333"/>
            <a:ext cx="1325880" cy="530352"/>
          </a:xfrm>
          <a:prstGeom prst="rect">
            <a:avLst/>
          </a:prstGeom>
          <a:solidFill>
            <a:srgbClr val="D6F0E0"/>
          </a:solidFill>
          <a:ln w="5080">
            <a:solidFill>
              <a:srgbClr val="7ECBA1"/>
            </a:solidFill>
            <a:prstDash val="solid"/>
          </a:ln>
        </p:spPr>
        <p:txBody>
          <a:bodyPr/>
          <a:lstStyle/>
          <a:p>
            <a:endParaRPr lang="pl-PL"/>
          </a:p>
        </p:txBody>
      </p:sp>
      <p:sp>
        <p:nvSpPr>
          <p:cNvPr id="24" name="Text 22"/>
          <p:cNvSpPr/>
          <p:nvPr/>
        </p:nvSpPr>
        <p:spPr>
          <a:xfrm>
            <a:off x="3200400" y="2146333"/>
            <a:ext cx="1325880" cy="530352"/>
          </a:xfrm>
          <a:prstGeom prst="rect">
            <a:avLst/>
          </a:prstGeom>
          <a:noFill/>
          <a:ln/>
        </p:spPr>
        <p:txBody>
          <a:bodyPr wrap="square" lIns="0" tIns="0" rIns="0" bIns="0" rtlCol="0" anchor="ctr"/>
          <a:lstStyle/>
          <a:p>
            <a:pPr marL="0" indent="0" algn="ctr">
              <a:buNone/>
            </a:pPr>
            <a:r>
              <a:rPr lang="en-US" sz="1000" b="1" dirty="0">
                <a:solidFill>
                  <a:srgbClr val="1E7A4A"/>
                </a:solidFill>
                <a:latin typeface="Arial" pitchFamily="34" charset="0"/>
                <a:ea typeface="Arial" pitchFamily="34" charset="-122"/>
                <a:cs typeface="Arial" pitchFamily="34" charset="-120"/>
              </a:rPr>
              <a:t>LOW</a:t>
            </a:r>
            <a:endParaRPr lang="en-US" sz="1000" dirty="0"/>
          </a:p>
        </p:txBody>
      </p:sp>
      <p:sp>
        <p:nvSpPr>
          <p:cNvPr id="27" name="Shape 25"/>
          <p:cNvSpPr/>
          <p:nvPr/>
        </p:nvSpPr>
        <p:spPr>
          <a:xfrm>
            <a:off x="5760720" y="2146333"/>
            <a:ext cx="3154680" cy="530352"/>
          </a:xfrm>
          <a:prstGeom prst="rect">
            <a:avLst/>
          </a:prstGeom>
          <a:solidFill>
            <a:srgbClr val="F0F0F0"/>
          </a:solidFill>
          <a:ln w="3810">
            <a:solidFill>
              <a:srgbClr val="CCCCCC"/>
            </a:solidFill>
            <a:prstDash val="solid"/>
          </a:ln>
        </p:spPr>
        <p:txBody>
          <a:bodyPr/>
          <a:lstStyle/>
          <a:p>
            <a:endParaRPr lang="pl-PL"/>
          </a:p>
        </p:txBody>
      </p:sp>
      <p:sp>
        <p:nvSpPr>
          <p:cNvPr id="28" name="Text 26"/>
          <p:cNvSpPr/>
          <p:nvPr/>
        </p:nvSpPr>
        <p:spPr>
          <a:xfrm>
            <a:off x="5852160" y="2182909"/>
            <a:ext cx="2971800" cy="457200"/>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Azure Static Web Apps hosting with access in the Content AI tenant. In the pilot, file via Teams or OneDrive only to designated people.</a:t>
            </a:r>
            <a:endParaRPr lang="en-US" sz="950" dirty="0"/>
          </a:p>
        </p:txBody>
      </p:sp>
      <p:sp>
        <p:nvSpPr>
          <p:cNvPr id="29" name="Shape 27"/>
          <p:cNvSpPr/>
          <p:nvPr/>
        </p:nvSpPr>
        <p:spPr>
          <a:xfrm>
            <a:off x="228600" y="2740693"/>
            <a:ext cx="2926080" cy="530352"/>
          </a:xfrm>
          <a:prstGeom prst="rect">
            <a:avLst/>
          </a:prstGeom>
          <a:solidFill>
            <a:srgbClr val="D6F0E0"/>
          </a:solidFill>
          <a:ln w="5080">
            <a:solidFill>
              <a:srgbClr val="7ECBA1"/>
            </a:solidFill>
            <a:prstDash val="solid"/>
          </a:ln>
        </p:spPr>
        <p:txBody>
          <a:bodyPr/>
          <a:lstStyle/>
          <a:p>
            <a:endParaRPr lang="pl-PL"/>
          </a:p>
        </p:txBody>
      </p:sp>
      <p:sp>
        <p:nvSpPr>
          <p:cNvPr id="30" name="Text 28"/>
          <p:cNvSpPr/>
          <p:nvPr/>
        </p:nvSpPr>
        <p:spPr>
          <a:xfrm>
            <a:off x="320040" y="2777269"/>
            <a:ext cx="2743200" cy="457200"/>
          </a:xfrm>
          <a:prstGeom prst="rect">
            <a:avLst/>
          </a:prstGeom>
          <a:noFill/>
          <a:ln/>
        </p:spPr>
        <p:txBody>
          <a:bodyPr wrap="square" lIns="0" tIns="0" rIns="0" bIns="0" rtlCol="0" anchor="ctr"/>
          <a:lstStyle/>
          <a:p>
            <a:pPr marL="0" indent="0">
              <a:buNone/>
            </a:pPr>
            <a:r>
              <a:rPr lang="en-US" sz="1100" b="1" dirty="0">
                <a:solidFill>
                  <a:srgbClr val="1A1916"/>
                </a:solidFill>
                <a:latin typeface="Arial" pitchFamily="34" charset="0"/>
                <a:ea typeface="Arial" pitchFamily="34" charset="-122"/>
                <a:cs typeface="Arial" pitchFamily="34" charset="-120"/>
              </a:rPr>
              <a:t>Company data in the Anthropic API</a:t>
            </a:r>
            <a:endParaRPr lang="en-US" sz="1100" dirty="0"/>
          </a:p>
        </p:txBody>
      </p:sp>
      <p:sp>
        <p:nvSpPr>
          <p:cNvPr id="31" name="Shape 29"/>
          <p:cNvSpPr/>
          <p:nvPr/>
        </p:nvSpPr>
        <p:spPr>
          <a:xfrm>
            <a:off x="3200400" y="2740693"/>
            <a:ext cx="1325880" cy="530352"/>
          </a:xfrm>
          <a:prstGeom prst="rect">
            <a:avLst/>
          </a:prstGeom>
          <a:solidFill>
            <a:srgbClr val="D6F0E0"/>
          </a:solidFill>
          <a:ln w="5080">
            <a:solidFill>
              <a:srgbClr val="7ECBA1"/>
            </a:solidFill>
            <a:prstDash val="solid"/>
          </a:ln>
        </p:spPr>
        <p:txBody>
          <a:bodyPr/>
          <a:lstStyle/>
          <a:p>
            <a:endParaRPr lang="pl-PL"/>
          </a:p>
        </p:txBody>
      </p:sp>
      <p:sp>
        <p:nvSpPr>
          <p:cNvPr id="32" name="Text 30"/>
          <p:cNvSpPr/>
          <p:nvPr/>
        </p:nvSpPr>
        <p:spPr>
          <a:xfrm>
            <a:off x="3200400" y="2740693"/>
            <a:ext cx="1325880" cy="530352"/>
          </a:xfrm>
          <a:prstGeom prst="rect">
            <a:avLst/>
          </a:prstGeom>
          <a:noFill/>
          <a:ln/>
        </p:spPr>
        <p:txBody>
          <a:bodyPr wrap="square" lIns="0" tIns="0" rIns="0" bIns="0" rtlCol="0" anchor="ctr"/>
          <a:lstStyle/>
          <a:p>
            <a:pPr marL="0" indent="0" algn="ctr">
              <a:buNone/>
            </a:pPr>
            <a:r>
              <a:rPr lang="en-US" sz="1000" b="1" dirty="0">
                <a:solidFill>
                  <a:srgbClr val="1E7A4A"/>
                </a:solidFill>
                <a:latin typeface="Arial" pitchFamily="34" charset="0"/>
                <a:ea typeface="Arial" pitchFamily="34" charset="-122"/>
                <a:cs typeface="Arial" pitchFamily="34" charset="-120"/>
              </a:rPr>
              <a:t>LOW</a:t>
            </a:r>
            <a:endParaRPr lang="en-US" sz="1000" dirty="0"/>
          </a:p>
        </p:txBody>
      </p:sp>
      <p:sp>
        <p:nvSpPr>
          <p:cNvPr id="33" name="Shape 31"/>
          <p:cNvSpPr/>
          <p:nvPr/>
        </p:nvSpPr>
        <p:spPr>
          <a:xfrm>
            <a:off x="4617720" y="2740693"/>
            <a:ext cx="1097280" cy="530352"/>
          </a:xfrm>
          <a:prstGeom prst="rect">
            <a:avLst/>
          </a:prstGeom>
          <a:solidFill>
            <a:srgbClr val="D6F0E0"/>
          </a:solidFill>
          <a:ln w="5080">
            <a:solidFill>
              <a:srgbClr val="7ECBA1"/>
            </a:solidFill>
            <a:prstDash val="solid"/>
          </a:ln>
        </p:spPr>
        <p:txBody>
          <a:bodyPr/>
          <a:lstStyle/>
          <a:p>
            <a:endParaRPr lang="pl-PL"/>
          </a:p>
        </p:txBody>
      </p:sp>
      <p:sp>
        <p:nvSpPr>
          <p:cNvPr id="34" name="Text 32"/>
          <p:cNvSpPr/>
          <p:nvPr/>
        </p:nvSpPr>
        <p:spPr>
          <a:xfrm>
            <a:off x="4617720" y="2740693"/>
            <a:ext cx="1097280" cy="530352"/>
          </a:xfrm>
          <a:prstGeom prst="rect">
            <a:avLst/>
          </a:prstGeom>
          <a:noFill/>
          <a:ln/>
        </p:spPr>
        <p:txBody>
          <a:bodyPr wrap="square" lIns="0" tIns="0" rIns="0" bIns="0" rtlCol="0" anchor="ctr"/>
          <a:lstStyle/>
          <a:p>
            <a:pPr marL="0" indent="0" algn="ctr">
              <a:buNone/>
            </a:pPr>
            <a:r>
              <a:rPr lang="en-US" sz="1000" b="1" dirty="0">
                <a:solidFill>
                  <a:srgbClr val="1E7A4A"/>
                </a:solidFill>
                <a:latin typeface="Arial" pitchFamily="34" charset="0"/>
                <a:ea typeface="Arial" pitchFamily="34" charset="-122"/>
                <a:cs typeface="Arial" pitchFamily="34" charset="-120"/>
              </a:rPr>
              <a:t>LOW</a:t>
            </a:r>
            <a:endParaRPr lang="en-US" sz="1000" dirty="0"/>
          </a:p>
        </p:txBody>
      </p:sp>
      <p:sp>
        <p:nvSpPr>
          <p:cNvPr id="35" name="Shape 33"/>
          <p:cNvSpPr/>
          <p:nvPr/>
        </p:nvSpPr>
        <p:spPr>
          <a:xfrm>
            <a:off x="5760720" y="2740693"/>
            <a:ext cx="3154680" cy="530352"/>
          </a:xfrm>
          <a:prstGeom prst="rect">
            <a:avLst/>
          </a:prstGeom>
          <a:solidFill>
            <a:srgbClr val="F0F0F0"/>
          </a:solidFill>
          <a:ln w="3810">
            <a:solidFill>
              <a:srgbClr val="CCCCCC"/>
            </a:solidFill>
            <a:prstDash val="solid"/>
          </a:ln>
        </p:spPr>
        <p:txBody>
          <a:bodyPr/>
          <a:lstStyle/>
          <a:p>
            <a:endParaRPr lang="pl-PL"/>
          </a:p>
        </p:txBody>
      </p:sp>
      <p:sp>
        <p:nvSpPr>
          <p:cNvPr id="36" name="Text 34"/>
          <p:cNvSpPr/>
          <p:nvPr/>
        </p:nvSpPr>
        <p:spPr>
          <a:xfrm>
            <a:off x="5852160" y="2777269"/>
            <a:ext cx="2971800" cy="457200"/>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 xml:space="preserve">API logs deleted after 7 days. No </a:t>
            </a:r>
            <a:r>
              <a:rPr lang="en-US" sz="950" dirty="0" err="1">
                <a:solidFill>
                  <a:srgbClr val="5A5850"/>
                </a:solidFill>
                <a:latin typeface="Arial" pitchFamily="34" charset="0"/>
                <a:ea typeface="Arial" pitchFamily="34" charset="-122"/>
                <a:cs typeface="Arial" pitchFamily="34" charset="-120"/>
              </a:rPr>
              <a:t>training</a:t>
            </a:r>
            <a:r>
              <a:rPr lang="en-US" sz="950" dirty="0">
                <a:solidFill>
                  <a:srgbClr val="5A5850"/>
                </a:solidFill>
                <a:latin typeface="Arial" pitchFamily="34" charset="0"/>
                <a:ea typeface="Arial" pitchFamily="34" charset="-122"/>
                <a:cs typeface="Arial" pitchFamily="34" charset="-120"/>
              </a:rPr>
              <a:t xml:space="preserve"> </a:t>
            </a:r>
            <a:r>
              <a:rPr lang="pl-PL" sz="950" dirty="0">
                <a:solidFill>
                  <a:srgbClr val="5A5850"/>
                </a:solidFill>
                <a:latin typeface="Arial" pitchFamily="34" charset="0"/>
                <a:ea typeface="Arial" pitchFamily="34" charset="-122"/>
                <a:cs typeface="Arial" pitchFamily="34" charset="-120"/>
              </a:rPr>
              <a:t>-</a:t>
            </a:r>
            <a:r>
              <a:rPr lang="en-US" sz="950" dirty="0">
                <a:solidFill>
                  <a:srgbClr val="5A5850"/>
                </a:solidFill>
                <a:latin typeface="Arial" pitchFamily="34" charset="0"/>
                <a:ea typeface="Arial" pitchFamily="34" charset="-122"/>
                <a:cs typeface="Arial" pitchFamily="34" charset="-120"/>
              </a:rPr>
              <a:t xml:space="preserve"> a no-exceptions rule for API accounts. TLS 1.3 transmission.</a:t>
            </a:r>
            <a:endParaRPr lang="en-US" sz="950" dirty="0"/>
          </a:p>
        </p:txBody>
      </p:sp>
      <p:sp>
        <p:nvSpPr>
          <p:cNvPr id="37" name="Shape 35"/>
          <p:cNvSpPr/>
          <p:nvPr/>
        </p:nvSpPr>
        <p:spPr>
          <a:xfrm>
            <a:off x="228600" y="3335053"/>
            <a:ext cx="2926080" cy="530352"/>
          </a:xfrm>
          <a:prstGeom prst="rect">
            <a:avLst/>
          </a:prstGeom>
          <a:solidFill>
            <a:srgbClr val="D6F0E0"/>
          </a:solidFill>
          <a:ln w="5080">
            <a:solidFill>
              <a:srgbClr val="7ECBA1"/>
            </a:solidFill>
            <a:prstDash val="solid"/>
          </a:ln>
        </p:spPr>
        <p:txBody>
          <a:bodyPr/>
          <a:lstStyle/>
          <a:p>
            <a:endParaRPr lang="pl-PL"/>
          </a:p>
        </p:txBody>
      </p:sp>
      <p:sp>
        <p:nvSpPr>
          <p:cNvPr id="38" name="Text 36"/>
          <p:cNvSpPr/>
          <p:nvPr/>
        </p:nvSpPr>
        <p:spPr>
          <a:xfrm>
            <a:off x="320040" y="3371629"/>
            <a:ext cx="2743200" cy="457200"/>
          </a:xfrm>
          <a:prstGeom prst="rect">
            <a:avLst/>
          </a:prstGeom>
          <a:noFill/>
          <a:ln/>
        </p:spPr>
        <p:txBody>
          <a:bodyPr wrap="square" lIns="0" tIns="0" rIns="0" bIns="0" rtlCol="0" anchor="ctr"/>
          <a:lstStyle/>
          <a:p>
            <a:pPr marL="0" indent="0">
              <a:buNone/>
            </a:pPr>
            <a:r>
              <a:rPr lang="en-US" sz="1100" b="1" dirty="0">
                <a:solidFill>
                  <a:srgbClr val="1A1916"/>
                </a:solidFill>
                <a:latin typeface="Arial" pitchFamily="34" charset="0"/>
                <a:ea typeface="Arial" pitchFamily="34" charset="-122"/>
                <a:cs typeface="Arial" pitchFamily="34" charset="-120"/>
              </a:rPr>
              <a:t>Loss of localStorage data</a:t>
            </a:r>
            <a:endParaRPr lang="en-US" sz="1100" dirty="0"/>
          </a:p>
        </p:txBody>
      </p:sp>
      <p:sp>
        <p:nvSpPr>
          <p:cNvPr id="39" name="Shape 37"/>
          <p:cNvSpPr/>
          <p:nvPr/>
        </p:nvSpPr>
        <p:spPr>
          <a:xfrm>
            <a:off x="3200400" y="3335053"/>
            <a:ext cx="1325880" cy="530352"/>
          </a:xfrm>
          <a:prstGeom prst="rect">
            <a:avLst/>
          </a:prstGeom>
          <a:solidFill>
            <a:srgbClr val="FEF3C7"/>
          </a:solidFill>
          <a:ln w="5080">
            <a:solidFill>
              <a:srgbClr val="FCD34D"/>
            </a:solidFill>
            <a:prstDash val="solid"/>
          </a:ln>
        </p:spPr>
        <p:txBody>
          <a:bodyPr/>
          <a:lstStyle/>
          <a:p>
            <a:endParaRPr lang="pl-PL"/>
          </a:p>
        </p:txBody>
      </p:sp>
      <p:sp>
        <p:nvSpPr>
          <p:cNvPr id="40" name="Text 38"/>
          <p:cNvSpPr/>
          <p:nvPr/>
        </p:nvSpPr>
        <p:spPr>
          <a:xfrm>
            <a:off x="3200400" y="3335053"/>
            <a:ext cx="1325880" cy="530352"/>
          </a:xfrm>
          <a:prstGeom prst="rect">
            <a:avLst/>
          </a:prstGeom>
          <a:noFill/>
          <a:ln/>
        </p:spPr>
        <p:txBody>
          <a:bodyPr wrap="square" lIns="0" tIns="0" rIns="0" bIns="0" rtlCol="0" anchor="ctr"/>
          <a:lstStyle/>
          <a:p>
            <a:pPr marL="0" indent="0" algn="ctr">
              <a:buNone/>
            </a:pPr>
            <a:r>
              <a:rPr lang="en-US" sz="1000" b="1" dirty="0">
                <a:solidFill>
                  <a:srgbClr val="B45309"/>
                </a:solidFill>
                <a:latin typeface="Arial" pitchFamily="34" charset="0"/>
                <a:ea typeface="Arial" pitchFamily="34" charset="-122"/>
                <a:cs typeface="Arial" pitchFamily="34" charset="-120"/>
              </a:rPr>
              <a:t>MEDIUM</a:t>
            </a:r>
            <a:endParaRPr lang="en-US" sz="1000" dirty="0"/>
          </a:p>
        </p:txBody>
      </p:sp>
      <p:sp>
        <p:nvSpPr>
          <p:cNvPr id="41" name="Shape 39"/>
          <p:cNvSpPr/>
          <p:nvPr/>
        </p:nvSpPr>
        <p:spPr>
          <a:xfrm>
            <a:off x="4617720" y="3335053"/>
            <a:ext cx="1097280" cy="530352"/>
          </a:xfrm>
          <a:prstGeom prst="rect">
            <a:avLst/>
          </a:prstGeom>
          <a:solidFill>
            <a:srgbClr val="D6F0E0"/>
          </a:solidFill>
          <a:ln w="5080">
            <a:solidFill>
              <a:srgbClr val="7ECBA1"/>
            </a:solidFill>
            <a:prstDash val="solid"/>
          </a:ln>
        </p:spPr>
        <p:txBody>
          <a:bodyPr/>
          <a:lstStyle/>
          <a:p>
            <a:endParaRPr lang="pl-PL"/>
          </a:p>
        </p:txBody>
      </p:sp>
      <p:sp>
        <p:nvSpPr>
          <p:cNvPr id="42" name="Text 40"/>
          <p:cNvSpPr/>
          <p:nvPr/>
        </p:nvSpPr>
        <p:spPr>
          <a:xfrm>
            <a:off x="4617720" y="3335053"/>
            <a:ext cx="1097280" cy="530352"/>
          </a:xfrm>
          <a:prstGeom prst="rect">
            <a:avLst/>
          </a:prstGeom>
          <a:noFill/>
          <a:ln/>
        </p:spPr>
        <p:txBody>
          <a:bodyPr wrap="square" lIns="0" tIns="0" rIns="0" bIns="0" rtlCol="0" anchor="ctr"/>
          <a:lstStyle/>
          <a:p>
            <a:pPr marL="0" indent="0" algn="ctr">
              <a:buNone/>
            </a:pPr>
            <a:r>
              <a:rPr lang="en-US" sz="1000" b="1" dirty="0">
                <a:solidFill>
                  <a:srgbClr val="1E7A4A"/>
                </a:solidFill>
                <a:latin typeface="Arial" pitchFamily="34" charset="0"/>
                <a:ea typeface="Arial" pitchFamily="34" charset="-122"/>
                <a:cs typeface="Arial" pitchFamily="34" charset="-120"/>
              </a:rPr>
              <a:t>LOW</a:t>
            </a:r>
            <a:endParaRPr lang="en-US" sz="1000" dirty="0"/>
          </a:p>
        </p:txBody>
      </p:sp>
      <p:sp>
        <p:nvSpPr>
          <p:cNvPr id="43" name="Shape 41"/>
          <p:cNvSpPr/>
          <p:nvPr/>
        </p:nvSpPr>
        <p:spPr>
          <a:xfrm>
            <a:off x="5760720" y="3335053"/>
            <a:ext cx="3154680" cy="530352"/>
          </a:xfrm>
          <a:prstGeom prst="rect">
            <a:avLst/>
          </a:prstGeom>
          <a:solidFill>
            <a:srgbClr val="F0F0F0"/>
          </a:solidFill>
          <a:ln w="3810">
            <a:solidFill>
              <a:srgbClr val="CCCCCC"/>
            </a:solidFill>
            <a:prstDash val="solid"/>
          </a:ln>
        </p:spPr>
        <p:txBody>
          <a:bodyPr/>
          <a:lstStyle/>
          <a:p>
            <a:endParaRPr lang="pl-PL"/>
          </a:p>
        </p:txBody>
      </p:sp>
      <p:sp>
        <p:nvSpPr>
          <p:cNvPr id="44" name="Text 42"/>
          <p:cNvSpPr/>
          <p:nvPr/>
        </p:nvSpPr>
        <p:spPr>
          <a:xfrm>
            <a:off x="5852160" y="3371629"/>
            <a:ext cx="2971800" cy="457200"/>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Article history is only auxiliary. Export to .docx/.txt as backup.</a:t>
            </a:r>
            <a:endParaRPr lang="en-US" sz="950" dirty="0"/>
          </a:p>
        </p:txBody>
      </p:sp>
      <p:sp>
        <p:nvSpPr>
          <p:cNvPr id="45" name="Shape 43"/>
          <p:cNvSpPr/>
          <p:nvPr/>
        </p:nvSpPr>
        <p:spPr>
          <a:xfrm>
            <a:off x="228600" y="3929413"/>
            <a:ext cx="2926080" cy="530352"/>
          </a:xfrm>
          <a:prstGeom prst="rect">
            <a:avLst/>
          </a:prstGeom>
          <a:solidFill>
            <a:srgbClr val="FEF3C7"/>
          </a:solidFill>
          <a:ln w="5080">
            <a:solidFill>
              <a:srgbClr val="FCD34D"/>
            </a:solidFill>
            <a:prstDash val="solid"/>
          </a:ln>
        </p:spPr>
        <p:txBody>
          <a:bodyPr/>
          <a:lstStyle/>
          <a:p>
            <a:endParaRPr lang="pl-PL"/>
          </a:p>
        </p:txBody>
      </p:sp>
      <p:sp>
        <p:nvSpPr>
          <p:cNvPr id="46" name="Text 44"/>
          <p:cNvSpPr/>
          <p:nvPr/>
        </p:nvSpPr>
        <p:spPr>
          <a:xfrm>
            <a:off x="320040" y="3965989"/>
            <a:ext cx="2743200" cy="457200"/>
          </a:xfrm>
          <a:prstGeom prst="rect">
            <a:avLst/>
          </a:prstGeom>
          <a:noFill/>
          <a:ln/>
        </p:spPr>
        <p:txBody>
          <a:bodyPr wrap="square" lIns="0" tIns="0" rIns="0" bIns="0" rtlCol="0" anchor="ctr"/>
          <a:lstStyle/>
          <a:p>
            <a:pPr marL="0" indent="0">
              <a:buNone/>
            </a:pPr>
            <a:r>
              <a:rPr lang="en-US" sz="1100" b="1" dirty="0">
                <a:solidFill>
                  <a:srgbClr val="1A1916"/>
                </a:solidFill>
                <a:latin typeface="Arial" pitchFamily="34" charset="0"/>
                <a:ea typeface="Arial" pitchFamily="34" charset="-122"/>
                <a:cs typeface="Arial" pitchFamily="34" charset="-120"/>
              </a:rPr>
              <a:t>Shadow AI (employees on private accounts)</a:t>
            </a:r>
            <a:endParaRPr lang="en-US" sz="1100" dirty="0"/>
          </a:p>
        </p:txBody>
      </p:sp>
      <p:sp>
        <p:nvSpPr>
          <p:cNvPr id="47" name="Shape 45"/>
          <p:cNvSpPr/>
          <p:nvPr/>
        </p:nvSpPr>
        <p:spPr>
          <a:xfrm>
            <a:off x="3200400" y="3929413"/>
            <a:ext cx="1325880" cy="530352"/>
          </a:xfrm>
          <a:prstGeom prst="rect">
            <a:avLst/>
          </a:prstGeom>
          <a:solidFill>
            <a:srgbClr val="FEF3C7"/>
          </a:solidFill>
          <a:ln w="5080">
            <a:solidFill>
              <a:srgbClr val="FCD34D"/>
            </a:solidFill>
            <a:prstDash val="solid"/>
          </a:ln>
        </p:spPr>
        <p:txBody>
          <a:bodyPr/>
          <a:lstStyle/>
          <a:p>
            <a:endParaRPr lang="pl-PL"/>
          </a:p>
        </p:txBody>
      </p:sp>
      <p:sp>
        <p:nvSpPr>
          <p:cNvPr id="48" name="Text 46"/>
          <p:cNvSpPr/>
          <p:nvPr/>
        </p:nvSpPr>
        <p:spPr>
          <a:xfrm>
            <a:off x="3200400" y="3929413"/>
            <a:ext cx="1325880" cy="530352"/>
          </a:xfrm>
          <a:prstGeom prst="rect">
            <a:avLst/>
          </a:prstGeom>
          <a:noFill/>
          <a:ln/>
        </p:spPr>
        <p:txBody>
          <a:bodyPr wrap="square" lIns="0" tIns="0" rIns="0" bIns="0" rtlCol="0" anchor="ctr"/>
          <a:lstStyle/>
          <a:p>
            <a:pPr marL="0" indent="0" algn="ctr">
              <a:buNone/>
            </a:pPr>
            <a:r>
              <a:rPr lang="en-US" sz="1000" b="1" dirty="0">
                <a:solidFill>
                  <a:srgbClr val="B45309"/>
                </a:solidFill>
                <a:latin typeface="Arial" pitchFamily="34" charset="0"/>
                <a:ea typeface="Arial" pitchFamily="34" charset="-122"/>
                <a:cs typeface="Arial" pitchFamily="34" charset="-120"/>
              </a:rPr>
              <a:t>MEDIUM</a:t>
            </a:r>
            <a:endParaRPr lang="en-US" sz="1000" dirty="0"/>
          </a:p>
        </p:txBody>
      </p:sp>
      <p:sp>
        <p:nvSpPr>
          <p:cNvPr id="49" name="Shape 47"/>
          <p:cNvSpPr/>
          <p:nvPr/>
        </p:nvSpPr>
        <p:spPr>
          <a:xfrm>
            <a:off x="4617720" y="3929413"/>
            <a:ext cx="1097280" cy="530352"/>
          </a:xfrm>
          <a:prstGeom prst="rect">
            <a:avLst/>
          </a:prstGeom>
          <a:solidFill>
            <a:srgbClr val="FEF3C7"/>
          </a:solidFill>
          <a:ln w="5080">
            <a:solidFill>
              <a:srgbClr val="FCD34D"/>
            </a:solidFill>
            <a:prstDash val="solid"/>
          </a:ln>
        </p:spPr>
        <p:txBody>
          <a:bodyPr/>
          <a:lstStyle/>
          <a:p>
            <a:endParaRPr lang="pl-PL"/>
          </a:p>
        </p:txBody>
      </p:sp>
      <p:sp>
        <p:nvSpPr>
          <p:cNvPr id="50" name="Text 48"/>
          <p:cNvSpPr/>
          <p:nvPr/>
        </p:nvSpPr>
        <p:spPr>
          <a:xfrm>
            <a:off x="4617720" y="3929413"/>
            <a:ext cx="1097280" cy="530352"/>
          </a:xfrm>
          <a:prstGeom prst="rect">
            <a:avLst/>
          </a:prstGeom>
          <a:noFill/>
          <a:ln/>
        </p:spPr>
        <p:txBody>
          <a:bodyPr wrap="square" lIns="0" tIns="0" rIns="0" bIns="0" rtlCol="0" anchor="ctr"/>
          <a:lstStyle/>
          <a:p>
            <a:pPr marL="0" indent="0" algn="ctr">
              <a:buNone/>
            </a:pPr>
            <a:r>
              <a:rPr lang="en-US" sz="1000" b="1" dirty="0">
                <a:solidFill>
                  <a:srgbClr val="B45309"/>
                </a:solidFill>
                <a:latin typeface="Arial" pitchFamily="34" charset="0"/>
                <a:ea typeface="Arial" pitchFamily="34" charset="-122"/>
                <a:cs typeface="Arial" pitchFamily="34" charset="-120"/>
              </a:rPr>
              <a:t>MEDIUM</a:t>
            </a:r>
            <a:endParaRPr lang="en-US" sz="1000" dirty="0"/>
          </a:p>
        </p:txBody>
      </p:sp>
      <p:sp>
        <p:nvSpPr>
          <p:cNvPr id="51" name="Shape 49"/>
          <p:cNvSpPr/>
          <p:nvPr/>
        </p:nvSpPr>
        <p:spPr>
          <a:xfrm>
            <a:off x="5760720" y="3929413"/>
            <a:ext cx="3154680" cy="530352"/>
          </a:xfrm>
          <a:prstGeom prst="rect">
            <a:avLst/>
          </a:prstGeom>
          <a:solidFill>
            <a:srgbClr val="F0F0F0"/>
          </a:solidFill>
          <a:ln w="3810">
            <a:solidFill>
              <a:srgbClr val="CCCCCC"/>
            </a:solidFill>
            <a:prstDash val="solid"/>
          </a:ln>
        </p:spPr>
        <p:txBody>
          <a:bodyPr/>
          <a:lstStyle/>
          <a:p>
            <a:endParaRPr lang="pl-PL"/>
          </a:p>
        </p:txBody>
      </p:sp>
      <p:sp>
        <p:nvSpPr>
          <p:cNvPr id="52" name="Text 50"/>
          <p:cNvSpPr/>
          <p:nvPr/>
        </p:nvSpPr>
        <p:spPr>
          <a:xfrm>
            <a:off x="5852160" y="3965989"/>
            <a:ext cx="2971800" cy="457200"/>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 xml:space="preserve">Deploying Content AI removes the need for private </a:t>
            </a:r>
            <a:r>
              <a:rPr lang="en-US" sz="950" dirty="0" err="1">
                <a:solidFill>
                  <a:srgbClr val="5A5850"/>
                </a:solidFill>
                <a:latin typeface="Arial" pitchFamily="34" charset="0"/>
                <a:ea typeface="Arial" pitchFamily="34" charset="-122"/>
                <a:cs typeface="Arial" pitchFamily="34" charset="-120"/>
              </a:rPr>
              <a:t>accounts</a:t>
            </a:r>
            <a:r>
              <a:rPr lang="en-US" sz="950" dirty="0">
                <a:solidFill>
                  <a:srgbClr val="5A5850"/>
                </a:solidFill>
                <a:latin typeface="Arial" pitchFamily="34" charset="0"/>
                <a:ea typeface="Arial" pitchFamily="34" charset="-122"/>
                <a:cs typeface="Arial" pitchFamily="34" charset="-120"/>
              </a:rPr>
              <a:t xml:space="preserve"> </a:t>
            </a:r>
            <a:r>
              <a:rPr lang="pl-PL" sz="950" dirty="0">
                <a:solidFill>
                  <a:srgbClr val="5A5850"/>
                </a:solidFill>
                <a:latin typeface="Arial" pitchFamily="34" charset="0"/>
                <a:ea typeface="Arial" pitchFamily="34" charset="-122"/>
                <a:cs typeface="Arial" pitchFamily="34" charset="-120"/>
              </a:rPr>
              <a:t>-</a:t>
            </a:r>
            <a:r>
              <a:rPr lang="en-US" sz="950" dirty="0">
                <a:solidFill>
                  <a:srgbClr val="5A5850"/>
                </a:solidFill>
                <a:latin typeface="Arial" pitchFamily="34" charset="0"/>
                <a:ea typeface="Arial" pitchFamily="34" charset="-122"/>
                <a:cs typeface="Arial" pitchFamily="34" charset="-120"/>
              </a:rPr>
              <a:t xml:space="preserve"> data under company control.</a:t>
            </a:r>
            <a:endParaRPr lang="en-US" sz="950" dirty="0"/>
          </a:p>
        </p:txBody>
      </p:sp>
      <p:sp>
        <p:nvSpPr>
          <p:cNvPr id="53" name="Shape 51"/>
          <p:cNvSpPr/>
          <p:nvPr/>
        </p:nvSpPr>
        <p:spPr>
          <a:xfrm>
            <a:off x="228600" y="4523773"/>
            <a:ext cx="2926080" cy="530352"/>
          </a:xfrm>
          <a:prstGeom prst="rect">
            <a:avLst/>
          </a:prstGeom>
          <a:solidFill>
            <a:srgbClr val="D6F0E0"/>
          </a:solidFill>
          <a:ln w="5080">
            <a:solidFill>
              <a:srgbClr val="7ECBA1"/>
            </a:solidFill>
            <a:prstDash val="solid"/>
          </a:ln>
        </p:spPr>
        <p:txBody>
          <a:bodyPr/>
          <a:lstStyle/>
          <a:p>
            <a:endParaRPr lang="pl-PL"/>
          </a:p>
        </p:txBody>
      </p:sp>
      <p:sp>
        <p:nvSpPr>
          <p:cNvPr id="54" name="Text 52"/>
          <p:cNvSpPr/>
          <p:nvPr/>
        </p:nvSpPr>
        <p:spPr>
          <a:xfrm>
            <a:off x="320040" y="4560349"/>
            <a:ext cx="2743200" cy="457200"/>
          </a:xfrm>
          <a:prstGeom prst="rect">
            <a:avLst/>
          </a:prstGeom>
          <a:noFill/>
          <a:ln/>
        </p:spPr>
        <p:txBody>
          <a:bodyPr wrap="square" lIns="0" tIns="0" rIns="0" bIns="0" rtlCol="0" anchor="ctr"/>
          <a:lstStyle/>
          <a:p>
            <a:pPr marL="0" indent="0">
              <a:buNone/>
            </a:pPr>
            <a:r>
              <a:rPr lang="en-US" sz="1100" b="1" dirty="0">
                <a:solidFill>
                  <a:srgbClr val="1A1916"/>
                </a:solidFill>
                <a:latin typeface="Arial" pitchFamily="34" charset="0"/>
                <a:ea typeface="Arial" pitchFamily="34" charset="-122"/>
                <a:cs typeface="Arial" pitchFamily="34" charset="-120"/>
              </a:rPr>
              <a:t>OpenAI API key leak</a:t>
            </a:r>
            <a:endParaRPr lang="en-US" sz="1100" dirty="0"/>
          </a:p>
        </p:txBody>
      </p:sp>
      <p:sp>
        <p:nvSpPr>
          <p:cNvPr id="55" name="Shape 53"/>
          <p:cNvSpPr/>
          <p:nvPr/>
        </p:nvSpPr>
        <p:spPr>
          <a:xfrm>
            <a:off x="3200400" y="4523773"/>
            <a:ext cx="1325880" cy="530352"/>
          </a:xfrm>
          <a:prstGeom prst="rect">
            <a:avLst/>
          </a:prstGeom>
          <a:solidFill>
            <a:srgbClr val="D6F0E0"/>
          </a:solidFill>
          <a:ln w="5080">
            <a:solidFill>
              <a:srgbClr val="7ECBA1"/>
            </a:solidFill>
            <a:prstDash val="solid"/>
          </a:ln>
        </p:spPr>
        <p:txBody>
          <a:bodyPr/>
          <a:lstStyle/>
          <a:p>
            <a:endParaRPr lang="pl-PL"/>
          </a:p>
        </p:txBody>
      </p:sp>
      <p:sp>
        <p:nvSpPr>
          <p:cNvPr id="56" name="Text 54"/>
          <p:cNvSpPr/>
          <p:nvPr/>
        </p:nvSpPr>
        <p:spPr>
          <a:xfrm>
            <a:off x="3200400" y="4523773"/>
            <a:ext cx="1325880" cy="530352"/>
          </a:xfrm>
          <a:prstGeom prst="rect">
            <a:avLst/>
          </a:prstGeom>
          <a:noFill/>
          <a:ln/>
        </p:spPr>
        <p:txBody>
          <a:bodyPr wrap="square" lIns="0" tIns="0" rIns="0" bIns="0" rtlCol="0" anchor="ctr"/>
          <a:lstStyle/>
          <a:p>
            <a:pPr marL="0" indent="0" algn="ctr">
              <a:buNone/>
            </a:pPr>
            <a:r>
              <a:rPr lang="en-US" sz="1000" b="1" dirty="0">
                <a:solidFill>
                  <a:srgbClr val="1E7A4A"/>
                </a:solidFill>
                <a:latin typeface="Arial" pitchFamily="34" charset="0"/>
                <a:ea typeface="Arial" pitchFamily="34" charset="-122"/>
                <a:cs typeface="Arial" pitchFamily="34" charset="-120"/>
              </a:rPr>
              <a:t>LOW</a:t>
            </a:r>
            <a:endParaRPr lang="en-US" sz="1000" dirty="0"/>
          </a:p>
        </p:txBody>
      </p:sp>
      <p:sp>
        <p:nvSpPr>
          <p:cNvPr id="57" name="Shape 55"/>
          <p:cNvSpPr/>
          <p:nvPr/>
        </p:nvSpPr>
        <p:spPr>
          <a:xfrm>
            <a:off x="4617720" y="4523773"/>
            <a:ext cx="1097280" cy="530352"/>
          </a:xfrm>
          <a:prstGeom prst="rect">
            <a:avLst/>
          </a:prstGeom>
          <a:solidFill>
            <a:srgbClr val="D6F0E0"/>
          </a:solidFill>
          <a:ln w="5080">
            <a:solidFill>
              <a:srgbClr val="7ECBA1"/>
            </a:solidFill>
            <a:prstDash val="solid"/>
          </a:ln>
        </p:spPr>
        <p:txBody>
          <a:bodyPr/>
          <a:lstStyle/>
          <a:p>
            <a:endParaRPr lang="pl-PL"/>
          </a:p>
        </p:txBody>
      </p:sp>
      <p:sp>
        <p:nvSpPr>
          <p:cNvPr id="58" name="Text 56"/>
          <p:cNvSpPr/>
          <p:nvPr/>
        </p:nvSpPr>
        <p:spPr>
          <a:xfrm>
            <a:off x="4617720" y="4523773"/>
            <a:ext cx="1097280" cy="530352"/>
          </a:xfrm>
          <a:prstGeom prst="rect">
            <a:avLst/>
          </a:prstGeom>
          <a:noFill/>
          <a:ln/>
        </p:spPr>
        <p:txBody>
          <a:bodyPr wrap="square" lIns="0" tIns="0" rIns="0" bIns="0" rtlCol="0" anchor="ctr"/>
          <a:lstStyle/>
          <a:p>
            <a:pPr marL="0" indent="0" algn="ctr">
              <a:buNone/>
            </a:pPr>
            <a:r>
              <a:rPr lang="en-US" sz="1000" b="1" dirty="0">
                <a:solidFill>
                  <a:srgbClr val="1E7A4A"/>
                </a:solidFill>
                <a:latin typeface="Arial" pitchFamily="34" charset="0"/>
                <a:ea typeface="Arial" pitchFamily="34" charset="-122"/>
                <a:cs typeface="Arial" pitchFamily="34" charset="-120"/>
              </a:rPr>
              <a:t>LOW</a:t>
            </a:r>
            <a:endParaRPr lang="en-US" sz="1000" dirty="0"/>
          </a:p>
        </p:txBody>
      </p:sp>
      <p:sp>
        <p:nvSpPr>
          <p:cNvPr id="59" name="Shape 57"/>
          <p:cNvSpPr/>
          <p:nvPr/>
        </p:nvSpPr>
        <p:spPr>
          <a:xfrm>
            <a:off x="5760720" y="4523773"/>
            <a:ext cx="3154680" cy="530352"/>
          </a:xfrm>
          <a:prstGeom prst="rect">
            <a:avLst/>
          </a:prstGeom>
          <a:solidFill>
            <a:srgbClr val="F0F0F0"/>
          </a:solidFill>
          <a:ln w="3810">
            <a:solidFill>
              <a:srgbClr val="CCCCCC"/>
            </a:solidFill>
            <a:prstDash val="solid"/>
          </a:ln>
        </p:spPr>
        <p:txBody>
          <a:bodyPr/>
          <a:lstStyle/>
          <a:p>
            <a:endParaRPr lang="pl-PL"/>
          </a:p>
        </p:txBody>
      </p:sp>
      <p:sp>
        <p:nvSpPr>
          <p:cNvPr id="60" name="Text 58"/>
          <p:cNvSpPr/>
          <p:nvPr/>
        </p:nvSpPr>
        <p:spPr>
          <a:xfrm>
            <a:off x="5852160" y="4560349"/>
            <a:ext cx="2971800" cy="457200"/>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Spending limit in the OpenAI Console + 90-day key rotation. The image key is separate from the content key.</a:t>
            </a:r>
            <a:endParaRPr lang="en-US" sz="950" dirty="0"/>
          </a:p>
        </p:txBody>
      </p:sp>
      <p:sp>
        <p:nvSpPr>
          <p:cNvPr id="62" name="Shape 15">
            <a:extLst>
              <a:ext uri="{FF2B5EF4-FFF2-40B4-BE49-F238E27FC236}">
                <a16:creationId xmlns:a16="http://schemas.microsoft.com/office/drawing/2014/main" id="{23B71A47-8CDC-C9D1-B16E-015B5B6EB1B6}"/>
              </a:ext>
            </a:extLst>
          </p:cNvPr>
          <p:cNvSpPr/>
          <p:nvPr/>
        </p:nvSpPr>
        <p:spPr>
          <a:xfrm>
            <a:off x="4617720" y="2146333"/>
            <a:ext cx="1097280" cy="530352"/>
          </a:xfrm>
          <a:prstGeom prst="rect">
            <a:avLst/>
          </a:prstGeom>
          <a:solidFill>
            <a:srgbClr val="FEF3C7"/>
          </a:solidFill>
          <a:ln w="5080">
            <a:solidFill>
              <a:srgbClr val="FCD34D"/>
            </a:solidFill>
            <a:prstDash val="solid"/>
          </a:ln>
        </p:spPr>
        <p:txBody>
          <a:bodyPr/>
          <a:lstStyle/>
          <a:p>
            <a:endParaRPr lang="pl-PL"/>
          </a:p>
        </p:txBody>
      </p:sp>
      <p:sp>
        <p:nvSpPr>
          <p:cNvPr id="63" name="Text 16">
            <a:extLst>
              <a:ext uri="{FF2B5EF4-FFF2-40B4-BE49-F238E27FC236}">
                <a16:creationId xmlns:a16="http://schemas.microsoft.com/office/drawing/2014/main" id="{7C9E99E6-E1FA-2EBA-06B8-50B61A0293DF}"/>
              </a:ext>
            </a:extLst>
          </p:cNvPr>
          <p:cNvSpPr/>
          <p:nvPr/>
        </p:nvSpPr>
        <p:spPr>
          <a:xfrm>
            <a:off x="4617720" y="2146333"/>
            <a:ext cx="1097280" cy="530352"/>
          </a:xfrm>
          <a:prstGeom prst="rect">
            <a:avLst/>
          </a:prstGeom>
          <a:noFill/>
          <a:ln/>
        </p:spPr>
        <p:txBody>
          <a:bodyPr wrap="square" lIns="0" tIns="0" rIns="0" bIns="0" rtlCol="0" anchor="ctr"/>
          <a:lstStyle/>
          <a:p>
            <a:pPr marL="0" indent="0" algn="ctr">
              <a:buNone/>
            </a:pPr>
            <a:r>
              <a:rPr lang="en-US" sz="1000" b="1" dirty="0">
                <a:solidFill>
                  <a:srgbClr val="B45309"/>
                </a:solidFill>
                <a:latin typeface="Arial" pitchFamily="34" charset="0"/>
                <a:ea typeface="Arial" pitchFamily="34" charset="-122"/>
                <a:cs typeface="Arial" pitchFamily="34" charset="-120"/>
              </a:rPr>
              <a:t>MEDIUM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A1916"/>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F5A300"/>
          </a:solidFill>
          <a:ln w="12700">
            <a:solidFill>
              <a:srgbClr val="F5A300"/>
            </a:solidFill>
            <a:prstDash val="solid"/>
          </a:ln>
        </p:spPr>
        <p:txBody>
          <a:bodyPr/>
          <a:lstStyle/>
          <a:p>
            <a:endParaRPr lang="pl-PL"/>
          </a:p>
        </p:txBody>
      </p:sp>
      <p:sp>
        <p:nvSpPr>
          <p:cNvPr id="3" name="Text 1"/>
          <p:cNvSpPr/>
          <p:nvPr/>
        </p:nvSpPr>
        <p:spPr>
          <a:xfrm>
            <a:off x="320040" y="73152"/>
            <a:ext cx="5486400" cy="420624"/>
          </a:xfrm>
          <a:prstGeom prst="rect">
            <a:avLst/>
          </a:prstGeom>
          <a:noFill/>
          <a:ln/>
        </p:spPr>
        <p:txBody>
          <a:bodyPr wrap="square" lIns="0" tIns="0" rIns="0" bIns="0" rtlCol="0" anchor="ctr"/>
          <a:lstStyle/>
          <a:p>
            <a:pPr marL="0" indent="0">
              <a:buNone/>
            </a:pPr>
            <a:r>
              <a:rPr lang="en-US" sz="1100" b="1" kern="0" spc="500" dirty="0">
                <a:solidFill>
                  <a:srgbClr val="1A1916"/>
                </a:solidFill>
                <a:latin typeface="Arial" pitchFamily="34" charset="0"/>
                <a:ea typeface="Arial" pitchFamily="34" charset="-122"/>
                <a:cs typeface="Arial" pitchFamily="34" charset="-120"/>
              </a:rPr>
              <a:t>RECOMMENDATIONS</a:t>
            </a:r>
            <a:endParaRPr lang="en-US" sz="1100" dirty="0"/>
          </a:p>
        </p:txBody>
      </p:sp>
      <p:sp>
        <p:nvSpPr>
          <p:cNvPr id="4" name="Text 2"/>
          <p:cNvSpPr/>
          <p:nvPr/>
        </p:nvSpPr>
        <p:spPr>
          <a:xfrm>
            <a:off x="320040" y="749808"/>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Production deployment conditions</a:t>
            </a:r>
            <a:endParaRPr lang="en-US" sz="2600" dirty="0"/>
          </a:p>
        </p:txBody>
      </p:sp>
      <p:sp>
        <p:nvSpPr>
          <p:cNvPr id="5" name="Shape 3"/>
          <p:cNvSpPr/>
          <p:nvPr/>
        </p:nvSpPr>
        <p:spPr>
          <a:xfrm>
            <a:off x="228600" y="1444752"/>
            <a:ext cx="4251960" cy="1051560"/>
          </a:xfrm>
          <a:prstGeom prst="rect">
            <a:avLst/>
          </a:prstGeom>
          <a:solidFill>
            <a:srgbClr val="2A1800"/>
          </a:solidFill>
          <a:ln w="7620">
            <a:solidFill>
              <a:srgbClr val="FCD34D"/>
            </a:solidFill>
            <a:prstDash val="solid"/>
          </a:ln>
          <a:effectLst>
            <a:outerShdw blurRad="63500" dist="25400" dir="8100000" algn="bl" rotWithShape="0">
              <a:srgbClr val="000000">
                <a:alpha val="9000"/>
              </a:srgbClr>
            </a:outerShdw>
          </a:effectLst>
        </p:spPr>
        <p:txBody>
          <a:bodyPr/>
          <a:lstStyle/>
          <a:p>
            <a:endParaRPr lang="pl-PL"/>
          </a:p>
        </p:txBody>
      </p:sp>
      <p:sp>
        <p:nvSpPr>
          <p:cNvPr id="6" name="Shape 4"/>
          <p:cNvSpPr/>
          <p:nvPr/>
        </p:nvSpPr>
        <p:spPr>
          <a:xfrm>
            <a:off x="338328" y="1554480"/>
            <a:ext cx="274320" cy="274320"/>
          </a:xfrm>
          <a:prstGeom prst="ellipse">
            <a:avLst/>
          </a:prstGeom>
          <a:solidFill>
            <a:srgbClr val="B45309"/>
          </a:solidFill>
          <a:ln w="12700">
            <a:solidFill>
              <a:srgbClr val="B45309"/>
            </a:solidFill>
            <a:prstDash val="solid"/>
          </a:ln>
        </p:spPr>
        <p:txBody>
          <a:bodyPr/>
          <a:lstStyle/>
          <a:p>
            <a:endParaRPr lang="pl-PL"/>
          </a:p>
        </p:txBody>
      </p:sp>
      <p:sp>
        <p:nvSpPr>
          <p:cNvPr id="7" name="Text 5"/>
          <p:cNvSpPr/>
          <p:nvPr/>
        </p:nvSpPr>
        <p:spPr>
          <a:xfrm>
            <a:off x="338328" y="15544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722376" y="1536192"/>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Anthropic company account</a:t>
            </a:r>
            <a:endParaRPr lang="en-US" sz="1200" dirty="0"/>
          </a:p>
        </p:txBody>
      </p:sp>
      <p:sp>
        <p:nvSpPr>
          <p:cNvPr id="9" name="Text 7"/>
          <p:cNvSpPr/>
          <p:nvPr/>
        </p:nvSpPr>
        <p:spPr>
          <a:xfrm>
            <a:off x="3657600" y="1536192"/>
            <a:ext cx="749808" cy="256032"/>
          </a:xfrm>
          <a:prstGeom prst="rect">
            <a:avLst/>
          </a:prstGeom>
          <a:noFill/>
          <a:ln/>
        </p:spPr>
        <p:txBody>
          <a:bodyPr wrap="square" lIns="0" tIns="0" rIns="0" bIns="0" rtlCol="0" anchor="ctr"/>
          <a:lstStyle/>
          <a:p>
            <a:pPr marL="0" indent="0" algn="r">
              <a:buNone/>
            </a:pPr>
            <a:r>
              <a:rPr lang="en-US" sz="800" b="1" dirty="0">
                <a:solidFill>
                  <a:srgbClr val="F5A300"/>
                </a:solidFill>
                <a:latin typeface="Arial" pitchFamily="34" charset="0"/>
                <a:ea typeface="Arial" pitchFamily="34" charset="-122"/>
                <a:cs typeface="Arial" pitchFamily="34" charset="-120"/>
              </a:rPr>
              <a:t>REQUIRED</a:t>
            </a:r>
            <a:endParaRPr lang="en-US" sz="800" dirty="0"/>
          </a:p>
        </p:txBody>
      </p:sp>
      <p:sp>
        <p:nvSpPr>
          <p:cNvPr id="10" name="Text 8"/>
          <p:cNvSpPr/>
          <p:nvPr/>
        </p:nvSpPr>
        <p:spPr>
          <a:xfrm>
            <a:off x="338328" y="1856232"/>
            <a:ext cx="4023360" cy="566928"/>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An organization in console.anthropic.com with a company payment card. Key on the organization account, not a private one.</a:t>
            </a:r>
            <a:endParaRPr lang="en-US" sz="1000" dirty="0"/>
          </a:p>
        </p:txBody>
      </p:sp>
      <p:sp>
        <p:nvSpPr>
          <p:cNvPr id="11" name="Shape 9"/>
          <p:cNvSpPr/>
          <p:nvPr/>
        </p:nvSpPr>
        <p:spPr>
          <a:xfrm>
            <a:off x="4690872" y="1444752"/>
            <a:ext cx="4251960" cy="1051560"/>
          </a:xfrm>
          <a:prstGeom prst="rect">
            <a:avLst/>
          </a:prstGeom>
          <a:solidFill>
            <a:srgbClr val="2A1800"/>
          </a:solidFill>
          <a:ln w="7620">
            <a:solidFill>
              <a:srgbClr val="FCD34D"/>
            </a:solidFill>
            <a:prstDash val="solid"/>
          </a:ln>
          <a:effectLst>
            <a:outerShdw blurRad="63500" dist="25400" dir="8100000" algn="bl" rotWithShape="0">
              <a:srgbClr val="000000">
                <a:alpha val="9000"/>
              </a:srgbClr>
            </a:outerShdw>
          </a:effectLst>
        </p:spPr>
        <p:txBody>
          <a:bodyPr/>
          <a:lstStyle/>
          <a:p>
            <a:endParaRPr lang="pl-PL"/>
          </a:p>
        </p:txBody>
      </p:sp>
      <p:sp>
        <p:nvSpPr>
          <p:cNvPr id="12" name="Shape 10"/>
          <p:cNvSpPr/>
          <p:nvPr/>
        </p:nvSpPr>
        <p:spPr>
          <a:xfrm>
            <a:off x="4800600" y="1554480"/>
            <a:ext cx="274320" cy="274320"/>
          </a:xfrm>
          <a:prstGeom prst="ellipse">
            <a:avLst/>
          </a:prstGeom>
          <a:solidFill>
            <a:srgbClr val="B45309"/>
          </a:solidFill>
          <a:ln w="12700">
            <a:solidFill>
              <a:srgbClr val="B45309"/>
            </a:solidFill>
            <a:prstDash val="solid"/>
          </a:ln>
        </p:spPr>
        <p:txBody>
          <a:bodyPr/>
          <a:lstStyle/>
          <a:p>
            <a:endParaRPr lang="pl-PL"/>
          </a:p>
        </p:txBody>
      </p:sp>
      <p:sp>
        <p:nvSpPr>
          <p:cNvPr id="13" name="Text 11"/>
          <p:cNvSpPr/>
          <p:nvPr/>
        </p:nvSpPr>
        <p:spPr>
          <a:xfrm>
            <a:off x="4800600" y="15544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2"/>
          <p:cNvSpPr/>
          <p:nvPr/>
        </p:nvSpPr>
        <p:spPr>
          <a:xfrm>
            <a:off x="5184648" y="1536192"/>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Azure hosting or file sharing</a:t>
            </a:r>
            <a:endParaRPr lang="en-US" sz="1200" dirty="0"/>
          </a:p>
        </p:txBody>
      </p:sp>
      <p:sp>
        <p:nvSpPr>
          <p:cNvPr id="15" name="Text 13"/>
          <p:cNvSpPr/>
          <p:nvPr/>
        </p:nvSpPr>
        <p:spPr>
          <a:xfrm>
            <a:off x="8119872" y="1536192"/>
            <a:ext cx="749808" cy="256032"/>
          </a:xfrm>
          <a:prstGeom prst="rect">
            <a:avLst/>
          </a:prstGeom>
          <a:noFill/>
          <a:ln/>
        </p:spPr>
        <p:txBody>
          <a:bodyPr wrap="square" lIns="0" tIns="0" rIns="0" bIns="0" rtlCol="0" anchor="ctr"/>
          <a:lstStyle/>
          <a:p>
            <a:pPr marL="0" indent="0" algn="r">
              <a:buNone/>
            </a:pPr>
            <a:r>
              <a:rPr lang="en-US" sz="800" b="1" dirty="0">
                <a:solidFill>
                  <a:srgbClr val="F5A300"/>
                </a:solidFill>
                <a:latin typeface="Arial" pitchFamily="34" charset="0"/>
                <a:ea typeface="Arial" pitchFamily="34" charset="-122"/>
                <a:cs typeface="Arial" pitchFamily="34" charset="-120"/>
              </a:rPr>
              <a:t>REQUIRED</a:t>
            </a:r>
            <a:endParaRPr lang="en-US" sz="800" dirty="0"/>
          </a:p>
        </p:txBody>
      </p:sp>
      <p:sp>
        <p:nvSpPr>
          <p:cNvPr id="16" name="Text 14"/>
          <p:cNvSpPr/>
          <p:nvPr/>
        </p:nvSpPr>
        <p:spPr>
          <a:xfrm>
            <a:off x="4800600" y="1856232"/>
            <a:ext cx="4023360" cy="566928"/>
          </a:xfrm>
          <a:prstGeom prst="rect">
            <a:avLst/>
          </a:prstGeom>
          <a:noFill/>
          <a:ln/>
        </p:spPr>
        <p:txBody>
          <a:bodyPr wrap="square" lIns="0" tIns="0" rIns="0" bIns="0" rtlCol="0" anchor="ctr"/>
          <a:lstStyle/>
          <a:p>
            <a:pPr marL="0" indent="0">
              <a:buNone/>
            </a:pPr>
            <a:r>
              <a:rPr lang="pl-PL" sz="1000" dirty="0">
                <a:solidFill>
                  <a:srgbClr val="AAAAAA"/>
                </a:solidFill>
                <a:latin typeface="Arial" pitchFamily="34" charset="0"/>
                <a:ea typeface="Arial" pitchFamily="34" charset="-122"/>
                <a:cs typeface="Arial" pitchFamily="34" charset="-120"/>
              </a:rPr>
              <a:t>The admin prepares a separate HTML file per user with their API key already built in. The user just opens the file - zero configuration. NOT publicly.</a:t>
            </a:r>
          </a:p>
        </p:txBody>
      </p:sp>
      <p:sp>
        <p:nvSpPr>
          <p:cNvPr id="17" name="Shape 15"/>
          <p:cNvSpPr/>
          <p:nvPr/>
        </p:nvSpPr>
        <p:spPr>
          <a:xfrm>
            <a:off x="228600" y="2615184"/>
            <a:ext cx="4251960" cy="1051560"/>
          </a:xfrm>
          <a:prstGeom prst="rect">
            <a:avLst/>
          </a:prstGeom>
          <a:solidFill>
            <a:srgbClr val="2A1800"/>
          </a:solidFill>
          <a:ln w="7620">
            <a:solidFill>
              <a:srgbClr val="FCD34D"/>
            </a:solidFill>
            <a:prstDash val="solid"/>
          </a:ln>
          <a:effectLst>
            <a:outerShdw blurRad="63500" dist="25400" dir="8100000" algn="bl" rotWithShape="0">
              <a:srgbClr val="000000">
                <a:alpha val="9000"/>
              </a:srgbClr>
            </a:outerShdw>
          </a:effectLst>
        </p:spPr>
        <p:txBody>
          <a:bodyPr/>
          <a:lstStyle/>
          <a:p>
            <a:endParaRPr lang="pl-PL"/>
          </a:p>
        </p:txBody>
      </p:sp>
      <p:sp>
        <p:nvSpPr>
          <p:cNvPr id="18" name="Shape 16"/>
          <p:cNvSpPr/>
          <p:nvPr/>
        </p:nvSpPr>
        <p:spPr>
          <a:xfrm>
            <a:off x="338328" y="2724912"/>
            <a:ext cx="274320" cy="274320"/>
          </a:xfrm>
          <a:prstGeom prst="ellipse">
            <a:avLst/>
          </a:prstGeom>
          <a:solidFill>
            <a:srgbClr val="B45309"/>
          </a:solidFill>
          <a:ln w="12700">
            <a:solidFill>
              <a:srgbClr val="B45309"/>
            </a:solidFill>
            <a:prstDash val="solid"/>
          </a:ln>
        </p:spPr>
        <p:txBody>
          <a:bodyPr/>
          <a:lstStyle/>
          <a:p>
            <a:endParaRPr lang="pl-PL"/>
          </a:p>
        </p:txBody>
      </p:sp>
      <p:sp>
        <p:nvSpPr>
          <p:cNvPr id="19" name="Text 17"/>
          <p:cNvSpPr/>
          <p:nvPr/>
        </p:nvSpPr>
        <p:spPr>
          <a:xfrm>
            <a:off x="338328" y="27249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722376" y="2706624"/>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API cost limit</a:t>
            </a:r>
            <a:endParaRPr lang="en-US" sz="1200" dirty="0"/>
          </a:p>
        </p:txBody>
      </p:sp>
      <p:sp>
        <p:nvSpPr>
          <p:cNvPr id="21" name="Text 19"/>
          <p:cNvSpPr/>
          <p:nvPr/>
        </p:nvSpPr>
        <p:spPr>
          <a:xfrm>
            <a:off x="3657600" y="2706624"/>
            <a:ext cx="749808" cy="256032"/>
          </a:xfrm>
          <a:prstGeom prst="rect">
            <a:avLst/>
          </a:prstGeom>
          <a:noFill/>
          <a:ln/>
        </p:spPr>
        <p:txBody>
          <a:bodyPr wrap="square" lIns="0" tIns="0" rIns="0" bIns="0" rtlCol="0" anchor="ctr"/>
          <a:lstStyle/>
          <a:p>
            <a:pPr marL="0" indent="0" algn="r">
              <a:buNone/>
            </a:pPr>
            <a:r>
              <a:rPr lang="en-US" sz="800" b="1" dirty="0">
                <a:solidFill>
                  <a:srgbClr val="F5A300"/>
                </a:solidFill>
                <a:latin typeface="Arial" pitchFamily="34" charset="0"/>
                <a:ea typeface="Arial" pitchFamily="34" charset="-122"/>
                <a:cs typeface="Arial" pitchFamily="34" charset="-120"/>
              </a:rPr>
              <a:t>REQUIRED</a:t>
            </a:r>
            <a:endParaRPr lang="en-US" sz="800" dirty="0"/>
          </a:p>
        </p:txBody>
      </p:sp>
      <p:sp>
        <p:nvSpPr>
          <p:cNvPr id="22" name="Text 20"/>
          <p:cNvSpPr/>
          <p:nvPr/>
        </p:nvSpPr>
        <p:spPr>
          <a:xfrm>
            <a:off x="338328" y="3026664"/>
            <a:ext cx="4023360" cy="566928"/>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A monthly hard limit of $100 on the Anthropic account + email alert at 80% usage.</a:t>
            </a:r>
            <a:endParaRPr lang="en-US" sz="1000" dirty="0"/>
          </a:p>
        </p:txBody>
      </p:sp>
      <p:sp>
        <p:nvSpPr>
          <p:cNvPr id="23" name="Shape 21"/>
          <p:cNvSpPr/>
          <p:nvPr/>
        </p:nvSpPr>
        <p:spPr>
          <a:xfrm>
            <a:off x="4690872" y="2615184"/>
            <a:ext cx="4251960" cy="1051560"/>
          </a:xfrm>
          <a:prstGeom prst="rect">
            <a:avLst/>
          </a:prstGeom>
          <a:solidFill>
            <a:srgbClr val="1A2A1A"/>
          </a:solidFill>
          <a:ln w="7620">
            <a:solidFill>
              <a:srgbClr val="7ECBA1"/>
            </a:solidFill>
            <a:prstDash val="solid"/>
          </a:ln>
          <a:effectLst>
            <a:outerShdw blurRad="63500" dist="25400" dir="8100000" algn="bl" rotWithShape="0">
              <a:srgbClr val="000000">
                <a:alpha val="9000"/>
              </a:srgbClr>
            </a:outerShdw>
          </a:effectLst>
        </p:spPr>
        <p:txBody>
          <a:bodyPr/>
          <a:lstStyle/>
          <a:p>
            <a:endParaRPr lang="pl-PL"/>
          </a:p>
        </p:txBody>
      </p:sp>
      <p:sp>
        <p:nvSpPr>
          <p:cNvPr id="24" name="Shape 22"/>
          <p:cNvSpPr/>
          <p:nvPr/>
        </p:nvSpPr>
        <p:spPr>
          <a:xfrm>
            <a:off x="4800600" y="2724912"/>
            <a:ext cx="274320" cy="274320"/>
          </a:xfrm>
          <a:prstGeom prst="ellipse">
            <a:avLst/>
          </a:prstGeom>
          <a:solidFill>
            <a:srgbClr val="1E7A4A"/>
          </a:solidFill>
          <a:ln w="12700">
            <a:solidFill>
              <a:srgbClr val="1E7A4A"/>
            </a:solidFill>
            <a:prstDash val="solid"/>
          </a:ln>
        </p:spPr>
        <p:txBody>
          <a:bodyPr/>
          <a:lstStyle/>
          <a:p>
            <a:endParaRPr lang="pl-PL"/>
          </a:p>
        </p:txBody>
      </p:sp>
      <p:sp>
        <p:nvSpPr>
          <p:cNvPr id="25" name="Text 23"/>
          <p:cNvSpPr/>
          <p:nvPr/>
        </p:nvSpPr>
        <p:spPr>
          <a:xfrm>
            <a:off x="4800600" y="27249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6" name="Text 24"/>
          <p:cNvSpPr/>
          <p:nvPr/>
        </p:nvSpPr>
        <p:spPr>
          <a:xfrm>
            <a:off x="5184648" y="2706624"/>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management by the admin</a:t>
            </a:r>
            <a:endParaRPr lang="en-US" sz="1200" dirty="0"/>
          </a:p>
        </p:txBody>
      </p:sp>
      <p:sp>
        <p:nvSpPr>
          <p:cNvPr id="27" name="Text 25"/>
          <p:cNvSpPr/>
          <p:nvPr/>
        </p:nvSpPr>
        <p:spPr>
          <a:xfrm>
            <a:off x="8119872" y="2706624"/>
            <a:ext cx="749808" cy="256032"/>
          </a:xfrm>
          <a:prstGeom prst="rect">
            <a:avLst/>
          </a:prstGeom>
          <a:noFill/>
          <a:ln/>
        </p:spPr>
        <p:txBody>
          <a:bodyPr wrap="square" lIns="0" tIns="0" rIns="0" bIns="0" rtlCol="0" anchor="ctr"/>
          <a:lstStyle/>
          <a:p>
            <a:pPr marL="0" indent="0" algn="r">
              <a:buNone/>
            </a:pPr>
            <a:r>
              <a:rPr lang="en-US" sz="800" b="1" dirty="0">
                <a:solidFill>
                  <a:srgbClr val="7ECBA1"/>
                </a:solidFill>
                <a:latin typeface="Arial" pitchFamily="34" charset="0"/>
                <a:ea typeface="Arial" pitchFamily="34" charset="-122"/>
                <a:cs typeface="Arial" pitchFamily="34" charset="-120"/>
              </a:rPr>
              <a:t>RECOMMENDED</a:t>
            </a:r>
            <a:endParaRPr lang="en-US" sz="800" dirty="0"/>
          </a:p>
        </p:txBody>
      </p:sp>
      <p:sp>
        <p:nvSpPr>
          <p:cNvPr id="28" name="Text 26"/>
          <p:cNvSpPr/>
          <p:nvPr/>
        </p:nvSpPr>
        <p:spPr>
          <a:xfrm>
            <a:off x="4800600" y="3026664"/>
            <a:ext cx="4023360" cy="566928"/>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The admin manages keys per person from console.anthropic.com. Deactivation in 1 click when an employee leaves. Rotation every 90 days.</a:t>
            </a:r>
            <a:endParaRPr lang="en-US" sz="1000" dirty="0"/>
          </a:p>
        </p:txBody>
      </p:sp>
      <p:sp>
        <p:nvSpPr>
          <p:cNvPr id="29" name="Shape 27"/>
          <p:cNvSpPr/>
          <p:nvPr/>
        </p:nvSpPr>
        <p:spPr>
          <a:xfrm>
            <a:off x="228600" y="3785616"/>
            <a:ext cx="4251960" cy="1051560"/>
          </a:xfrm>
          <a:prstGeom prst="rect">
            <a:avLst/>
          </a:prstGeom>
          <a:solidFill>
            <a:srgbClr val="1A2A1A"/>
          </a:solidFill>
          <a:ln w="7620">
            <a:solidFill>
              <a:srgbClr val="7ECBA1"/>
            </a:solidFill>
            <a:prstDash val="solid"/>
          </a:ln>
          <a:effectLst>
            <a:outerShdw blurRad="63500" dist="25400" dir="8100000" algn="bl" rotWithShape="0">
              <a:srgbClr val="000000">
                <a:alpha val="9000"/>
              </a:srgbClr>
            </a:outerShdw>
          </a:effectLst>
        </p:spPr>
        <p:txBody>
          <a:bodyPr/>
          <a:lstStyle/>
          <a:p>
            <a:endParaRPr lang="pl-PL"/>
          </a:p>
        </p:txBody>
      </p:sp>
      <p:sp>
        <p:nvSpPr>
          <p:cNvPr id="30" name="Shape 28"/>
          <p:cNvSpPr/>
          <p:nvPr/>
        </p:nvSpPr>
        <p:spPr>
          <a:xfrm>
            <a:off x="338328" y="3895344"/>
            <a:ext cx="274320" cy="274320"/>
          </a:xfrm>
          <a:prstGeom prst="ellipse">
            <a:avLst/>
          </a:prstGeom>
          <a:solidFill>
            <a:srgbClr val="1E7A4A"/>
          </a:solidFill>
          <a:ln w="12700">
            <a:solidFill>
              <a:srgbClr val="1E7A4A"/>
            </a:solidFill>
            <a:prstDash val="solid"/>
          </a:ln>
        </p:spPr>
        <p:txBody>
          <a:bodyPr/>
          <a:lstStyle/>
          <a:p>
            <a:endParaRPr lang="pl-PL"/>
          </a:p>
        </p:txBody>
      </p:sp>
      <p:sp>
        <p:nvSpPr>
          <p:cNvPr id="31" name="Text 29"/>
          <p:cNvSpPr/>
          <p:nvPr/>
        </p:nvSpPr>
        <p:spPr>
          <a:xfrm>
            <a:off x="338328" y="389534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2" name="Text 30"/>
          <p:cNvSpPr/>
          <p:nvPr/>
        </p:nvSpPr>
        <p:spPr>
          <a:xfrm>
            <a:off x="722376" y="3877056"/>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Usage policy</a:t>
            </a:r>
            <a:endParaRPr lang="en-US" sz="1200" dirty="0"/>
          </a:p>
        </p:txBody>
      </p:sp>
      <p:sp>
        <p:nvSpPr>
          <p:cNvPr id="33" name="Text 31"/>
          <p:cNvSpPr/>
          <p:nvPr/>
        </p:nvSpPr>
        <p:spPr>
          <a:xfrm>
            <a:off x="3657600" y="3877056"/>
            <a:ext cx="749808" cy="256032"/>
          </a:xfrm>
          <a:prstGeom prst="rect">
            <a:avLst/>
          </a:prstGeom>
          <a:noFill/>
          <a:ln/>
        </p:spPr>
        <p:txBody>
          <a:bodyPr wrap="square" lIns="0" tIns="0" rIns="0" bIns="0" rtlCol="0" anchor="ctr"/>
          <a:lstStyle/>
          <a:p>
            <a:pPr marL="0" indent="0" algn="r">
              <a:buNone/>
            </a:pPr>
            <a:r>
              <a:rPr lang="en-US" sz="800" b="1" dirty="0">
                <a:solidFill>
                  <a:srgbClr val="7ECBA1"/>
                </a:solidFill>
                <a:latin typeface="Arial" pitchFamily="34" charset="0"/>
                <a:ea typeface="Arial" pitchFamily="34" charset="-122"/>
                <a:cs typeface="Arial" pitchFamily="34" charset="-120"/>
              </a:rPr>
              <a:t>RECOMMENDED</a:t>
            </a:r>
            <a:endParaRPr lang="en-US" sz="800" dirty="0"/>
          </a:p>
        </p:txBody>
      </p:sp>
      <p:sp>
        <p:nvSpPr>
          <p:cNvPr id="34" name="Text 32"/>
          <p:cNvSpPr/>
          <p:nvPr/>
        </p:nvSpPr>
        <p:spPr>
          <a:xfrm>
            <a:off x="338328" y="4197096"/>
            <a:ext cx="4023360" cy="566928"/>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No uploading documents containing Content AI customers' personal data into the knowledge base.</a:t>
            </a:r>
            <a:endParaRPr lang="en-US" sz="1000" dirty="0"/>
          </a:p>
        </p:txBody>
      </p:sp>
      <p:sp>
        <p:nvSpPr>
          <p:cNvPr id="35" name="Shape 33"/>
          <p:cNvSpPr/>
          <p:nvPr/>
        </p:nvSpPr>
        <p:spPr>
          <a:xfrm>
            <a:off x="4690872" y="3785616"/>
            <a:ext cx="4251960" cy="1051560"/>
          </a:xfrm>
          <a:prstGeom prst="rect">
            <a:avLst/>
          </a:prstGeom>
          <a:solidFill>
            <a:srgbClr val="1A2A1A"/>
          </a:solidFill>
          <a:ln w="7620">
            <a:solidFill>
              <a:srgbClr val="7ECBA1"/>
            </a:solidFill>
            <a:prstDash val="solid"/>
          </a:ln>
          <a:effectLst>
            <a:outerShdw blurRad="63500" dist="25400" dir="8100000" algn="bl" rotWithShape="0">
              <a:srgbClr val="000000">
                <a:alpha val="9000"/>
              </a:srgbClr>
            </a:outerShdw>
          </a:effectLst>
        </p:spPr>
        <p:txBody>
          <a:bodyPr/>
          <a:lstStyle/>
          <a:p>
            <a:endParaRPr lang="pl-PL"/>
          </a:p>
        </p:txBody>
      </p:sp>
      <p:sp>
        <p:nvSpPr>
          <p:cNvPr id="36" name="Shape 34"/>
          <p:cNvSpPr/>
          <p:nvPr/>
        </p:nvSpPr>
        <p:spPr>
          <a:xfrm>
            <a:off x="4800600" y="3895344"/>
            <a:ext cx="274320" cy="274320"/>
          </a:xfrm>
          <a:prstGeom prst="ellipse">
            <a:avLst/>
          </a:prstGeom>
          <a:solidFill>
            <a:srgbClr val="1E7A4A"/>
          </a:solidFill>
          <a:ln w="12700">
            <a:solidFill>
              <a:srgbClr val="1E7A4A"/>
            </a:solidFill>
            <a:prstDash val="solid"/>
          </a:ln>
        </p:spPr>
        <p:txBody>
          <a:bodyPr/>
          <a:lstStyle/>
          <a:p>
            <a:endParaRPr lang="pl-PL"/>
          </a:p>
        </p:txBody>
      </p:sp>
      <p:sp>
        <p:nvSpPr>
          <p:cNvPr id="37" name="Text 35"/>
          <p:cNvSpPr/>
          <p:nvPr/>
        </p:nvSpPr>
        <p:spPr>
          <a:xfrm>
            <a:off x="4800600" y="389534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8" name="Text 36"/>
          <p:cNvSpPr/>
          <p:nvPr/>
        </p:nvSpPr>
        <p:spPr>
          <a:xfrm>
            <a:off x="5184648" y="3877056"/>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Option B: keys per person</a:t>
            </a:r>
            <a:endParaRPr lang="en-US" sz="1200" dirty="0"/>
          </a:p>
        </p:txBody>
      </p:sp>
      <p:sp>
        <p:nvSpPr>
          <p:cNvPr id="39" name="Text 37"/>
          <p:cNvSpPr/>
          <p:nvPr/>
        </p:nvSpPr>
        <p:spPr>
          <a:xfrm>
            <a:off x="8119872" y="3877056"/>
            <a:ext cx="749808" cy="256032"/>
          </a:xfrm>
          <a:prstGeom prst="rect">
            <a:avLst/>
          </a:prstGeom>
          <a:noFill/>
          <a:ln/>
        </p:spPr>
        <p:txBody>
          <a:bodyPr wrap="square" lIns="0" tIns="0" rIns="0" bIns="0" rtlCol="0" anchor="ctr"/>
          <a:lstStyle/>
          <a:p>
            <a:pPr marL="0" indent="0" algn="r">
              <a:buNone/>
            </a:pPr>
            <a:r>
              <a:rPr lang="en-US" sz="800" b="1" dirty="0">
                <a:solidFill>
                  <a:srgbClr val="7ECBA1"/>
                </a:solidFill>
                <a:latin typeface="Arial" pitchFamily="34" charset="0"/>
                <a:ea typeface="Arial" pitchFamily="34" charset="-122"/>
                <a:cs typeface="Arial" pitchFamily="34" charset="-120"/>
              </a:rPr>
              <a:t>RECOMMENDED</a:t>
            </a:r>
            <a:endParaRPr lang="en-US" sz="800" dirty="0"/>
          </a:p>
        </p:txBody>
      </p:sp>
      <p:sp>
        <p:nvSpPr>
          <p:cNvPr id="40" name="Text 38"/>
          <p:cNvSpPr/>
          <p:nvPr/>
        </p:nvSpPr>
        <p:spPr>
          <a:xfrm>
            <a:off x="4800600" y="4197096"/>
            <a:ext cx="4023360" cy="566928"/>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 xml:space="preserve">As the number of </a:t>
            </a:r>
            <a:r>
              <a:rPr lang="en-US" sz="1000" dirty="0" err="1">
                <a:solidFill>
                  <a:srgbClr val="AAAAAA"/>
                </a:solidFill>
                <a:latin typeface="Arial" pitchFamily="34" charset="0"/>
                <a:ea typeface="Arial" pitchFamily="34" charset="-122"/>
                <a:cs typeface="Arial" pitchFamily="34" charset="-120"/>
              </a:rPr>
              <a:t>users grows</a:t>
            </a:r>
            <a:r>
              <a:rPr lang="en-US" sz="1000" dirty="0">
                <a:solidFill>
                  <a:srgbClr val="AAAAAA"/>
                </a:solidFill>
                <a:latin typeface="Arial" pitchFamily="34" charset="0"/>
                <a:ea typeface="Arial" pitchFamily="34" charset="-122"/>
                <a:cs typeface="Arial" pitchFamily="34" charset="-120"/>
              </a:rPr>
              <a:t xml:space="preserve"> </a:t>
            </a:r>
            <a:r>
              <a:rPr lang="pl-PL" sz="1000" dirty="0">
                <a:solidFill>
                  <a:srgbClr val="AAAAAA"/>
                </a:solidFill>
                <a:latin typeface="Arial" pitchFamily="34" charset="0"/>
                <a:ea typeface="Arial" pitchFamily="34" charset="-122"/>
                <a:cs typeface="Arial" pitchFamily="34" charset="-120"/>
              </a:rPr>
              <a:t xml:space="preserve">- </a:t>
            </a:r>
            <a:r>
              <a:rPr lang="en-US" sz="1000" dirty="0" err="1">
                <a:solidFill>
                  <a:srgbClr val="AAAAAA"/>
                </a:solidFill>
                <a:latin typeface="Arial" pitchFamily="34" charset="0"/>
                <a:ea typeface="Arial" pitchFamily="34" charset="-122"/>
                <a:cs typeface="Arial" pitchFamily="34" charset="-120"/>
              </a:rPr>
              <a:t>each</a:t>
            </a:r>
            <a:r>
              <a:rPr lang="en-US" sz="1000" dirty="0">
                <a:solidFill>
                  <a:srgbClr val="AAAAAA"/>
                </a:solidFill>
                <a:latin typeface="Arial" pitchFamily="34" charset="0"/>
                <a:ea typeface="Arial" pitchFamily="34" charset="-122"/>
                <a:cs typeface="Arial" pitchFamily="34" charset="-120"/>
              </a:rPr>
              <a:t xml:space="preserve"> person with their own API key for full auditability.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594360"/>
          </a:xfrm>
          <a:prstGeom prst="rect">
            <a:avLst/>
          </a:prstGeom>
          <a:solidFill>
            <a:srgbClr val="1A1916"/>
          </a:solidFill>
          <a:ln/>
        </p:spPr>
        <p:txBody>
          <a:bodyPr wrap="square" lIns="0" tIns="0" rIns="0" bIns="0" rtlCol="0" anchor="ctr"/>
          <a:lstStyle/>
          <a:p>
            <a:endParaRPr lang="pl-PL"/>
          </a:p>
        </p:txBody>
      </p:sp>
      <p:sp>
        <p:nvSpPr>
          <p:cNvPr id="3" name="section"/>
          <p:cNvSpPr/>
          <p:nvPr/>
        </p:nvSpPr>
        <p:spPr>
          <a:xfrm>
            <a:off x="320040" y="73152"/>
            <a:ext cx="4572000" cy="420624"/>
          </a:xfrm>
          <a:prstGeom prst="rect">
            <a:avLst/>
          </a:prstGeom>
          <a:noFill/>
          <a:ln/>
        </p:spPr>
        <p:txBody>
          <a:bodyPr wrap="square" lIns="0" tIns="0" rIns="0" bIns="0" rtlCol="0" anchor="ctr"/>
          <a:lstStyle/>
          <a:p>
            <a:pPr marL="0" indent="0">
              <a:buNone/>
            </a:pPr>
            <a:r>
              <a:rPr lang="en-US" sz="1100" b="1" spc="500" dirty="0">
                <a:solidFill>
                  <a:srgbClr val="F5A300"/>
                </a:solidFill>
                <a:latin typeface="Arial" pitchFamily="34" charset="0"/>
                <a:ea typeface="Arial" pitchFamily="34" charset="-122"/>
                <a:cs typeface="Arial" pitchFamily="34" charset="-120"/>
              </a:rPr>
              <a:t>CODE PROTECTION</a:t>
            </a:r>
            <a:endParaRPr lang="en-US" sz="1100" dirty="0"/>
          </a:p>
        </p:txBody>
      </p:sp>
      <p:sp>
        <p:nvSpPr>
          <p:cNvPr id="4" name="title"/>
          <p:cNvSpPr/>
          <p:nvPr/>
        </p:nvSpPr>
        <p:spPr>
          <a:xfrm>
            <a:off x="320040" y="749808"/>
            <a:ext cx="8503920" cy="54864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JS obfuscation and three distribution levels</a:t>
            </a:r>
            <a:endParaRPr lang="en-US" sz="2600" dirty="0"/>
          </a:p>
        </p:txBody>
      </p:sp>
      <p:sp>
        <p:nvSpPr>
          <p:cNvPr id="5" name="card_bg"/>
          <p:cNvSpPr/>
          <p:nvPr/>
        </p:nvSpPr>
        <p:spPr>
          <a:xfrm>
            <a:off x="182040" y="1453896"/>
            <a:ext cx="2743200" cy="1920240"/>
          </a:xfrm>
          <a:prstGeom prst="rect">
            <a:avLst/>
          </a:prstGeom>
          <a:solidFill>
            <a:srgbClr val="DBEAFE"/>
          </a:solidFill>
          <a:ln w="8890">
            <a:solidFill>
              <a:srgbClr val="93C5FD"/>
            </a:solidFill>
            <a:prstDash val="solid"/>
          </a:ln>
          <a:effectLst>
            <a:outerShdw blurRad="63500" dist="25400" dir="8100000" algn="bl" rotWithShape="0">
              <a:srgbClr val="000000">
                <a:alpha val="7000"/>
              </a:srgbClr>
            </a:outerShdw>
          </a:effectLst>
        </p:spPr>
        <p:txBody>
          <a:bodyPr/>
          <a:lstStyle/>
          <a:p>
            <a:endParaRPr lang="pl-PL"/>
          </a:p>
        </p:txBody>
      </p:sp>
      <p:sp>
        <p:nvSpPr>
          <p:cNvPr id="6" name="icon"/>
          <p:cNvSpPr/>
          <p:nvPr/>
        </p:nvSpPr>
        <p:spPr>
          <a:xfrm>
            <a:off x="182040" y="1545336"/>
            <a:ext cx="2743200" cy="457200"/>
          </a:xfrm>
          <a:prstGeom prst="rect">
            <a:avLst/>
          </a:prstGeom>
          <a:noFill/>
          <a:ln/>
        </p:spPr>
        <p:txBody>
          <a:bodyPr wrap="square" lIns="0" tIns="0" rIns="0" bIns="0" rtlCol="0" anchor="ctr"/>
          <a:lstStyle/>
          <a:p>
            <a:pPr marL="0" indent="0" algn="ctr">
              <a:buNone/>
            </a:pPr>
            <a:r>
              <a:rPr lang="en-US" sz="2400" dirty="0">
                <a:solidFill>
                  <a:srgbClr val="1A1916"/>
                </a:solidFill>
                <a:latin typeface="Arial" pitchFamily="34" charset="0"/>
                <a:ea typeface="Arial" pitchFamily="34" charset="-122"/>
                <a:cs typeface="Arial" pitchFamily="34" charset="-120"/>
              </a:rPr>
              <a:t>👨‍💻</a:t>
            </a:r>
            <a:endParaRPr lang="en-US" sz="2400" dirty="0"/>
          </a:p>
        </p:txBody>
      </p:sp>
      <p:sp>
        <p:nvSpPr>
          <p:cNvPr id="7" name="card_hdr"/>
          <p:cNvSpPr/>
          <p:nvPr/>
        </p:nvSpPr>
        <p:spPr>
          <a:xfrm>
            <a:off x="273480" y="2002536"/>
            <a:ext cx="2560320" cy="365760"/>
          </a:xfrm>
          <a:prstGeom prst="rect">
            <a:avLst/>
          </a:prstGeom>
          <a:noFill/>
          <a:ln/>
        </p:spPr>
        <p:txBody>
          <a:bodyPr wrap="square" lIns="0" tIns="0" rIns="0" bIns="0" rtlCol="0" anchor="ctr"/>
          <a:lstStyle/>
          <a:p>
            <a:pPr marL="0" indent="0" algn="ctr">
              <a:buNone/>
            </a:pPr>
            <a:r>
              <a:rPr lang="en-US" sz="1200" b="1" dirty="0">
                <a:solidFill>
                  <a:srgbClr val="1A1916"/>
                </a:solidFill>
                <a:latin typeface="Arial" pitchFamily="34" charset="0"/>
                <a:ea typeface="Arial" pitchFamily="34" charset="-122"/>
                <a:cs typeface="Arial" pitchFamily="34" charset="-120"/>
              </a:rPr>
              <a:t>DEV</a:t>
            </a:r>
            <a:endParaRPr lang="en-US" sz="1200" dirty="0"/>
          </a:p>
        </p:txBody>
      </p:sp>
      <p:sp>
        <p:nvSpPr>
          <p:cNvPr id="8" name="card_sub"/>
          <p:cNvSpPr/>
          <p:nvPr/>
        </p:nvSpPr>
        <p:spPr>
          <a:xfrm>
            <a:off x="273480" y="2368296"/>
            <a:ext cx="2560320" cy="548640"/>
          </a:xfrm>
          <a:prstGeom prst="rect">
            <a:avLst/>
          </a:prstGeom>
          <a:noFill/>
          <a:ln/>
        </p:spPr>
        <p:txBody>
          <a:bodyPr wrap="square" lIns="0" tIns="0" rIns="0" bIns="0" rtlCol="0" anchor="ctr"/>
          <a:lstStyle/>
          <a:p>
            <a:pPr marL="0" indent="0" algn="ctr">
              <a:buNone/>
            </a:pPr>
            <a:r>
              <a:rPr lang="en-US" sz="900" dirty="0">
                <a:solidFill>
                  <a:srgbClr val="5A5850"/>
                </a:solidFill>
                <a:latin typeface="Arial" pitchFamily="34" charset="0"/>
                <a:ea typeface="Arial" pitchFamily="34" charset="-122"/>
                <a:cs typeface="Arial" pitchFamily="34" charset="-120"/>
              </a:rPr>
              <a:t>Readable source code</a:t>
            </a:r>
            <a:endParaRPr lang="en-US" sz="900" dirty="0"/>
          </a:p>
          <a:p>
            <a:pPr marL="0" indent="0" algn="ctr">
              <a:buNone/>
            </a:pPr>
            <a:r>
              <a:rPr lang="en-US" sz="900" dirty="0">
                <a:solidFill>
                  <a:srgbClr val="5A5850"/>
                </a:solidFill>
                <a:latin typeface="Arial" pitchFamily="34" charset="0"/>
                <a:ea typeface="Arial" pitchFamily="34" charset="-122"/>
                <a:cs typeface="Arial" pitchFamily="34" charset="-120"/>
              </a:rPr>
              <a:t>API key visible</a:t>
            </a:r>
            <a:endParaRPr lang="en-US" sz="900" dirty="0"/>
          </a:p>
          <a:p>
            <a:pPr marL="0" indent="0" algn="ctr">
              <a:buNone/>
            </a:pPr>
            <a:r>
              <a:rPr lang="en-US" sz="900" dirty="0">
                <a:solidFill>
                  <a:srgbClr val="5A5850"/>
                </a:solidFill>
                <a:latin typeface="Arial" pitchFamily="34" charset="0"/>
                <a:ea typeface="Arial" pitchFamily="34" charset="-122"/>
                <a:cs typeface="Arial" pitchFamily="34" charset="-120"/>
              </a:rPr>
              <a:t>Admin only</a:t>
            </a:r>
            <a:endParaRPr lang="en-US" sz="900" dirty="0"/>
          </a:p>
        </p:txBody>
      </p:sp>
      <p:sp>
        <p:nvSpPr>
          <p:cNvPr id="9" name="tag_bg"/>
          <p:cNvSpPr/>
          <p:nvPr/>
        </p:nvSpPr>
        <p:spPr>
          <a:xfrm>
            <a:off x="867840" y="3008376"/>
            <a:ext cx="1371600" cy="228600"/>
          </a:xfrm>
          <a:prstGeom prst="roundRect">
            <a:avLst>
              <a:gd name="adj" fmla="val 25000"/>
            </a:avLst>
          </a:prstGeom>
          <a:solidFill>
            <a:srgbClr val="1E4D8C"/>
          </a:solidFill>
          <a:ln>
            <a:noFill/>
          </a:ln>
        </p:spPr>
        <p:txBody>
          <a:bodyPr wrap="square" lIns="0" tIns="0" rIns="0" bIns="0" rtlCol="0" anchor="ctr"/>
          <a:lstStyle/>
          <a:p>
            <a:pPr marL="0" indent="0" algn="ctr">
              <a:buNone/>
            </a:pPr>
            <a:r>
              <a:rPr lang="en-US" sz="800" b="1" dirty="0">
                <a:solidFill>
                  <a:srgbClr val="FFFFFF"/>
                </a:solidFill>
                <a:latin typeface="Arial" pitchFamily="34" charset="0"/>
              </a:rPr>
              <a:t>ADMIN ONLY</a:t>
            </a:r>
          </a:p>
        </p:txBody>
      </p:sp>
      <p:sp>
        <p:nvSpPr>
          <p:cNvPr id="10" name="card_bg"/>
          <p:cNvSpPr/>
          <p:nvPr/>
        </p:nvSpPr>
        <p:spPr>
          <a:xfrm>
            <a:off x="3200400" y="1453896"/>
            <a:ext cx="2743200" cy="1920240"/>
          </a:xfrm>
          <a:prstGeom prst="rect">
            <a:avLst/>
          </a:prstGeom>
          <a:solidFill>
            <a:srgbClr val="FEF3C7"/>
          </a:solidFill>
          <a:ln w="8890">
            <a:solidFill>
              <a:srgbClr val="FCD34D"/>
            </a:solidFill>
            <a:prstDash val="solid"/>
          </a:ln>
          <a:effectLst>
            <a:outerShdw blurRad="63500" dist="25400" dir="8100000" algn="bl" rotWithShape="0">
              <a:srgbClr val="000000">
                <a:alpha val="7000"/>
              </a:srgbClr>
            </a:outerShdw>
          </a:effectLst>
        </p:spPr>
        <p:txBody>
          <a:bodyPr/>
          <a:lstStyle/>
          <a:p>
            <a:endParaRPr lang="pl-PL"/>
          </a:p>
        </p:txBody>
      </p:sp>
      <p:sp>
        <p:nvSpPr>
          <p:cNvPr id="11" name="icon"/>
          <p:cNvSpPr/>
          <p:nvPr/>
        </p:nvSpPr>
        <p:spPr>
          <a:xfrm>
            <a:off x="3200400" y="1545336"/>
            <a:ext cx="2743200" cy="457200"/>
          </a:xfrm>
          <a:prstGeom prst="rect">
            <a:avLst/>
          </a:prstGeom>
          <a:noFill/>
          <a:ln/>
        </p:spPr>
        <p:txBody>
          <a:bodyPr wrap="square" lIns="0" tIns="0" rIns="0" bIns="0" rtlCol="0" anchor="ctr"/>
          <a:lstStyle/>
          <a:p>
            <a:pPr marL="0" indent="0" algn="ctr">
              <a:buNone/>
            </a:pPr>
            <a:r>
              <a:rPr lang="en-US" sz="2400" dirty="0">
                <a:solidFill>
                  <a:srgbClr val="1A1916"/>
                </a:solidFill>
                <a:latin typeface="Arial" pitchFamily="34" charset="0"/>
                <a:ea typeface="Arial" pitchFamily="34" charset="-122"/>
                <a:cs typeface="Arial" pitchFamily="34" charset="-120"/>
              </a:rPr>
              <a:t>🔒</a:t>
            </a:r>
            <a:endParaRPr lang="en-US" sz="2400" dirty="0"/>
          </a:p>
        </p:txBody>
      </p:sp>
      <p:sp>
        <p:nvSpPr>
          <p:cNvPr id="12" name="card_hdr"/>
          <p:cNvSpPr/>
          <p:nvPr/>
        </p:nvSpPr>
        <p:spPr>
          <a:xfrm>
            <a:off x="3291840" y="2002536"/>
            <a:ext cx="2560320" cy="365760"/>
          </a:xfrm>
          <a:prstGeom prst="rect">
            <a:avLst/>
          </a:prstGeom>
          <a:noFill/>
          <a:ln/>
        </p:spPr>
        <p:txBody>
          <a:bodyPr wrap="square" lIns="0" tIns="0" rIns="0" bIns="0" rtlCol="0" anchor="ctr"/>
          <a:lstStyle/>
          <a:p>
            <a:pPr marL="0" indent="0" algn="ctr">
              <a:buNone/>
            </a:pPr>
            <a:r>
              <a:rPr lang="en-US" sz="1200" b="1" dirty="0">
                <a:solidFill>
                  <a:srgbClr val="1A1916"/>
                </a:solidFill>
                <a:latin typeface="Arial" pitchFamily="34" charset="0"/>
                <a:ea typeface="Arial" pitchFamily="34" charset="-122"/>
                <a:cs typeface="Arial" pitchFamily="34" charset="-120"/>
              </a:rPr>
              <a:t>INTERNAL</a:t>
            </a:r>
            <a:endParaRPr lang="en-US" sz="1200" dirty="0"/>
          </a:p>
        </p:txBody>
      </p:sp>
      <p:sp>
        <p:nvSpPr>
          <p:cNvPr id="13" name="card_sub"/>
          <p:cNvSpPr/>
          <p:nvPr/>
        </p:nvSpPr>
        <p:spPr>
          <a:xfrm>
            <a:off x="3291840" y="2368296"/>
            <a:ext cx="2560320" cy="548640"/>
          </a:xfrm>
          <a:prstGeom prst="rect">
            <a:avLst/>
          </a:prstGeom>
          <a:noFill/>
          <a:ln/>
        </p:spPr>
        <p:txBody>
          <a:bodyPr wrap="square" lIns="0" tIns="0" rIns="0" bIns="0" rtlCol="0" anchor="ctr"/>
          <a:lstStyle/>
          <a:p>
            <a:pPr marL="0" indent="0" algn="ctr">
              <a:buNone/>
            </a:pPr>
            <a:r>
              <a:rPr lang="en-US" sz="900" dirty="0">
                <a:solidFill>
                  <a:srgbClr val="5A5850"/>
                </a:solidFill>
                <a:latin typeface="Arial" pitchFamily="34" charset="0"/>
                <a:ea typeface="Arial" pitchFamily="34" charset="-122"/>
                <a:cs typeface="Arial" pitchFamily="34" charset="-120"/>
              </a:rPr>
              <a:t>Obfuscated JS</a:t>
            </a:r>
            <a:endParaRPr lang="en-US" sz="900" dirty="0"/>
          </a:p>
          <a:p>
            <a:pPr marL="0" indent="0" algn="ctr">
              <a:buNone/>
            </a:pPr>
            <a:r>
              <a:rPr lang="en-US" sz="900" dirty="0">
                <a:solidFill>
                  <a:srgbClr val="5A5850"/>
                </a:solidFill>
                <a:latin typeface="Arial" pitchFamily="34" charset="0"/>
                <a:ea typeface="Arial" pitchFamily="34" charset="-122"/>
                <a:cs typeface="Arial" pitchFamily="34" charset="-120"/>
              </a:rPr>
              <a:t>Key encrypted in the code</a:t>
            </a:r>
            <a:endParaRPr lang="en-US" sz="900" dirty="0"/>
          </a:p>
          <a:p>
            <a:pPr marL="0" indent="0" algn="ctr">
              <a:buNone/>
            </a:pPr>
            <a:r>
              <a:rPr lang="en-US" sz="900" dirty="0">
                <a:solidFill>
                  <a:srgbClr val="5A5850"/>
                </a:solidFill>
                <a:latin typeface="Arial" pitchFamily="34" charset="0"/>
                <a:ea typeface="Arial" pitchFamily="34" charset="-122"/>
                <a:cs typeface="Arial" pitchFamily="34" charset="-120"/>
              </a:rPr>
              <a:t>Distribution via Teams</a:t>
            </a:r>
            <a:endParaRPr lang="en-US" sz="900" dirty="0"/>
          </a:p>
        </p:txBody>
      </p:sp>
      <p:sp>
        <p:nvSpPr>
          <p:cNvPr id="14" name="tag_bg"/>
          <p:cNvSpPr/>
          <p:nvPr/>
        </p:nvSpPr>
        <p:spPr>
          <a:xfrm>
            <a:off x="3886200" y="3008376"/>
            <a:ext cx="1371600" cy="228600"/>
          </a:xfrm>
          <a:prstGeom prst="roundRect">
            <a:avLst>
              <a:gd name="adj" fmla="val 25000"/>
            </a:avLst>
          </a:prstGeom>
          <a:solidFill>
            <a:srgbClr val="B45309"/>
          </a:solidFill>
          <a:ln>
            <a:noFill/>
          </a:ln>
        </p:spPr>
        <p:txBody>
          <a:bodyPr wrap="square" lIns="0" tIns="0" rIns="0" bIns="0" rtlCol="0" anchor="ctr"/>
          <a:lstStyle/>
          <a:p>
            <a:pPr marL="0" indent="0" algn="ctr">
              <a:buNone/>
            </a:pPr>
            <a:r>
              <a:rPr lang="en-US" sz="800" b="1" dirty="0">
                <a:solidFill>
                  <a:srgbClr val="FFFFFF"/>
                </a:solidFill>
                <a:latin typeface="Arial" pitchFamily="34" charset="0"/>
              </a:rPr>
              <a:t>Content AI USERS</a:t>
            </a:r>
          </a:p>
        </p:txBody>
      </p:sp>
      <p:sp>
        <p:nvSpPr>
          <p:cNvPr id="15" name="card_bg"/>
          <p:cNvSpPr/>
          <p:nvPr/>
        </p:nvSpPr>
        <p:spPr>
          <a:xfrm>
            <a:off x="6218760" y="1453896"/>
            <a:ext cx="2743200" cy="1920240"/>
          </a:xfrm>
          <a:prstGeom prst="rect">
            <a:avLst/>
          </a:prstGeom>
          <a:solidFill>
            <a:srgbClr val="D6F0E0"/>
          </a:solidFill>
          <a:ln w="8890">
            <a:solidFill>
              <a:srgbClr val="7ECBA1"/>
            </a:solidFill>
            <a:prstDash val="solid"/>
          </a:ln>
          <a:effectLst>
            <a:outerShdw blurRad="63500" dist="25400" dir="8100000" algn="bl" rotWithShape="0">
              <a:srgbClr val="000000">
                <a:alpha val="7000"/>
              </a:srgbClr>
            </a:outerShdw>
          </a:effectLst>
        </p:spPr>
        <p:txBody>
          <a:bodyPr/>
          <a:lstStyle/>
          <a:p>
            <a:endParaRPr lang="pl-PL"/>
          </a:p>
        </p:txBody>
      </p:sp>
      <p:sp>
        <p:nvSpPr>
          <p:cNvPr id="16" name="icon"/>
          <p:cNvSpPr/>
          <p:nvPr/>
        </p:nvSpPr>
        <p:spPr>
          <a:xfrm>
            <a:off x="6218760" y="1545336"/>
            <a:ext cx="2743200" cy="457200"/>
          </a:xfrm>
          <a:prstGeom prst="rect">
            <a:avLst/>
          </a:prstGeom>
          <a:noFill/>
          <a:ln/>
        </p:spPr>
        <p:txBody>
          <a:bodyPr wrap="square" lIns="0" tIns="0" rIns="0" bIns="0" rtlCol="0" anchor="ctr"/>
          <a:lstStyle/>
          <a:p>
            <a:pPr marL="0" indent="0" algn="ctr">
              <a:buNone/>
            </a:pPr>
            <a:r>
              <a:rPr lang="en-US" sz="2400" dirty="0">
                <a:solidFill>
                  <a:srgbClr val="1A1916"/>
                </a:solidFill>
                <a:latin typeface="Arial" pitchFamily="34" charset="0"/>
                <a:ea typeface="Arial" pitchFamily="34" charset="-122"/>
                <a:cs typeface="Arial" pitchFamily="34" charset="-120"/>
              </a:rPr>
              <a:t>🌐</a:t>
            </a:r>
            <a:endParaRPr lang="en-US" sz="2400" dirty="0"/>
          </a:p>
        </p:txBody>
      </p:sp>
      <p:sp>
        <p:nvSpPr>
          <p:cNvPr id="17" name="card_hdr"/>
          <p:cNvSpPr/>
          <p:nvPr/>
        </p:nvSpPr>
        <p:spPr>
          <a:xfrm>
            <a:off x="6310200" y="2002536"/>
            <a:ext cx="2560320" cy="365760"/>
          </a:xfrm>
          <a:prstGeom prst="rect">
            <a:avLst/>
          </a:prstGeom>
          <a:noFill/>
          <a:ln/>
        </p:spPr>
        <p:txBody>
          <a:bodyPr wrap="square" lIns="0" tIns="0" rIns="0" bIns="0" rtlCol="0" anchor="ctr"/>
          <a:lstStyle/>
          <a:p>
            <a:pPr marL="0" indent="0" algn="ctr">
              <a:buNone/>
            </a:pPr>
            <a:r>
              <a:rPr lang="en-US" sz="1200" b="1" dirty="0">
                <a:solidFill>
                  <a:srgbClr val="1A1916"/>
                </a:solidFill>
                <a:latin typeface="Arial" pitchFamily="34" charset="0"/>
                <a:ea typeface="Arial" pitchFamily="34" charset="-122"/>
                <a:cs typeface="Arial" pitchFamily="34" charset="-120"/>
              </a:rPr>
              <a:t>PROXY</a:t>
            </a:r>
            <a:endParaRPr lang="en-US" sz="1200" dirty="0"/>
          </a:p>
        </p:txBody>
      </p:sp>
      <p:sp>
        <p:nvSpPr>
          <p:cNvPr id="18" name="card_sub"/>
          <p:cNvSpPr/>
          <p:nvPr/>
        </p:nvSpPr>
        <p:spPr>
          <a:xfrm>
            <a:off x="6310200" y="2368296"/>
            <a:ext cx="2560320" cy="548640"/>
          </a:xfrm>
          <a:prstGeom prst="rect">
            <a:avLst/>
          </a:prstGeom>
          <a:noFill/>
          <a:ln/>
        </p:spPr>
        <p:txBody>
          <a:bodyPr wrap="square" lIns="0" tIns="0" rIns="0" bIns="0" rtlCol="0" anchor="ctr"/>
          <a:lstStyle/>
          <a:p>
            <a:pPr marL="0" indent="0" algn="ctr">
              <a:buNone/>
            </a:pPr>
            <a:r>
              <a:rPr lang="en-US" sz="900" dirty="0">
                <a:solidFill>
                  <a:srgbClr val="5A5850"/>
                </a:solidFill>
                <a:latin typeface="Arial" pitchFamily="34" charset="0"/>
                <a:ea typeface="Arial" pitchFamily="34" charset="-122"/>
                <a:cs typeface="Arial" pitchFamily="34" charset="-120"/>
              </a:rPr>
              <a:t>No key in the file</a:t>
            </a:r>
            <a:endParaRPr lang="en-US" sz="900" dirty="0"/>
          </a:p>
          <a:p>
            <a:pPr marL="0" indent="0" algn="ctr">
              <a:buNone/>
            </a:pPr>
            <a:r>
              <a:rPr lang="en-US" sz="900" dirty="0">
                <a:solidFill>
                  <a:srgbClr val="5A5850"/>
                </a:solidFill>
                <a:latin typeface="Arial" pitchFamily="34" charset="0"/>
                <a:ea typeface="Arial" pitchFamily="34" charset="-122"/>
                <a:cs typeface="Arial" pitchFamily="34" charset="-120"/>
              </a:rPr>
              <a:t>Key on the Cloudflare server</a:t>
            </a:r>
            <a:endParaRPr lang="en-US" sz="900" dirty="0"/>
          </a:p>
          <a:p>
            <a:pPr marL="0" indent="0" algn="ctr">
              <a:buNone/>
            </a:pPr>
            <a:r>
              <a:rPr lang="en-US" sz="900" dirty="0">
                <a:solidFill>
                  <a:srgbClr val="5A5850"/>
                </a:solidFill>
                <a:latin typeface="Arial" pitchFamily="34" charset="0"/>
                <a:ea typeface="Arial" pitchFamily="34" charset="-122"/>
                <a:cs typeface="Arial" pitchFamily="34" charset="-120"/>
              </a:rPr>
              <a:t>Opcja zaawansowana</a:t>
            </a:r>
            <a:endParaRPr lang="en-US" sz="900" dirty="0"/>
          </a:p>
        </p:txBody>
      </p:sp>
      <p:sp>
        <p:nvSpPr>
          <p:cNvPr id="19" name="tag_bg"/>
          <p:cNvSpPr/>
          <p:nvPr/>
        </p:nvSpPr>
        <p:spPr>
          <a:xfrm>
            <a:off x="6904560" y="3008376"/>
            <a:ext cx="1371600" cy="228600"/>
          </a:xfrm>
          <a:prstGeom prst="roundRect">
            <a:avLst>
              <a:gd name="adj" fmla="val 25000"/>
            </a:avLst>
          </a:prstGeom>
          <a:solidFill>
            <a:srgbClr val="1E7A4A"/>
          </a:solidFill>
          <a:ln>
            <a:noFill/>
          </a:ln>
        </p:spPr>
        <p:txBody>
          <a:bodyPr wrap="square" lIns="0" tIns="0" rIns="0" bIns="0" rtlCol="0" anchor="ctr"/>
          <a:lstStyle/>
          <a:p>
            <a:pPr marL="0" indent="0" algn="ctr">
              <a:buNone/>
            </a:pPr>
            <a:r>
              <a:rPr lang="en-US" sz="800" b="1" dirty="0">
                <a:solidFill>
                  <a:srgbClr val="FFFFFF"/>
                </a:solidFill>
                <a:latin typeface="Arial" pitchFamily="34" charset="0"/>
              </a:rPr>
              <a:t>ADVANCED OPTION</a:t>
            </a:r>
          </a:p>
        </p:txBody>
      </p:sp>
      <p:sp>
        <p:nvSpPr>
          <p:cNvPr id="20" name="dot"/>
          <p:cNvSpPr/>
          <p:nvPr/>
        </p:nvSpPr>
        <p:spPr>
          <a:xfrm>
            <a:off x="319200" y="3767328"/>
            <a:ext cx="146304" cy="146304"/>
          </a:xfrm>
          <a:prstGeom prst="ellipse">
            <a:avLst/>
          </a:prstGeom>
          <a:solidFill>
            <a:srgbClr val="1E4D8C"/>
          </a:solidFill>
          <a:ln w="12700">
            <a:solidFill>
              <a:srgbClr val="1E4D8C"/>
            </a:solidFill>
            <a:prstDash val="solid"/>
          </a:ln>
        </p:spPr>
        <p:txBody>
          <a:bodyPr/>
          <a:lstStyle/>
          <a:p>
            <a:endParaRPr lang="pl-PL"/>
          </a:p>
        </p:txBody>
      </p:sp>
      <p:sp>
        <p:nvSpPr>
          <p:cNvPr id="21" name="btxt"/>
          <p:cNvSpPr/>
          <p:nvPr/>
        </p:nvSpPr>
        <p:spPr>
          <a:xfrm>
            <a:off x="566088" y="3730752"/>
            <a:ext cx="8412480" cy="228600"/>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 xml:space="preserve">The JS obfuscator converts readable code into an unreadable form </a:t>
            </a:r>
            <a:r>
              <a:rPr lang="en-US" sz="1200" dirty="0" err="1">
                <a:solidFill>
                  <a:srgbClr val="1A1916"/>
                </a:solidFill>
                <a:latin typeface="Arial" pitchFamily="34" charset="0"/>
                <a:ea typeface="Arial" pitchFamily="34" charset="-122"/>
                <a:cs typeface="Arial" pitchFamily="34" charset="-120"/>
              </a:rPr>
              <a:t>szesnastkowy</a:t>
            </a:r>
            <a:r>
              <a:rPr lang="en-US" sz="1200" dirty="0">
                <a:solidFill>
                  <a:srgbClr val="1A1916"/>
                </a:solidFill>
                <a:latin typeface="Arial" pitchFamily="34" charset="0"/>
                <a:ea typeface="Arial" pitchFamily="34" charset="-122"/>
                <a:cs typeface="Arial" pitchFamily="34" charset="-120"/>
              </a:rPr>
              <a:t xml:space="preserve"> </a:t>
            </a:r>
            <a:r>
              <a:rPr lang="pl-PL" sz="1200" dirty="0">
                <a:solidFill>
                  <a:srgbClr val="1A1916"/>
                </a:solidFill>
                <a:latin typeface="Arial" pitchFamily="34" charset="0"/>
                <a:ea typeface="Arial" pitchFamily="34" charset="-122"/>
                <a:cs typeface="Arial" pitchFamily="34" charset="-120"/>
              </a:rPr>
              <a:t>-</a:t>
            </a:r>
            <a:r>
              <a:rPr lang="en-US" sz="1200" dirty="0">
                <a:solidFill>
                  <a:srgbClr val="1A1916"/>
                </a:solidFill>
                <a:latin typeface="Arial" pitchFamily="34" charset="0"/>
                <a:ea typeface="Arial" pitchFamily="34" charset="-122"/>
                <a:cs typeface="Arial" pitchFamily="34" charset="-120"/>
              </a:rPr>
              <a:t xml:space="preserve"> extracting the key requires advanced reverse engineering</a:t>
            </a:r>
          </a:p>
        </p:txBody>
      </p:sp>
      <p:sp>
        <p:nvSpPr>
          <p:cNvPr id="22" name="dot"/>
          <p:cNvSpPr/>
          <p:nvPr/>
        </p:nvSpPr>
        <p:spPr>
          <a:xfrm>
            <a:off x="319200" y="4133088"/>
            <a:ext cx="146304" cy="146304"/>
          </a:xfrm>
          <a:prstGeom prst="ellipse">
            <a:avLst/>
          </a:prstGeom>
          <a:solidFill>
            <a:srgbClr val="B45309"/>
          </a:solidFill>
          <a:ln w="12700">
            <a:solidFill>
              <a:srgbClr val="B45309"/>
            </a:solidFill>
            <a:prstDash val="solid"/>
          </a:ln>
        </p:spPr>
        <p:txBody>
          <a:bodyPr/>
          <a:lstStyle/>
          <a:p>
            <a:endParaRPr lang="pl-PL"/>
          </a:p>
        </p:txBody>
      </p:sp>
      <p:sp>
        <p:nvSpPr>
          <p:cNvPr id="23" name="btxt"/>
          <p:cNvSpPr/>
          <p:nvPr/>
        </p:nvSpPr>
        <p:spPr>
          <a:xfrm>
            <a:off x="566088" y="4096512"/>
            <a:ext cx="8412480" cy="228600"/>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The build system (build.py) automatically generates all 5 versions from one source file with one command</a:t>
            </a:r>
          </a:p>
        </p:txBody>
      </p:sp>
      <p:sp>
        <p:nvSpPr>
          <p:cNvPr id="24" name="dot"/>
          <p:cNvSpPr/>
          <p:nvPr/>
        </p:nvSpPr>
        <p:spPr>
          <a:xfrm>
            <a:off x="319200" y="4498848"/>
            <a:ext cx="146304" cy="146304"/>
          </a:xfrm>
          <a:prstGeom prst="ellipse">
            <a:avLst/>
          </a:prstGeom>
          <a:solidFill>
            <a:srgbClr val="1E7A4A"/>
          </a:solidFill>
          <a:ln w="12700">
            <a:solidFill>
              <a:srgbClr val="1E7A4A"/>
            </a:solidFill>
            <a:prstDash val="solid"/>
          </a:ln>
        </p:spPr>
        <p:txBody>
          <a:bodyPr/>
          <a:lstStyle/>
          <a:p>
            <a:endParaRPr lang="pl-PL"/>
          </a:p>
        </p:txBody>
      </p:sp>
      <p:sp>
        <p:nvSpPr>
          <p:cNvPr id="25" name="btxt"/>
          <p:cNvSpPr/>
          <p:nvPr/>
        </p:nvSpPr>
        <p:spPr>
          <a:xfrm>
            <a:off x="566088" y="4462272"/>
            <a:ext cx="8412480" cy="228600"/>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 xml:space="preserve">PROXY version </a:t>
            </a:r>
            <a:r>
              <a:rPr lang="pl-PL" sz="1200" dirty="0">
                <a:solidFill>
                  <a:srgbClr val="1A1916"/>
                </a:solidFill>
                <a:latin typeface="Arial" pitchFamily="34" charset="0"/>
                <a:ea typeface="Arial" pitchFamily="34" charset="-122"/>
                <a:cs typeface="Arial" pitchFamily="34" charset="-120"/>
              </a:rPr>
              <a:t>-</a:t>
            </a:r>
            <a:r>
              <a:rPr lang="en-US" sz="1200" dirty="0">
                <a:solidFill>
                  <a:srgbClr val="1A1916"/>
                </a:solidFill>
                <a:latin typeface="Arial" pitchFamily="34" charset="0"/>
                <a:ea typeface="Arial" pitchFamily="34" charset="-122"/>
                <a:cs typeface="Arial" pitchFamily="34" charset="-120"/>
              </a:rPr>
              <a:t xml:space="preserve"> the key never leaves the Cloudflare Worker server</a:t>
            </a:r>
            <a:r>
              <a:rPr lang="pl-PL" sz="1200" dirty="0">
                <a:solidFill>
                  <a:srgbClr val="1A1916"/>
                </a:solidFill>
                <a:latin typeface="Arial" pitchFamily="34" charset="0"/>
                <a:ea typeface="Arial" pitchFamily="34" charset="-122"/>
                <a:cs typeface="Arial" pitchFamily="34" charset="-120"/>
              </a:rPr>
              <a:t>, a p</a:t>
            </a:r>
            <a:r>
              <a:rPr lang="en-US" sz="1200" dirty="0" err="1">
                <a:solidFill>
                  <a:srgbClr val="1A1916"/>
                </a:solidFill>
                <a:latin typeface="Arial" pitchFamily="34" charset="0"/>
                <a:ea typeface="Arial" pitchFamily="34" charset="-122"/>
                <a:cs typeface="Arial" pitchFamily="34" charset="-120"/>
              </a:rPr>
              <a:t>lik</a:t>
            </a:r>
            <a:r>
              <a:rPr lang="en-US" sz="1200" dirty="0">
                <a:solidFill>
                  <a:srgbClr val="1A1916"/>
                </a:solidFill>
                <a:latin typeface="Arial" pitchFamily="34" charset="0"/>
                <a:ea typeface="Arial" pitchFamily="34" charset="-122"/>
                <a:cs typeface="Arial" pitchFamily="34" charset="-120"/>
              </a:rPr>
              <a:t xml:space="preserve"> the HTML file can be shared with no risk of </a:t>
            </a:r>
            <a:r>
              <a:rPr lang="en-US" sz="1200" dirty="0" err="1">
                <a:solidFill>
                  <a:srgbClr val="1A1916"/>
                </a:solidFill>
                <a:latin typeface="Arial" pitchFamily="34" charset="0"/>
                <a:ea typeface="Arial" pitchFamily="34" charset="-122"/>
                <a:cs typeface="Arial" pitchFamily="34" charset="-120"/>
              </a:rPr>
              <a:t>leak</a:t>
            </a:r>
            <a:r>
              <a:rPr lang="en-US" sz="1200" dirty="0">
                <a:solidFill>
                  <a:srgbClr val="1A1916"/>
                </a:solidFill>
                <a:latin typeface="Arial" pitchFamily="34" charset="0"/>
                <a:ea typeface="Arial" pitchFamily="34" charset="-122"/>
                <a:cs typeface="Arial" pitchFamily="34" charset="-120"/>
              </a:rPr>
              <a:t xml:space="preserve"> </a:t>
            </a:r>
            <a:r>
              <a:rPr lang="en-US" sz="1200" dirty="0" err="1">
                <a:solidFill>
                  <a:srgbClr val="1A1916"/>
                </a:solidFill>
                <a:latin typeface="Arial" pitchFamily="34" charset="0"/>
                <a:ea typeface="Arial" pitchFamily="34" charset="-122"/>
                <a:cs typeface="Arial" pitchFamily="34" charset="-120"/>
              </a:rPr>
              <a:t>key</a:t>
            </a:r>
            <a:endParaRPr lang="en-US" sz="1200" dirty="0">
              <a:solidFill>
                <a:srgbClr val="1A1916"/>
              </a:solidFill>
              <a:latin typeface="Arial" pitchFamily="34" charset="0"/>
              <a:ea typeface="Arial" pitchFamily="34" charset="-122"/>
              <a:cs typeface="Arial"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594360"/>
          </a:xfrm>
          <a:prstGeom prst="rect">
            <a:avLst/>
          </a:prstGeom>
          <a:solidFill>
            <a:srgbClr val="1A1916"/>
          </a:solidFill>
          <a:ln w="12700">
            <a:solidFill>
              <a:srgbClr val="1A1916"/>
            </a:solidFill>
            <a:prstDash val="solid"/>
          </a:ln>
        </p:spPr>
        <p:txBody>
          <a:bodyPr/>
          <a:lstStyle/>
          <a:p>
            <a:endParaRPr lang="pl-PL"/>
          </a:p>
        </p:txBody>
      </p:sp>
      <p:sp>
        <p:nvSpPr>
          <p:cNvPr id="3" name="sec"/>
          <p:cNvSpPr/>
          <p:nvPr/>
        </p:nvSpPr>
        <p:spPr>
          <a:xfrm>
            <a:off x="320040" y="73152"/>
            <a:ext cx="4572000" cy="420624"/>
          </a:xfrm>
          <a:prstGeom prst="rect">
            <a:avLst/>
          </a:prstGeom>
          <a:noFill/>
          <a:ln/>
        </p:spPr>
        <p:txBody>
          <a:bodyPr wrap="square" lIns="0" tIns="0" rIns="0" bIns="0" rtlCol="0" anchor="ctr"/>
          <a:lstStyle/>
          <a:p>
            <a:pPr marL="0" indent="0">
              <a:buNone/>
            </a:pPr>
            <a:r>
              <a:rPr lang="en-US" sz="1100" b="1" spc="500" dirty="0">
                <a:solidFill>
                  <a:srgbClr val="F5A300"/>
                </a:solidFill>
                <a:latin typeface="Arial" pitchFamily="34" charset="0"/>
                <a:ea typeface="Arial" pitchFamily="34" charset="-122"/>
                <a:cs typeface="Arial" pitchFamily="34" charset="-120"/>
              </a:rPr>
              <a:t>ACCESS SECURITY</a:t>
            </a:r>
            <a:endParaRPr lang="en-US" sz="1100" dirty="0"/>
          </a:p>
        </p:txBody>
      </p:sp>
      <p:sp>
        <p:nvSpPr>
          <p:cNvPr id="4" name="ttl"/>
          <p:cNvSpPr/>
          <p:nvPr/>
        </p:nvSpPr>
        <p:spPr>
          <a:xfrm>
            <a:off x="320040" y="749808"/>
            <a:ext cx="8503920" cy="548640"/>
          </a:xfrm>
          <a:prstGeom prst="rect">
            <a:avLst/>
          </a:prstGeom>
          <a:noFill/>
          <a:ln/>
        </p:spPr>
        <p:txBody>
          <a:bodyPr wrap="square" lIns="0" tIns="0" rIns="0" bIns="0" rtlCol="0" anchor="ctr"/>
          <a:lstStyle/>
          <a:p>
            <a:pPr marL="0" indent="0">
              <a:buNone/>
            </a:pPr>
            <a:r>
              <a:rPr lang="en-US" sz="2400" b="1" dirty="0">
                <a:solidFill>
                  <a:srgbClr val="1A1916"/>
                </a:solidFill>
                <a:latin typeface="Arial Black" pitchFamily="34" charset="0"/>
                <a:ea typeface="Arial Black" pitchFamily="34" charset="-122"/>
                <a:cs typeface="Arial Black" pitchFamily="34" charset="-120"/>
              </a:rPr>
              <a:t>Device fingerprint and user watermark</a:t>
            </a:r>
            <a:endParaRPr lang="en-US" sz="2400" dirty="0"/>
          </a:p>
        </p:txBody>
      </p:sp>
      <p:sp>
        <p:nvSpPr>
          <p:cNvPr id="100" name="lhdr"/>
          <p:cNvSpPr/>
          <p:nvPr/>
        </p:nvSpPr>
        <p:spPr>
          <a:xfrm>
            <a:off x="173880" y="1462248"/>
            <a:ext cx="4343040" cy="228600"/>
          </a:xfrm>
          <a:prstGeom prst="rect">
            <a:avLst/>
          </a:prstGeom>
          <a:noFill/>
          <a:ln/>
        </p:spPr>
        <p:txBody>
          <a:bodyPr wrap="square" lIns="0" tIns="0" rIns="0" bIns="0" rtlCol="0" anchor="ctr"/>
          <a:lstStyle/>
          <a:p>
            <a:pPr marL="0" indent="0">
              <a:buNone/>
            </a:pPr>
            <a:r>
              <a:rPr lang="en-US" sz="1200" b="1" dirty="0">
                <a:solidFill>
                  <a:srgbClr val="1A1916"/>
                </a:solidFill>
                <a:latin typeface="Arial" pitchFamily="34" charset="0"/>
                <a:ea typeface="Arial" pitchFamily="34" charset="-122"/>
                <a:cs typeface="Arial" pitchFamily="34" charset="-120"/>
              </a:rPr>
              <a:t xml:space="preserve">🔐  Device Fingerprint </a:t>
            </a:r>
            <a:r>
              <a:rPr lang="pl-PL" sz="1200" b="1" dirty="0">
                <a:solidFill>
                  <a:srgbClr val="1A1916"/>
                </a:solidFill>
                <a:latin typeface="Arial" pitchFamily="34" charset="0"/>
                <a:ea typeface="Arial" pitchFamily="34" charset="-122"/>
                <a:cs typeface="Arial" pitchFamily="34" charset="-120"/>
              </a:rPr>
              <a:t>-</a:t>
            </a:r>
            <a:r>
              <a:rPr lang="en-US" sz="1200" b="1" dirty="0">
                <a:solidFill>
                  <a:srgbClr val="1A1916"/>
                </a:solidFill>
                <a:latin typeface="Arial" pitchFamily="34" charset="0"/>
                <a:ea typeface="Arial" pitchFamily="34" charset="-122"/>
                <a:cs typeface="Arial" pitchFamily="34" charset="-120"/>
              </a:rPr>
              <a:t xml:space="preserve"> device lock</a:t>
            </a:r>
            <a:endParaRPr lang="en-US" sz="1200" dirty="0"/>
          </a:p>
        </p:txBody>
      </p:sp>
      <p:sp>
        <p:nvSpPr>
          <p:cNvPr id="10" name="sb"/>
          <p:cNvSpPr/>
          <p:nvPr/>
        </p:nvSpPr>
        <p:spPr>
          <a:xfrm>
            <a:off x="173880" y="1824140"/>
            <a:ext cx="4343040" cy="349096"/>
          </a:xfrm>
          <a:prstGeom prst="rect">
            <a:avLst/>
          </a:prstGeom>
          <a:solidFill>
            <a:srgbClr val="EFF6FF"/>
          </a:solidFill>
          <a:ln w="8890">
            <a:solidFill>
              <a:srgbClr val="93C5FD"/>
            </a:solidFill>
            <a:prstDash val="solid"/>
          </a:ln>
        </p:spPr>
        <p:txBody>
          <a:bodyPr/>
          <a:lstStyle/>
          <a:p>
            <a:endParaRPr lang="pl-PL"/>
          </a:p>
        </p:txBody>
      </p:sp>
      <p:sp>
        <p:nvSpPr>
          <p:cNvPr id="11" name="num"/>
          <p:cNvSpPr/>
          <p:nvPr/>
        </p:nvSpPr>
        <p:spPr>
          <a:xfrm>
            <a:off x="247032" y="1921164"/>
            <a:ext cx="228600" cy="164592"/>
          </a:xfrm>
          <a:prstGeom prst="rect">
            <a:avLst/>
          </a:prstGeom>
          <a:noFill/>
          <a:ln/>
        </p:spPr>
        <p:txBody>
          <a:bodyPr wrap="square" lIns="0" tIns="0" rIns="0" bIns="0" rtlCol="0" anchor="ctr"/>
          <a:lstStyle/>
          <a:p>
            <a:pPr marL="0" indent="0" algn="ctr">
              <a:buNone/>
            </a:pPr>
            <a:r>
              <a:rPr lang="en-US" sz="1600" b="1" dirty="0">
                <a:solidFill>
                  <a:srgbClr val="93C5FD"/>
                </a:solidFill>
                <a:latin typeface="Arial" pitchFamily="34" charset="0"/>
                <a:ea typeface="Arial" pitchFamily="34" charset="-122"/>
                <a:cs typeface="Arial" pitchFamily="34" charset="-120"/>
              </a:rPr>
              <a:t>①</a:t>
            </a:r>
            <a:endParaRPr lang="en-US" sz="1600" dirty="0"/>
          </a:p>
        </p:txBody>
      </p:sp>
      <p:sp>
        <p:nvSpPr>
          <p:cNvPr id="12" name="stxt"/>
          <p:cNvSpPr/>
          <p:nvPr/>
        </p:nvSpPr>
        <p:spPr>
          <a:xfrm>
            <a:off x="539640" y="1912020"/>
            <a:ext cx="3922560" cy="18288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Pierwsze uruchomienie → fingerprint</a:t>
            </a:r>
            <a:r>
              <a:rPr lang="pl-PL" sz="1000" dirty="0"/>
              <a:t xml:space="preserve"> </a:t>
            </a:r>
            <a:r>
              <a:rPr lang="en-US" sz="1000" dirty="0" err="1">
                <a:solidFill>
                  <a:srgbClr val="1A1916"/>
                </a:solidFill>
                <a:latin typeface="Arial" pitchFamily="34" charset="0"/>
                <a:ea typeface="Arial" pitchFamily="34" charset="-122"/>
                <a:cs typeface="Arial" pitchFamily="34" charset="-120"/>
              </a:rPr>
              <a:t>zbierany</a:t>
            </a:r>
            <a:r>
              <a:rPr lang="en-US" sz="1000" dirty="0">
                <a:solidFill>
                  <a:srgbClr val="1A1916"/>
                </a:solidFill>
                <a:latin typeface="Arial" pitchFamily="34" charset="0"/>
                <a:ea typeface="Arial" pitchFamily="34" charset="-122"/>
                <a:cs typeface="Arial" pitchFamily="34" charset="-120"/>
              </a:rPr>
              <a:t xml:space="preserve"> i zapisywany w localStorage</a:t>
            </a:r>
            <a:endParaRPr lang="en-US" sz="1000" dirty="0"/>
          </a:p>
        </p:txBody>
      </p:sp>
      <p:sp>
        <p:nvSpPr>
          <p:cNvPr id="13" name="sb"/>
          <p:cNvSpPr/>
          <p:nvPr/>
        </p:nvSpPr>
        <p:spPr>
          <a:xfrm>
            <a:off x="173880" y="2203115"/>
            <a:ext cx="4343040" cy="256032"/>
          </a:xfrm>
          <a:prstGeom prst="rect">
            <a:avLst/>
          </a:prstGeom>
          <a:solidFill>
            <a:srgbClr val="F0FDF4"/>
          </a:solidFill>
          <a:ln w="8890">
            <a:solidFill>
              <a:srgbClr val="7ECBA1"/>
            </a:solidFill>
            <a:prstDash val="solid"/>
          </a:ln>
        </p:spPr>
        <p:txBody>
          <a:bodyPr/>
          <a:lstStyle/>
          <a:p>
            <a:endParaRPr lang="pl-PL"/>
          </a:p>
        </p:txBody>
      </p:sp>
      <p:sp>
        <p:nvSpPr>
          <p:cNvPr id="14" name="num"/>
          <p:cNvSpPr/>
          <p:nvPr/>
        </p:nvSpPr>
        <p:spPr>
          <a:xfrm>
            <a:off x="247032" y="2248835"/>
            <a:ext cx="228600" cy="164592"/>
          </a:xfrm>
          <a:prstGeom prst="rect">
            <a:avLst/>
          </a:prstGeom>
          <a:noFill/>
          <a:ln/>
        </p:spPr>
        <p:txBody>
          <a:bodyPr wrap="square" lIns="0" tIns="0" rIns="0" bIns="0" rtlCol="0" anchor="ctr"/>
          <a:lstStyle/>
          <a:p>
            <a:pPr marL="0" indent="0" algn="ctr">
              <a:buNone/>
            </a:pPr>
            <a:r>
              <a:rPr lang="en-US" sz="1600" b="1" dirty="0">
                <a:solidFill>
                  <a:srgbClr val="7ECBA1"/>
                </a:solidFill>
                <a:latin typeface="Arial" pitchFamily="34" charset="0"/>
                <a:ea typeface="Arial" pitchFamily="34" charset="-122"/>
                <a:cs typeface="Arial" pitchFamily="34" charset="-120"/>
              </a:rPr>
              <a:t>②</a:t>
            </a:r>
            <a:endParaRPr lang="en-US" sz="1600" dirty="0"/>
          </a:p>
        </p:txBody>
      </p:sp>
      <p:sp>
        <p:nvSpPr>
          <p:cNvPr id="15" name="stxt"/>
          <p:cNvSpPr/>
          <p:nvPr/>
        </p:nvSpPr>
        <p:spPr>
          <a:xfrm>
            <a:off x="539640" y="2239691"/>
            <a:ext cx="3922560" cy="18288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 xml:space="preserve">Each subsequent </a:t>
            </a:r>
            <a:r>
              <a:rPr lang="en-US" sz="1000" dirty="0" err="1">
                <a:solidFill>
                  <a:srgbClr val="1A1916"/>
                </a:solidFill>
                <a:latin typeface="Arial" pitchFamily="34" charset="0"/>
                <a:ea typeface="Arial" pitchFamily="34" charset="-122"/>
                <a:cs typeface="Arial" pitchFamily="34" charset="-120"/>
              </a:rPr>
              <a:t>uruchomienie</a:t>
            </a:r>
            <a:r>
              <a:rPr lang="en-US" sz="1000" dirty="0">
                <a:solidFill>
                  <a:srgbClr val="1A1916"/>
                </a:solidFill>
                <a:latin typeface="Arial" pitchFamily="34" charset="0"/>
                <a:ea typeface="Arial" pitchFamily="34" charset="-122"/>
                <a:cs typeface="Arial" pitchFamily="34" charset="-120"/>
              </a:rPr>
              <a:t xml:space="preserve"> →</a:t>
            </a:r>
            <a:r>
              <a:rPr lang="pl-PL" sz="1000" dirty="0">
                <a:solidFill>
                  <a:srgbClr val="1A1916"/>
                </a:solidFill>
                <a:latin typeface="Arial" pitchFamily="34" charset="0"/>
                <a:ea typeface="Arial" pitchFamily="34" charset="-122"/>
                <a:cs typeface="Arial" pitchFamily="34" charset="-120"/>
              </a:rPr>
              <a:t xml:space="preserve"> </a:t>
            </a:r>
            <a:r>
              <a:rPr lang="en-US" sz="1000" dirty="0">
                <a:solidFill>
                  <a:srgbClr val="1A1916"/>
                </a:solidFill>
                <a:latin typeface="Arial" pitchFamily="34" charset="0"/>
                <a:ea typeface="Arial" pitchFamily="34" charset="-122"/>
                <a:cs typeface="Arial" pitchFamily="34" charset="-120"/>
              </a:rPr>
              <a:t>fingerprint compared with the saved one</a:t>
            </a:r>
            <a:endParaRPr lang="en-US" sz="1000" dirty="0"/>
          </a:p>
        </p:txBody>
      </p:sp>
      <p:sp>
        <p:nvSpPr>
          <p:cNvPr id="16" name="sb"/>
          <p:cNvSpPr/>
          <p:nvPr/>
        </p:nvSpPr>
        <p:spPr>
          <a:xfrm>
            <a:off x="173880" y="2486075"/>
            <a:ext cx="4343040" cy="256032"/>
          </a:xfrm>
          <a:prstGeom prst="rect">
            <a:avLst/>
          </a:prstGeom>
          <a:solidFill>
            <a:srgbClr val="FEF2F2"/>
          </a:solidFill>
          <a:ln w="8890">
            <a:solidFill>
              <a:srgbClr val="FCA5A5"/>
            </a:solidFill>
            <a:prstDash val="solid"/>
          </a:ln>
        </p:spPr>
        <p:txBody>
          <a:bodyPr/>
          <a:lstStyle/>
          <a:p>
            <a:endParaRPr lang="pl-PL"/>
          </a:p>
        </p:txBody>
      </p:sp>
      <p:sp>
        <p:nvSpPr>
          <p:cNvPr id="17" name="num"/>
          <p:cNvSpPr/>
          <p:nvPr/>
        </p:nvSpPr>
        <p:spPr>
          <a:xfrm>
            <a:off x="247032" y="2531795"/>
            <a:ext cx="228600" cy="164592"/>
          </a:xfrm>
          <a:prstGeom prst="rect">
            <a:avLst/>
          </a:prstGeom>
          <a:noFill/>
          <a:ln/>
        </p:spPr>
        <p:txBody>
          <a:bodyPr wrap="square" lIns="0" tIns="0" rIns="0" bIns="0" rtlCol="0" anchor="ctr"/>
          <a:lstStyle/>
          <a:p>
            <a:pPr marL="0" indent="0" algn="ctr">
              <a:buNone/>
            </a:pPr>
            <a:r>
              <a:rPr lang="en-US" sz="1600" b="1" dirty="0">
                <a:solidFill>
                  <a:srgbClr val="FCA5A5"/>
                </a:solidFill>
                <a:latin typeface="Arial" pitchFamily="34" charset="0"/>
                <a:ea typeface="Arial" pitchFamily="34" charset="-122"/>
                <a:cs typeface="Arial" pitchFamily="34" charset="-120"/>
              </a:rPr>
              <a:t>③</a:t>
            </a:r>
            <a:endParaRPr lang="en-US" sz="1600" dirty="0"/>
          </a:p>
        </p:txBody>
      </p:sp>
      <p:sp>
        <p:nvSpPr>
          <p:cNvPr id="18" name="stxt"/>
          <p:cNvSpPr/>
          <p:nvPr/>
        </p:nvSpPr>
        <p:spPr>
          <a:xfrm>
            <a:off x="539640" y="2522651"/>
            <a:ext cx="3922560" cy="182880"/>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 xml:space="preserve">Mismatch → </a:t>
            </a:r>
            <a:r>
              <a:rPr lang="en-US" sz="1000" dirty="0" err="1">
                <a:solidFill>
                  <a:srgbClr val="1A1916"/>
                </a:solidFill>
                <a:latin typeface="Arial" pitchFamily="34" charset="0"/>
                <a:ea typeface="Arial" pitchFamily="34" charset="-122"/>
                <a:cs typeface="Arial" pitchFamily="34" charset="-120"/>
              </a:rPr>
              <a:t>lock modal, generation</a:t>
            </a:r>
            <a:r>
              <a:rPr lang="en-US" sz="1000" dirty="0">
                <a:solidFill>
                  <a:srgbClr val="1A1916"/>
                </a:solidFill>
                <a:latin typeface="Arial" pitchFamily="34" charset="0"/>
                <a:ea typeface="Arial" pitchFamily="34" charset="-122"/>
                <a:cs typeface="Arial" pitchFamily="34" charset="-120"/>
              </a:rPr>
              <a:t xml:space="preserve"> impossible</a:t>
            </a:r>
            <a:endParaRPr lang="en-US" sz="1000" dirty="0"/>
          </a:p>
        </p:txBody>
      </p:sp>
      <p:sp>
        <p:nvSpPr>
          <p:cNvPr id="19" name="fn"/>
          <p:cNvSpPr/>
          <p:nvPr/>
        </p:nvSpPr>
        <p:spPr>
          <a:xfrm>
            <a:off x="173880" y="2769035"/>
            <a:ext cx="4343040" cy="201168"/>
          </a:xfrm>
          <a:prstGeom prst="rect">
            <a:avLst/>
          </a:prstGeom>
          <a:noFill/>
          <a:ln/>
        </p:spPr>
        <p:txBody>
          <a:bodyPr wrap="square" lIns="0" tIns="0" rIns="0" bIns="0" rtlCol="0" anchor="ctr"/>
          <a:lstStyle/>
          <a:p>
            <a:pPr marL="0" indent="0">
              <a:buNone/>
            </a:pPr>
            <a:r>
              <a:rPr lang="en-US" sz="900" dirty="0">
                <a:solidFill>
                  <a:srgbClr val="5A5850"/>
                </a:solidFill>
                <a:latin typeface="Arial" pitchFamily="34" charset="0"/>
                <a:ea typeface="Arial" pitchFamily="34" charset="-122"/>
                <a:cs typeface="Arial" pitchFamily="34" charset="-120"/>
              </a:rPr>
              <a:t>Fingerprint: user agent · resolution · time zone · canvas hash</a:t>
            </a:r>
            <a:endParaRPr lang="en-US" sz="900" dirty="0"/>
          </a:p>
        </p:txBody>
      </p:sp>
      <p:sp>
        <p:nvSpPr>
          <p:cNvPr id="20" name="fn2"/>
          <p:cNvSpPr/>
          <p:nvPr/>
        </p:nvSpPr>
        <p:spPr>
          <a:xfrm>
            <a:off x="173880" y="2952035"/>
            <a:ext cx="4343040" cy="201168"/>
          </a:xfrm>
          <a:prstGeom prst="rect">
            <a:avLst/>
          </a:prstGeom>
          <a:noFill/>
          <a:ln/>
        </p:spPr>
        <p:txBody>
          <a:bodyPr wrap="square" lIns="0" tIns="0" rIns="0" bIns="0" rtlCol="0" anchor="ctr"/>
          <a:lstStyle/>
          <a:p>
            <a:pPr marL="0" indent="0">
              <a:buNone/>
            </a:pPr>
            <a:r>
              <a:rPr lang="en-US" sz="900" dirty="0">
                <a:solidFill>
                  <a:srgbClr val="5A5850"/>
                </a:solidFill>
                <a:latin typeface="Arial" pitchFamily="34" charset="0"/>
                <a:ea typeface="Arial" pitchFamily="34" charset="-122"/>
                <a:cs typeface="Arial" pitchFamily="34" charset="-120"/>
              </a:rPr>
              <a:t>File sent by email → lock when opened from a new path on disk</a:t>
            </a:r>
            <a:endParaRPr lang="en-US" sz="900" dirty="0"/>
          </a:p>
        </p:txBody>
      </p:sp>
      <p:sp>
        <p:nvSpPr>
          <p:cNvPr id="101" name="rhdr"/>
          <p:cNvSpPr/>
          <p:nvPr/>
        </p:nvSpPr>
        <p:spPr>
          <a:xfrm>
            <a:off x="4609200" y="1462248"/>
            <a:ext cx="4343040" cy="228600"/>
          </a:xfrm>
          <a:prstGeom prst="rect">
            <a:avLst/>
          </a:prstGeom>
          <a:noFill/>
          <a:ln/>
        </p:spPr>
        <p:txBody>
          <a:bodyPr wrap="square" lIns="0" tIns="0" rIns="0" bIns="0" rtlCol="0" anchor="ctr"/>
          <a:lstStyle/>
          <a:p>
            <a:pPr marL="0" indent="0">
              <a:buNone/>
            </a:pPr>
            <a:r>
              <a:rPr lang="en-US" sz="1200" b="1" dirty="0">
                <a:solidFill>
                  <a:srgbClr val="1A1916"/>
                </a:solidFill>
                <a:latin typeface="Arial" pitchFamily="34" charset="0"/>
                <a:ea typeface="Arial" pitchFamily="34" charset="-122"/>
                <a:cs typeface="Arial" pitchFamily="34" charset="-120"/>
              </a:rPr>
              <a:t xml:space="preserve">🏷️  User Watermark </a:t>
            </a:r>
            <a:r>
              <a:rPr lang="pl-PL" sz="1200" b="1" dirty="0">
                <a:solidFill>
                  <a:srgbClr val="1A1916"/>
                </a:solidFill>
                <a:latin typeface="Arial" pitchFamily="34" charset="0"/>
                <a:ea typeface="Arial" pitchFamily="34" charset="-122"/>
                <a:cs typeface="Arial" pitchFamily="34" charset="-120"/>
              </a:rPr>
              <a:t>-</a:t>
            </a:r>
            <a:r>
              <a:rPr lang="en-US" sz="1200" b="1" dirty="0">
                <a:solidFill>
                  <a:srgbClr val="1A1916"/>
                </a:solidFill>
                <a:latin typeface="Arial" pitchFamily="34" charset="0"/>
                <a:ea typeface="Arial" pitchFamily="34" charset="-122"/>
                <a:cs typeface="Arial" pitchFamily="34" charset="-120"/>
              </a:rPr>
              <a:t xml:space="preserve"> identification in logs</a:t>
            </a:r>
            <a:endParaRPr lang="en-US" sz="1200" dirty="0"/>
          </a:p>
        </p:txBody>
      </p:sp>
      <p:sp>
        <p:nvSpPr>
          <p:cNvPr id="30" name="ib"/>
          <p:cNvSpPr/>
          <p:nvPr/>
        </p:nvSpPr>
        <p:spPr>
          <a:xfrm>
            <a:off x="4609200" y="1824140"/>
            <a:ext cx="2125800" cy="1132560"/>
          </a:xfrm>
          <a:prstGeom prst="rect">
            <a:avLst/>
          </a:prstGeom>
          <a:solidFill>
            <a:srgbClr val="EFF6FF"/>
          </a:solidFill>
          <a:ln w="8890">
            <a:solidFill>
              <a:srgbClr val="93C5FD"/>
            </a:solidFill>
            <a:prstDash val="solid"/>
          </a:ln>
        </p:spPr>
        <p:txBody>
          <a:bodyPr/>
          <a:lstStyle/>
          <a:p>
            <a:endParaRPr lang="pl-PL"/>
          </a:p>
        </p:txBody>
      </p:sp>
      <p:sp>
        <p:nvSpPr>
          <p:cNvPr id="31" name="ico"/>
          <p:cNvSpPr/>
          <p:nvPr/>
        </p:nvSpPr>
        <p:spPr>
          <a:xfrm>
            <a:off x="4609200" y="1897292"/>
            <a:ext cx="2125800" cy="320040"/>
          </a:xfrm>
          <a:prstGeom prst="rect">
            <a:avLst/>
          </a:prstGeom>
          <a:noFill/>
          <a:ln/>
        </p:spPr>
        <p:txBody>
          <a:bodyPr wrap="square" lIns="0" tIns="0" rIns="0" bIns="0" rtlCol="0" anchor="ctr"/>
          <a:lstStyle/>
          <a:p>
            <a:pPr marL="0" indent="0" algn="ctr">
              <a:buNone/>
            </a:pPr>
            <a:r>
              <a:rPr lang="en-US" sz="1800" dirty="0">
                <a:solidFill>
                  <a:srgbClr val="1A1916"/>
                </a:solidFill>
                <a:latin typeface="Arial" pitchFamily="34" charset="0"/>
                <a:ea typeface="Arial" pitchFamily="34" charset="-122"/>
                <a:cs typeface="Arial" pitchFamily="34" charset="-120"/>
              </a:rPr>
              <a:t>📝</a:t>
            </a:r>
            <a:endParaRPr lang="en-US" sz="1800" dirty="0"/>
          </a:p>
        </p:txBody>
      </p:sp>
      <p:sp>
        <p:nvSpPr>
          <p:cNvPr id="32" name="hdr"/>
          <p:cNvSpPr/>
          <p:nvPr/>
        </p:nvSpPr>
        <p:spPr>
          <a:xfrm>
            <a:off x="4682352" y="2217332"/>
            <a:ext cx="1979496" cy="228600"/>
          </a:xfrm>
          <a:prstGeom prst="rect">
            <a:avLst/>
          </a:prstGeom>
          <a:noFill/>
          <a:ln/>
        </p:spPr>
        <p:txBody>
          <a:bodyPr wrap="square" lIns="0" tIns="0" rIns="0" bIns="0" rtlCol="0" anchor="ctr"/>
          <a:lstStyle/>
          <a:p>
            <a:pPr marL="0" indent="0" algn="ctr">
              <a:buNone/>
            </a:pPr>
            <a:r>
              <a:rPr lang="en-US" sz="1100" b="1" dirty="0">
                <a:solidFill>
                  <a:srgbClr val="1A1916"/>
                </a:solidFill>
                <a:latin typeface="Arial" pitchFamily="34" charset="0"/>
                <a:ea typeface="Arial" pitchFamily="34" charset="-122"/>
                <a:cs typeface="Arial" pitchFamily="34" charset="-120"/>
              </a:rPr>
              <a:t>Label in the file</a:t>
            </a:r>
            <a:endParaRPr lang="en-US" sz="1100" dirty="0"/>
          </a:p>
        </p:txBody>
      </p:sp>
      <p:sp>
        <p:nvSpPr>
          <p:cNvPr id="33" name="bdy"/>
          <p:cNvSpPr/>
          <p:nvPr/>
        </p:nvSpPr>
        <p:spPr>
          <a:xfrm>
            <a:off x="4682352" y="2445932"/>
            <a:ext cx="1979496" cy="437616"/>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USER_LABEL = 'u-2207'</a:t>
            </a:r>
            <a:endParaRPr lang="en-US" sz="950" dirty="0"/>
          </a:p>
          <a:p>
            <a:pPr marL="0" indent="0">
              <a:buNone/>
            </a:pPr>
            <a:r>
              <a:rPr lang="en-US" sz="950" dirty="0">
                <a:solidFill>
                  <a:srgbClr val="5A5850"/>
                </a:solidFill>
                <a:latin typeface="Arial" pitchFamily="34" charset="0"/>
                <a:ea typeface="Arial" pitchFamily="34" charset="-122"/>
                <a:cs typeface="Arial" pitchFamily="34" charset="-120"/>
              </a:rPr>
              <a:t>built into the file</a:t>
            </a:r>
            <a:endParaRPr lang="en-US" sz="950" dirty="0"/>
          </a:p>
          <a:p>
            <a:pPr marL="0" indent="0">
              <a:buNone/>
            </a:pPr>
            <a:r>
              <a:rPr lang="en-US" sz="950" dirty="0">
                <a:solidFill>
                  <a:srgbClr val="5A5850"/>
                </a:solidFill>
                <a:latin typeface="Arial" pitchFamily="34" charset="0"/>
                <a:ea typeface="Arial" pitchFamily="34" charset="-122"/>
                <a:cs typeface="Arial" pitchFamily="34" charset="-120"/>
              </a:rPr>
              <a:t>before distribution</a:t>
            </a:r>
            <a:endParaRPr lang="en-US" sz="950" dirty="0"/>
          </a:p>
        </p:txBody>
      </p:sp>
      <p:sp>
        <p:nvSpPr>
          <p:cNvPr id="34" name="ib"/>
          <p:cNvSpPr/>
          <p:nvPr/>
        </p:nvSpPr>
        <p:spPr>
          <a:xfrm>
            <a:off x="6826440" y="1824140"/>
            <a:ext cx="2125800" cy="1132560"/>
          </a:xfrm>
          <a:prstGeom prst="rect">
            <a:avLst/>
          </a:prstGeom>
          <a:solidFill>
            <a:srgbClr val="FEF3C7"/>
          </a:solidFill>
          <a:ln w="8890">
            <a:solidFill>
              <a:srgbClr val="FCD34D"/>
            </a:solidFill>
            <a:prstDash val="solid"/>
          </a:ln>
        </p:spPr>
        <p:txBody>
          <a:bodyPr/>
          <a:lstStyle/>
          <a:p>
            <a:endParaRPr lang="pl-PL"/>
          </a:p>
        </p:txBody>
      </p:sp>
      <p:sp>
        <p:nvSpPr>
          <p:cNvPr id="35" name="ico"/>
          <p:cNvSpPr/>
          <p:nvPr/>
        </p:nvSpPr>
        <p:spPr>
          <a:xfrm>
            <a:off x="6826440" y="1897292"/>
            <a:ext cx="2125800" cy="320040"/>
          </a:xfrm>
          <a:prstGeom prst="rect">
            <a:avLst/>
          </a:prstGeom>
          <a:noFill/>
          <a:ln/>
        </p:spPr>
        <p:txBody>
          <a:bodyPr wrap="square" lIns="0" tIns="0" rIns="0" bIns="0" rtlCol="0" anchor="ctr"/>
          <a:lstStyle/>
          <a:p>
            <a:pPr marL="0" indent="0" algn="ctr">
              <a:buNone/>
            </a:pPr>
            <a:r>
              <a:rPr lang="en-US" sz="1800" dirty="0">
                <a:solidFill>
                  <a:srgbClr val="1A1916"/>
                </a:solidFill>
                <a:latin typeface="Arial" pitchFamily="34" charset="0"/>
                <a:ea typeface="Arial" pitchFamily="34" charset="-122"/>
                <a:cs typeface="Arial" pitchFamily="34" charset="-120"/>
              </a:rPr>
              <a:t>📊</a:t>
            </a:r>
            <a:endParaRPr lang="en-US" sz="1800" dirty="0"/>
          </a:p>
        </p:txBody>
      </p:sp>
      <p:sp>
        <p:nvSpPr>
          <p:cNvPr id="36" name="hdr"/>
          <p:cNvSpPr/>
          <p:nvPr/>
        </p:nvSpPr>
        <p:spPr>
          <a:xfrm>
            <a:off x="6899592" y="2217332"/>
            <a:ext cx="1979496" cy="228600"/>
          </a:xfrm>
          <a:prstGeom prst="rect">
            <a:avLst/>
          </a:prstGeom>
          <a:noFill/>
          <a:ln/>
        </p:spPr>
        <p:txBody>
          <a:bodyPr wrap="square" lIns="0" tIns="0" rIns="0" bIns="0" rtlCol="0" anchor="ctr"/>
          <a:lstStyle/>
          <a:p>
            <a:pPr marL="0" indent="0" algn="ctr">
              <a:buNone/>
            </a:pPr>
            <a:r>
              <a:rPr lang="en-US" sz="1100" b="1" dirty="0">
                <a:solidFill>
                  <a:srgbClr val="1A1916"/>
                </a:solidFill>
                <a:latin typeface="Arial" pitchFamily="34" charset="0"/>
                <a:ea typeface="Arial" pitchFamily="34" charset="-122"/>
                <a:cs typeface="Arial" pitchFamily="34" charset="-120"/>
              </a:rPr>
              <a:t>In Anthropic logs</a:t>
            </a:r>
            <a:endParaRPr lang="en-US" sz="1100" dirty="0"/>
          </a:p>
        </p:txBody>
      </p:sp>
      <p:sp>
        <p:nvSpPr>
          <p:cNvPr id="37" name="bdy"/>
          <p:cNvSpPr/>
          <p:nvPr/>
        </p:nvSpPr>
        <p:spPr>
          <a:xfrm>
            <a:off x="6899592" y="2445932"/>
            <a:ext cx="1979496" cy="437616"/>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Each API request</a:t>
            </a:r>
            <a:endParaRPr lang="en-US" sz="950" dirty="0"/>
          </a:p>
          <a:p>
            <a:pPr marL="0" indent="0">
              <a:buNone/>
            </a:pPr>
            <a:r>
              <a:rPr lang="en-US" sz="950" dirty="0">
                <a:solidFill>
                  <a:srgbClr val="5A5850"/>
                </a:solidFill>
                <a:latin typeface="Arial" pitchFamily="34" charset="0"/>
                <a:ea typeface="Arial" pitchFamily="34" charset="-122"/>
                <a:cs typeface="Arial" pitchFamily="34" charset="-120"/>
              </a:rPr>
              <a:t>contains the user name</a:t>
            </a:r>
            <a:endParaRPr lang="en-US" sz="950" dirty="0"/>
          </a:p>
          <a:p>
            <a:pPr marL="0" indent="0">
              <a:buNone/>
            </a:pPr>
            <a:r>
              <a:rPr lang="en-US" sz="950" dirty="0">
                <a:solidFill>
                  <a:srgbClr val="5A5850"/>
                </a:solidFill>
                <a:latin typeface="Arial" pitchFamily="34" charset="0"/>
                <a:ea typeface="Arial" pitchFamily="34" charset="-122"/>
                <a:cs typeface="Arial" pitchFamily="34" charset="-120"/>
              </a:rPr>
              <a:t>visible in the admin console</a:t>
            </a:r>
            <a:endParaRPr lang="en-US" sz="950" dirty="0"/>
          </a:p>
        </p:txBody>
      </p:sp>
      <p:sp>
        <p:nvSpPr>
          <p:cNvPr id="40" name="dot"/>
          <p:cNvSpPr/>
          <p:nvPr/>
        </p:nvSpPr>
        <p:spPr>
          <a:xfrm>
            <a:off x="173880" y="3427637"/>
            <a:ext cx="146304" cy="146304"/>
          </a:xfrm>
          <a:prstGeom prst="ellipse">
            <a:avLst/>
          </a:prstGeom>
          <a:solidFill>
            <a:srgbClr val="E23244"/>
          </a:solidFill>
          <a:ln w="12700">
            <a:solidFill>
              <a:srgbClr val="E23244"/>
            </a:solidFill>
          </a:ln>
        </p:spPr>
        <p:txBody>
          <a:bodyPr/>
          <a:lstStyle/>
          <a:p>
            <a:endParaRPr lang="pl-PL"/>
          </a:p>
        </p:txBody>
      </p:sp>
      <p:sp>
        <p:nvSpPr>
          <p:cNvPr id="41" name="bt"/>
          <p:cNvSpPr/>
          <p:nvPr/>
        </p:nvSpPr>
        <p:spPr>
          <a:xfrm>
            <a:off x="420768" y="3391061"/>
            <a:ext cx="8412480" cy="228600"/>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 xml:space="preserve">The fingerprint locks the file on a foreign </a:t>
            </a:r>
            <a:r>
              <a:rPr lang="en-US" sz="1200" dirty="0" err="1">
                <a:solidFill>
                  <a:srgbClr val="1A1916"/>
                </a:solidFill>
                <a:latin typeface="Arial" pitchFamily="34" charset="0"/>
                <a:ea typeface="Arial" pitchFamily="34" charset="-122"/>
                <a:cs typeface="Arial" pitchFamily="34" charset="-120"/>
              </a:rPr>
              <a:t>device</a:t>
            </a:r>
            <a:r>
              <a:rPr lang="en-US" sz="1200" dirty="0">
                <a:solidFill>
                  <a:srgbClr val="1A1916"/>
                </a:solidFill>
                <a:latin typeface="Arial" pitchFamily="34" charset="0"/>
                <a:ea typeface="Arial" pitchFamily="34" charset="-122"/>
                <a:cs typeface="Arial" pitchFamily="34" charset="-120"/>
              </a:rPr>
              <a:t xml:space="preserve"> </a:t>
            </a:r>
            <a:r>
              <a:rPr lang="pl-PL" sz="1200" dirty="0">
                <a:solidFill>
                  <a:srgbClr val="1A1916"/>
                </a:solidFill>
                <a:latin typeface="Arial" pitchFamily="34" charset="0"/>
                <a:ea typeface="Arial" pitchFamily="34" charset="-122"/>
                <a:cs typeface="Arial" pitchFamily="34" charset="-120"/>
              </a:rPr>
              <a:t>-</a:t>
            </a:r>
            <a:r>
              <a:rPr lang="en-US" sz="1200" dirty="0">
                <a:solidFill>
                  <a:srgbClr val="1A1916"/>
                </a:solidFill>
                <a:latin typeface="Arial" pitchFamily="34" charset="0"/>
                <a:ea typeface="Arial" pitchFamily="34" charset="-122"/>
                <a:cs typeface="Arial" pitchFamily="34" charset="-120"/>
              </a:rPr>
              <a:t xml:space="preserve"> the watermark reveals who shared it</a:t>
            </a:r>
          </a:p>
        </p:txBody>
      </p:sp>
      <p:sp>
        <p:nvSpPr>
          <p:cNvPr id="42" name="dot"/>
          <p:cNvSpPr/>
          <p:nvPr/>
        </p:nvSpPr>
        <p:spPr>
          <a:xfrm>
            <a:off x="173880" y="3702677"/>
            <a:ext cx="146304" cy="146304"/>
          </a:xfrm>
          <a:prstGeom prst="ellipse">
            <a:avLst/>
          </a:prstGeom>
          <a:solidFill>
            <a:srgbClr val="B45309"/>
          </a:solidFill>
          <a:ln w="12700">
            <a:solidFill>
              <a:srgbClr val="B45309"/>
            </a:solidFill>
          </a:ln>
        </p:spPr>
        <p:txBody>
          <a:bodyPr/>
          <a:lstStyle/>
          <a:p>
            <a:endParaRPr lang="pl-PL"/>
          </a:p>
        </p:txBody>
      </p:sp>
      <p:sp>
        <p:nvSpPr>
          <p:cNvPr id="43" name="bt"/>
          <p:cNvSpPr/>
          <p:nvPr/>
        </p:nvSpPr>
        <p:spPr>
          <a:xfrm>
            <a:off x="420768" y="3666101"/>
            <a:ext cx="8412480" cy="228600"/>
          </a:xfrm>
          <a:prstGeom prst="rect">
            <a:avLst/>
          </a:prstGeom>
          <a:noFill/>
          <a:ln/>
        </p:spPr>
        <p:txBody>
          <a:bodyPr wrap="square" lIns="0" tIns="0" rIns="0" bIns="0" rtlCol="0" anchor="ctr"/>
          <a:lstStyle/>
          <a:p>
            <a:pPr marL="0" indent="0">
              <a:buNone/>
            </a:pPr>
            <a:r>
              <a:rPr lang="en-US" sz="1200" dirty="0">
                <a:solidFill>
                  <a:srgbClr val="1A1916"/>
                </a:solidFill>
                <a:latin typeface="Arial" pitchFamily="34" charset="0"/>
                <a:ea typeface="Arial" pitchFamily="34" charset="-122"/>
                <a:cs typeface="Arial" pitchFamily="34" charset="-120"/>
              </a:rPr>
              <a:t>Deactivating the key in the Anthropic console instantly disables all files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594360"/>
          </a:xfrm>
          <a:prstGeom prst="rect">
            <a:avLst/>
          </a:prstGeom>
          <a:solidFill>
            <a:srgbClr val="1A1916"/>
          </a:solidFill>
          <a:ln/>
        </p:spPr>
        <p:txBody>
          <a:bodyPr wrap="square" lIns="0" tIns="0" rIns="0" bIns="0" rtlCol="0" anchor="ctr"/>
          <a:lstStyle/>
          <a:p>
            <a:endParaRPr lang="pl-PL"/>
          </a:p>
        </p:txBody>
      </p:sp>
      <p:sp>
        <p:nvSpPr>
          <p:cNvPr id="3" name="section"/>
          <p:cNvSpPr/>
          <p:nvPr/>
        </p:nvSpPr>
        <p:spPr>
          <a:xfrm>
            <a:off x="320040" y="73152"/>
            <a:ext cx="4572000" cy="420624"/>
          </a:xfrm>
          <a:prstGeom prst="rect">
            <a:avLst/>
          </a:prstGeom>
          <a:noFill/>
          <a:ln/>
        </p:spPr>
        <p:txBody>
          <a:bodyPr wrap="square" lIns="0" tIns="0" rIns="0" bIns="0" rtlCol="0" anchor="ctr"/>
          <a:lstStyle/>
          <a:p>
            <a:pPr marL="0" indent="0">
              <a:buNone/>
            </a:pPr>
            <a:r>
              <a:rPr lang="en-US" sz="1100" b="1" spc="500" dirty="0">
                <a:solidFill>
                  <a:srgbClr val="F5A300"/>
                </a:solidFill>
                <a:latin typeface="Arial" pitchFamily="34" charset="0"/>
                <a:ea typeface="Arial" pitchFamily="34" charset="-122"/>
                <a:cs typeface="Arial" pitchFamily="34" charset="-120"/>
              </a:rPr>
              <a:t>SUMMARY</a:t>
            </a:r>
            <a:endParaRPr lang="en-US" sz="1100" dirty="0"/>
          </a:p>
        </p:txBody>
      </p:sp>
      <p:sp>
        <p:nvSpPr>
          <p:cNvPr id="4" name="title"/>
          <p:cNvSpPr/>
          <p:nvPr/>
        </p:nvSpPr>
        <p:spPr>
          <a:xfrm>
            <a:off x="320040" y="749808"/>
            <a:ext cx="8503920" cy="54864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Content AI protection layers</a:t>
            </a:r>
            <a:endParaRPr lang="en-US" sz="2600" dirty="0"/>
          </a:p>
        </p:txBody>
      </p:sp>
      <p:sp>
        <p:nvSpPr>
          <p:cNvPr id="10" name="chdr"/>
          <p:cNvSpPr/>
          <p:nvPr/>
        </p:nvSpPr>
        <p:spPr>
          <a:xfrm>
            <a:off x="228600" y="1453896"/>
            <a:ext cx="1828800" cy="274638"/>
          </a:xfrm>
          <a:prstGeom prst="rect">
            <a:avLst/>
          </a:prstGeom>
          <a:solidFill>
            <a:srgbClr val="1A1916"/>
          </a:solidFill>
          <a:ln>
            <a:noFill/>
          </a:ln>
        </p:spPr>
        <p:txBody>
          <a:bodyPr wrap="square" lIns="114300" tIns="45720" rIns="114300" bIns="4572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Protection layer</a:t>
            </a:r>
          </a:p>
        </p:txBody>
      </p:sp>
      <p:sp>
        <p:nvSpPr>
          <p:cNvPr id="11" name="chdr"/>
          <p:cNvSpPr/>
          <p:nvPr/>
        </p:nvSpPr>
        <p:spPr>
          <a:xfrm>
            <a:off x="2560080" y="1453896"/>
            <a:ext cx="3200400" cy="274638"/>
          </a:xfrm>
          <a:prstGeom prst="rect">
            <a:avLst/>
          </a:prstGeom>
          <a:solidFill>
            <a:srgbClr val="1A1916"/>
          </a:solidFill>
          <a:ln>
            <a:noFill/>
          </a:ln>
        </p:spPr>
        <p:txBody>
          <a:bodyPr wrap="square" lIns="114300" tIns="45720" rIns="114300" bIns="4572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Mechanism</a:t>
            </a:r>
          </a:p>
        </p:txBody>
      </p:sp>
      <p:sp>
        <p:nvSpPr>
          <p:cNvPr id="12" name="chdr"/>
          <p:cNvSpPr/>
          <p:nvPr/>
        </p:nvSpPr>
        <p:spPr>
          <a:xfrm>
            <a:off x="5806080" y="1453896"/>
            <a:ext cx="3018960" cy="274638"/>
          </a:xfrm>
          <a:prstGeom prst="rect">
            <a:avLst/>
          </a:prstGeom>
          <a:solidFill>
            <a:srgbClr val="1A1916"/>
          </a:solidFill>
          <a:ln>
            <a:noFill/>
          </a:ln>
        </p:spPr>
        <p:txBody>
          <a:bodyPr wrap="square" lIns="114300" tIns="45720" rIns="114300" bIns="4572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What it protects</a:t>
            </a:r>
          </a:p>
        </p:txBody>
      </p:sp>
      <p:sp>
        <p:nvSpPr>
          <p:cNvPr id="20" name="lr_bg"/>
          <p:cNvSpPr/>
          <p:nvPr/>
        </p:nvSpPr>
        <p:spPr>
          <a:xfrm>
            <a:off x="228600" y="1783776"/>
            <a:ext cx="8686800" cy="365760"/>
          </a:xfrm>
          <a:prstGeom prst="rect">
            <a:avLst/>
          </a:prstGeom>
          <a:solidFill>
            <a:srgbClr val="F9FAFB"/>
          </a:solidFill>
          <a:ln w="6350">
            <a:solidFill>
              <a:srgbClr val="1E4D8C"/>
            </a:solidFill>
            <a:prstDash val="solid"/>
          </a:ln>
        </p:spPr>
        <p:txBody>
          <a:bodyPr/>
          <a:lstStyle/>
          <a:p>
            <a:endParaRPr lang="pl-PL"/>
          </a:p>
        </p:txBody>
      </p:sp>
      <p:sp>
        <p:nvSpPr>
          <p:cNvPr id="21" name="icon"/>
          <p:cNvSpPr/>
          <p:nvPr/>
        </p:nvSpPr>
        <p:spPr>
          <a:xfrm>
            <a:off x="320040" y="1783776"/>
            <a:ext cx="320040" cy="365760"/>
          </a:xfrm>
          <a:prstGeom prst="rect">
            <a:avLst/>
          </a:prstGeom>
          <a:noFill/>
          <a:ln/>
        </p:spPr>
        <p:txBody>
          <a:bodyPr wrap="square" lIns="0" tIns="0" rIns="0" bIns="0" rtlCol="0" anchor="ctr"/>
          <a:lstStyle/>
          <a:p>
            <a:pPr marL="0" indent="0" algn="ctr">
              <a:buNone/>
            </a:pPr>
            <a:r>
              <a:rPr lang="en-US" sz="1600" dirty="0">
                <a:solidFill>
                  <a:srgbClr val="1A1916"/>
                </a:solidFill>
                <a:latin typeface="Arial" pitchFamily="34" charset="0"/>
                <a:ea typeface="Arial" pitchFamily="34" charset="-122"/>
                <a:cs typeface="Arial" pitchFamily="34" charset="-120"/>
              </a:rPr>
              <a:t>🔒</a:t>
            </a:r>
            <a:endParaRPr lang="en-US" sz="1600" dirty="0"/>
          </a:p>
        </p:txBody>
      </p:sp>
      <p:sp>
        <p:nvSpPr>
          <p:cNvPr id="22" name="lbl"/>
          <p:cNvSpPr/>
          <p:nvPr/>
        </p:nvSpPr>
        <p:spPr>
          <a:xfrm>
            <a:off x="685800" y="1856928"/>
            <a:ext cx="1828800" cy="21945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JS obfuscation</a:t>
            </a:r>
            <a:endParaRPr lang="en-US" sz="1050" dirty="0"/>
          </a:p>
        </p:txBody>
      </p:sp>
      <p:sp>
        <p:nvSpPr>
          <p:cNvPr id="23" name="mech"/>
          <p:cNvSpPr/>
          <p:nvPr/>
        </p:nvSpPr>
        <p:spPr>
          <a:xfrm>
            <a:off x="2560080" y="1856928"/>
            <a:ext cx="3200400" cy="21945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Unreadable JS, encoded strings, build.py automates</a:t>
            </a:r>
            <a:endParaRPr lang="en-US" sz="1000" dirty="0"/>
          </a:p>
        </p:txBody>
      </p:sp>
      <p:sp>
        <p:nvSpPr>
          <p:cNvPr id="24" name="eff"/>
          <p:cNvSpPr/>
          <p:nvPr/>
        </p:nvSpPr>
        <p:spPr>
          <a:xfrm>
            <a:off x="5806080" y="1856928"/>
            <a:ext cx="3018960" cy="219456"/>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Makes extracting the API key from the HTML file harder</a:t>
            </a:r>
            <a:endParaRPr lang="en-US" sz="1000" dirty="0"/>
          </a:p>
        </p:txBody>
      </p:sp>
      <p:sp>
        <p:nvSpPr>
          <p:cNvPr id="25" name="lr_bg"/>
          <p:cNvSpPr/>
          <p:nvPr/>
        </p:nvSpPr>
        <p:spPr>
          <a:xfrm>
            <a:off x="228600" y="2185776"/>
            <a:ext cx="8686800" cy="365760"/>
          </a:xfrm>
          <a:prstGeom prst="rect">
            <a:avLst/>
          </a:prstGeom>
          <a:solidFill>
            <a:srgbClr val="F9FAFB"/>
          </a:solidFill>
          <a:ln w="6350">
            <a:solidFill>
              <a:srgbClr val="B45309"/>
            </a:solidFill>
            <a:prstDash val="solid"/>
          </a:ln>
        </p:spPr>
        <p:txBody>
          <a:bodyPr/>
          <a:lstStyle/>
          <a:p>
            <a:endParaRPr lang="pl-PL"/>
          </a:p>
        </p:txBody>
      </p:sp>
      <p:sp>
        <p:nvSpPr>
          <p:cNvPr id="26" name="icon"/>
          <p:cNvSpPr/>
          <p:nvPr/>
        </p:nvSpPr>
        <p:spPr>
          <a:xfrm>
            <a:off x="320040" y="2185776"/>
            <a:ext cx="320040" cy="365760"/>
          </a:xfrm>
          <a:prstGeom prst="rect">
            <a:avLst/>
          </a:prstGeom>
          <a:noFill/>
          <a:ln/>
        </p:spPr>
        <p:txBody>
          <a:bodyPr wrap="square" lIns="0" tIns="0" rIns="0" bIns="0" rtlCol="0" anchor="ctr"/>
          <a:lstStyle/>
          <a:p>
            <a:pPr marL="0" indent="0" algn="ctr">
              <a:buNone/>
            </a:pPr>
            <a:r>
              <a:rPr lang="en-US" sz="1600" dirty="0">
                <a:solidFill>
                  <a:srgbClr val="1A1916"/>
                </a:solidFill>
                <a:latin typeface="Arial" pitchFamily="34" charset="0"/>
                <a:ea typeface="Arial" pitchFamily="34" charset="-122"/>
                <a:cs typeface="Arial" pitchFamily="34" charset="-120"/>
              </a:rPr>
              <a:t>💰</a:t>
            </a:r>
            <a:endParaRPr lang="en-US" sz="1600" dirty="0"/>
          </a:p>
        </p:txBody>
      </p:sp>
      <p:sp>
        <p:nvSpPr>
          <p:cNvPr id="27" name="lbl"/>
          <p:cNvSpPr/>
          <p:nvPr/>
        </p:nvSpPr>
        <p:spPr>
          <a:xfrm>
            <a:off x="685800" y="2258928"/>
            <a:ext cx="1828800" cy="21945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Spending limit</a:t>
            </a:r>
            <a:endParaRPr lang="en-US" sz="1050" dirty="0"/>
          </a:p>
        </p:txBody>
      </p:sp>
      <p:sp>
        <p:nvSpPr>
          <p:cNvPr id="28" name="mech"/>
          <p:cNvSpPr/>
          <p:nvPr/>
        </p:nvSpPr>
        <p:spPr>
          <a:xfrm>
            <a:off x="2560080" y="2258928"/>
            <a:ext cx="3200400" cy="21945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Hard $ limit in the Anthropic Console + email alert at 80%</a:t>
            </a:r>
            <a:endParaRPr lang="en-US" sz="1000" dirty="0"/>
          </a:p>
        </p:txBody>
      </p:sp>
      <p:sp>
        <p:nvSpPr>
          <p:cNvPr id="29" name="eff"/>
          <p:cNvSpPr/>
          <p:nvPr/>
        </p:nvSpPr>
        <p:spPr>
          <a:xfrm>
            <a:off x="5806080" y="2258928"/>
            <a:ext cx="3018960" cy="219456"/>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Limits cost even if the key leaks externally</a:t>
            </a:r>
            <a:endParaRPr lang="en-US" sz="1000" dirty="0"/>
          </a:p>
        </p:txBody>
      </p:sp>
      <p:sp>
        <p:nvSpPr>
          <p:cNvPr id="30" name="lr_bg"/>
          <p:cNvSpPr/>
          <p:nvPr/>
        </p:nvSpPr>
        <p:spPr>
          <a:xfrm>
            <a:off x="228600" y="2587776"/>
            <a:ext cx="8686800" cy="365760"/>
          </a:xfrm>
          <a:prstGeom prst="rect">
            <a:avLst/>
          </a:prstGeom>
          <a:solidFill>
            <a:srgbClr val="F9FAFB"/>
          </a:solidFill>
          <a:ln w="6350">
            <a:solidFill>
              <a:srgbClr val="1E7A4A"/>
            </a:solidFill>
            <a:prstDash val="solid"/>
          </a:ln>
        </p:spPr>
        <p:txBody>
          <a:bodyPr/>
          <a:lstStyle/>
          <a:p>
            <a:endParaRPr lang="pl-PL"/>
          </a:p>
        </p:txBody>
      </p:sp>
      <p:sp>
        <p:nvSpPr>
          <p:cNvPr id="31" name="icon"/>
          <p:cNvSpPr/>
          <p:nvPr/>
        </p:nvSpPr>
        <p:spPr>
          <a:xfrm>
            <a:off x="320040" y="2587776"/>
            <a:ext cx="320040" cy="365760"/>
          </a:xfrm>
          <a:prstGeom prst="rect">
            <a:avLst/>
          </a:prstGeom>
          <a:noFill/>
          <a:ln/>
        </p:spPr>
        <p:txBody>
          <a:bodyPr wrap="square" lIns="0" tIns="0" rIns="0" bIns="0" rtlCol="0" anchor="ctr"/>
          <a:lstStyle/>
          <a:p>
            <a:pPr marL="0" indent="0" algn="ctr">
              <a:buNone/>
            </a:pPr>
            <a:r>
              <a:rPr lang="en-US" sz="1600" dirty="0">
                <a:solidFill>
                  <a:srgbClr val="1A1916"/>
                </a:solidFill>
                <a:latin typeface="Arial" pitchFamily="34" charset="0"/>
                <a:ea typeface="Arial" pitchFamily="34" charset="-122"/>
                <a:cs typeface="Arial" pitchFamily="34" charset="-120"/>
              </a:rPr>
              <a:t>🔐</a:t>
            </a:r>
            <a:endParaRPr lang="en-US" sz="1600" dirty="0"/>
          </a:p>
        </p:txBody>
      </p:sp>
      <p:sp>
        <p:nvSpPr>
          <p:cNvPr id="32" name="lbl"/>
          <p:cNvSpPr/>
          <p:nvPr/>
        </p:nvSpPr>
        <p:spPr>
          <a:xfrm>
            <a:off x="685800" y="2660928"/>
            <a:ext cx="1828800" cy="21945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Device fingerprint</a:t>
            </a:r>
            <a:endParaRPr lang="en-US" sz="1050" dirty="0"/>
          </a:p>
        </p:txBody>
      </p:sp>
      <p:sp>
        <p:nvSpPr>
          <p:cNvPr id="33" name="mech"/>
          <p:cNvSpPr/>
          <p:nvPr/>
        </p:nvSpPr>
        <p:spPr>
          <a:xfrm>
            <a:off x="2560080" y="2660928"/>
            <a:ext cx="3200400" cy="21945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Canvas+UA+TZ hash in localStorage, lock on mismatch</a:t>
            </a:r>
            <a:endParaRPr lang="en-US" sz="1000" dirty="0"/>
          </a:p>
        </p:txBody>
      </p:sp>
      <p:sp>
        <p:nvSpPr>
          <p:cNvPr id="34" name="eff"/>
          <p:cNvSpPr/>
          <p:nvPr/>
        </p:nvSpPr>
        <p:spPr>
          <a:xfrm>
            <a:off x="5806080" y="2660928"/>
            <a:ext cx="3018960" cy="219456"/>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Locks the file on an unauthorized device / path</a:t>
            </a:r>
            <a:endParaRPr lang="en-US" sz="1000" dirty="0"/>
          </a:p>
        </p:txBody>
      </p:sp>
      <p:sp>
        <p:nvSpPr>
          <p:cNvPr id="35" name="lr_bg"/>
          <p:cNvSpPr/>
          <p:nvPr/>
        </p:nvSpPr>
        <p:spPr>
          <a:xfrm>
            <a:off x="228600" y="2989776"/>
            <a:ext cx="8686800" cy="365760"/>
          </a:xfrm>
          <a:prstGeom prst="rect">
            <a:avLst/>
          </a:prstGeom>
          <a:solidFill>
            <a:srgbClr val="F9FAFB"/>
          </a:solidFill>
          <a:ln w="6350">
            <a:solidFill>
              <a:srgbClr val="E23244"/>
            </a:solidFill>
            <a:prstDash val="solid"/>
          </a:ln>
        </p:spPr>
        <p:txBody>
          <a:bodyPr/>
          <a:lstStyle/>
          <a:p>
            <a:endParaRPr lang="pl-PL"/>
          </a:p>
        </p:txBody>
      </p:sp>
      <p:sp>
        <p:nvSpPr>
          <p:cNvPr id="36" name="icon"/>
          <p:cNvSpPr/>
          <p:nvPr/>
        </p:nvSpPr>
        <p:spPr>
          <a:xfrm>
            <a:off x="320040" y="2989776"/>
            <a:ext cx="320040" cy="365760"/>
          </a:xfrm>
          <a:prstGeom prst="rect">
            <a:avLst/>
          </a:prstGeom>
          <a:noFill/>
          <a:ln/>
        </p:spPr>
        <p:txBody>
          <a:bodyPr wrap="square" lIns="0" tIns="0" rIns="0" bIns="0" rtlCol="0" anchor="ctr"/>
          <a:lstStyle/>
          <a:p>
            <a:pPr marL="0" indent="0" algn="ctr">
              <a:buNone/>
            </a:pPr>
            <a:r>
              <a:rPr lang="en-US" sz="1600" dirty="0">
                <a:solidFill>
                  <a:srgbClr val="1A1916"/>
                </a:solidFill>
                <a:latin typeface="Arial" pitchFamily="34" charset="0"/>
                <a:ea typeface="Arial" pitchFamily="34" charset="-122"/>
                <a:cs typeface="Arial" pitchFamily="34" charset="-120"/>
              </a:rPr>
              <a:t>🏷️</a:t>
            </a:r>
            <a:endParaRPr lang="en-US" sz="1600" dirty="0"/>
          </a:p>
        </p:txBody>
      </p:sp>
      <p:sp>
        <p:nvSpPr>
          <p:cNvPr id="37" name="lbl"/>
          <p:cNvSpPr/>
          <p:nvPr/>
        </p:nvSpPr>
        <p:spPr>
          <a:xfrm>
            <a:off x="685800" y="3062928"/>
            <a:ext cx="1828800" cy="21945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User watermark</a:t>
            </a:r>
            <a:endParaRPr lang="en-US" sz="1050" dirty="0"/>
          </a:p>
        </p:txBody>
      </p:sp>
      <p:sp>
        <p:nvSpPr>
          <p:cNvPr id="38" name="mech"/>
          <p:cNvSpPr/>
          <p:nvPr/>
        </p:nvSpPr>
        <p:spPr>
          <a:xfrm>
            <a:off x="2560080" y="3062928"/>
            <a:ext cx="3200400" cy="21945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USER_LABEL built into the system prompt of every request</a:t>
            </a:r>
            <a:endParaRPr lang="en-US" sz="1000" dirty="0"/>
          </a:p>
        </p:txBody>
      </p:sp>
      <p:sp>
        <p:nvSpPr>
          <p:cNvPr id="39" name="eff"/>
          <p:cNvSpPr/>
          <p:nvPr/>
        </p:nvSpPr>
        <p:spPr>
          <a:xfrm>
            <a:off x="5806080" y="3062928"/>
            <a:ext cx="3018960" cy="219456"/>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Identifies the user in Anthropic logs (7 days)</a:t>
            </a:r>
            <a:endParaRPr lang="en-US" sz="1000" dirty="0"/>
          </a:p>
        </p:txBody>
      </p:sp>
      <p:sp>
        <p:nvSpPr>
          <p:cNvPr id="40" name="lr_bg"/>
          <p:cNvSpPr/>
          <p:nvPr/>
        </p:nvSpPr>
        <p:spPr>
          <a:xfrm>
            <a:off x="228600" y="3391776"/>
            <a:ext cx="8686800" cy="365760"/>
          </a:xfrm>
          <a:prstGeom prst="rect">
            <a:avLst/>
          </a:prstGeom>
          <a:solidFill>
            <a:srgbClr val="F9FAFB"/>
          </a:solidFill>
          <a:ln w="6350">
            <a:solidFill>
              <a:srgbClr val="7C3AED"/>
            </a:solidFill>
            <a:prstDash val="solid"/>
          </a:ln>
        </p:spPr>
        <p:txBody>
          <a:bodyPr/>
          <a:lstStyle/>
          <a:p>
            <a:endParaRPr lang="pl-PL"/>
          </a:p>
        </p:txBody>
      </p:sp>
      <p:sp>
        <p:nvSpPr>
          <p:cNvPr id="41" name="icon"/>
          <p:cNvSpPr/>
          <p:nvPr/>
        </p:nvSpPr>
        <p:spPr>
          <a:xfrm>
            <a:off x="320040" y="3391776"/>
            <a:ext cx="320040" cy="365760"/>
          </a:xfrm>
          <a:prstGeom prst="rect">
            <a:avLst/>
          </a:prstGeom>
          <a:noFill/>
          <a:ln/>
        </p:spPr>
        <p:txBody>
          <a:bodyPr wrap="square" lIns="0" tIns="0" rIns="0" bIns="0" rtlCol="0" anchor="ctr"/>
          <a:lstStyle/>
          <a:p>
            <a:pPr marL="0" indent="0" algn="ctr">
              <a:buNone/>
            </a:pPr>
            <a:r>
              <a:rPr lang="en-US" sz="1600" dirty="0">
                <a:solidFill>
                  <a:srgbClr val="1A1916"/>
                </a:solidFill>
                <a:latin typeface="Arial" pitchFamily="34" charset="0"/>
                <a:ea typeface="Arial" pitchFamily="34" charset="-122"/>
                <a:cs typeface="Arial" pitchFamily="34" charset="-120"/>
              </a:rPr>
              <a:t>🔑</a:t>
            </a:r>
            <a:endParaRPr lang="en-US" sz="1600" dirty="0"/>
          </a:p>
        </p:txBody>
      </p:sp>
      <p:sp>
        <p:nvSpPr>
          <p:cNvPr id="42" name="lbl"/>
          <p:cNvSpPr/>
          <p:nvPr/>
        </p:nvSpPr>
        <p:spPr>
          <a:xfrm>
            <a:off x="685800" y="3464928"/>
            <a:ext cx="1828800" cy="21945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Key per person</a:t>
            </a:r>
            <a:endParaRPr lang="en-US" sz="1050" dirty="0"/>
          </a:p>
        </p:txBody>
      </p:sp>
      <p:sp>
        <p:nvSpPr>
          <p:cNvPr id="43" name="mech"/>
          <p:cNvSpPr/>
          <p:nvPr/>
        </p:nvSpPr>
        <p:spPr>
          <a:xfrm>
            <a:off x="2560080" y="3464928"/>
            <a:ext cx="3200400" cy="21945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One key = one person, deactivation in 1 click</a:t>
            </a:r>
            <a:endParaRPr lang="en-US" sz="1000" dirty="0"/>
          </a:p>
        </p:txBody>
      </p:sp>
      <p:sp>
        <p:nvSpPr>
          <p:cNvPr id="44" name="eff"/>
          <p:cNvSpPr/>
          <p:nvPr/>
        </p:nvSpPr>
        <p:spPr>
          <a:xfrm>
            <a:off x="5806080" y="3464928"/>
            <a:ext cx="3018960" cy="219456"/>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Instant access cut-off on departure / incident</a:t>
            </a:r>
            <a:endParaRPr lang="en-US" sz="1000" dirty="0"/>
          </a:p>
        </p:txBody>
      </p:sp>
      <p:sp>
        <p:nvSpPr>
          <p:cNvPr id="45" name="lr_bg"/>
          <p:cNvSpPr/>
          <p:nvPr/>
        </p:nvSpPr>
        <p:spPr>
          <a:xfrm>
            <a:off x="228600" y="3793776"/>
            <a:ext cx="8686800" cy="365760"/>
          </a:xfrm>
          <a:prstGeom prst="rect">
            <a:avLst/>
          </a:prstGeom>
          <a:solidFill>
            <a:srgbClr val="F9FAFB"/>
          </a:solidFill>
          <a:ln w="6350">
            <a:solidFill>
              <a:srgbClr val="0369A1"/>
            </a:solidFill>
            <a:prstDash val="solid"/>
          </a:ln>
        </p:spPr>
        <p:txBody>
          <a:bodyPr/>
          <a:lstStyle/>
          <a:p>
            <a:endParaRPr lang="pl-PL"/>
          </a:p>
        </p:txBody>
      </p:sp>
      <p:sp>
        <p:nvSpPr>
          <p:cNvPr id="46" name="icon"/>
          <p:cNvSpPr/>
          <p:nvPr/>
        </p:nvSpPr>
        <p:spPr>
          <a:xfrm>
            <a:off x="320040" y="3793776"/>
            <a:ext cx="320040" cy="365760"/>
          </a:xfrm>
          <a:prstGeom prst="rect">
            <a:avLst/>
          </a:prstGeom>
          <a:noFill/>
          <a:ln/>
        </p:spPr>
        <p:txBody>
          <a:bodyPr wrap="square" lIns="0" tIns="0" rIns="0" bIns="0" rtlCol="0" anchor="ctr"/>
          <a:lstStyle/>
          <a:p>
            <a:pPr marL="0" indent="0" algn="ctr">
              <a:buNone/>
            </a:pPr>
            <a:r>
              <a:rPr lang="en-US" sz="1600" dirty="0">
                <a:solidFill>
                  <a:srgbClr val="1A1916"/>
                </a:solidFill>
                <a:latin typeface="Arial" pitchFamily="34" charset="0"/>
                <a:ea typeface="Arial" pitchFamily="34" charset="-122"/>
                <a:cs typeface="Arial" pitchFamily="34" charset="-120"/>
              </a:rPr>
              <a:t>🌐</a:t>
            </a:r>
            <a:endParaRPr lang="en-US" sz="1600" dirty="0"/>
          </a:p>
        </p:txBody>
      </p:sp>
      <p:sp>
        <p:nvSpPr>
          <p:cNvPr id="47" name="lbl"/>
          <p:cNvSpPr/>
          <p:nvPr/>
        </p:nvSpPr>
        <p:spPr>
          <a:xfrm>
            <a:off x="685800" y="3866928"/>
            <a:ext cx="1828800" cy="219456"/>
          </a:xfrm>
          <a:prstGeom prst="rect">
            <a:avLst/>
          </a:prstGeom>
          <a:noFill/>
          <a:ln/>
        </p:spPr>
        <p:txBody>
          <a:bodyPr wrap="square" lIns="0" tIns="0" rIns="0" bIns="0" rtlCol="0" anchor="ctr"/>
          <a:lstStyle/>
          <a:p>
            <a:pPr marL="0" indent="0">
              <a:buNone/>
            </a:pPr>
            <a:r>
              <a:rPr lang="en-US" sz="1050" b="1" dirty="0">
                <a:solidFill>
                  <a:srgbClr val="1A1916"/>
                </a:solidFill>
                <a:latin typeface="Arial" pitchFamily="34" charset="0"/>
                <a:ea typeface="Arial" pitchFamily="34" charset="-122"/>
                <a:cs typeface="Arial" pitchFamily="34" charset="-120"/>
              </a:rPr>
              <a:t>Proxy (option B)</a:t>
            </a:r>
            <a:endParaRPr lang="en-US" sz="1050" dirty="0"/>
          </a:p>
        </p:txBody>
      </p:sp>
      <p:sp>
        <p:nvSpPr>
          <p:cNvPr id="48" name="mech"/>
          <p:cNvSpPr/>
          <p:nvPr/>
        </p:nvSpPr>
        <p:spPr>
          <a:xfrm>
            <a:off x="2560080" y="3866928"/>
            <a:ext cx="3200400" cy="21945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 xml:space="preserve">Cloudflare Worker </a:t>
            </a:r>
            <a:r>
              <a:rPr lang="pl-PL" sz="1000" dirty="0">
                <a:solidFill>
                  <a:srgbClr val="5A5850"/>
                </a:solidFill>
                <a:latin typeface="Arial" pitchFamily="34" charset="0"/>
                <a:ea typeface="Arial" pitchFamily="34" charset="-122"/>
                <a:cs typeface="Arial" pitchFamily="34" charset="-120"/>
              </a:rPr>
              <a:t>-</a:t>
            </a:r>
            <a:r>
              <a:rPr lang="en-US" sz="1000" dirty="0">
                <a:solidFill>
                  <a:srgbClr val="5A5850"/>
                </a:solidFill>
                <a:latin typeface="Arial" pitchFamily="34" charset="0"/>
                <a:ea typeface="Arial" pitchFamily="34" charset="-122"/>
                <a:cs typeface="Arial" pitchFamily="34" charset="-120"/>
              </a:rPr>
              <a:t xml:space="preserve"> key only on the server side</a:t>
            </a:r>
            <a:endParaRPr lang="en-US" sz="1000" dirty="0"/>
          </a:p>
        </p:txBody>
      </p:sp>
      <p:sp>
        <p:nvSpPr>
          <p:cNvPr id="49" name="eff"/>
          <p:cNvSpPr/>
          <p:nvPr/>
        </p:nvSpPr>
        <p:spPr>
          <a:xfrm>
            <a:off x="5806080" y="3866928"/>
            <a:ext cx="3018960" cy="219456"/>
          </a:xfrm>
          <a:prstGeom prst="rect">
            <a:avLst/>
          </a:prstGeom>
          <a:noFill/>
          <a:ln/>
        </p:spPr>
        <p:txBody>
          <a:bodyPr wrap="square" lIns="0" tIns="0" rIns="0" bIns="0" rtlCol="0" anchor="ctr"/>
          <a:lstStyle/>
          <a:p>
            <a:pPr marL="0" indent="0">
              <a:buNone/>
            </a:pPr>
            <a:r>
              <a:rPr lang="en-US" sz="1000" dirty="0">
                <a:solidFill>
                  <a:srgbClr val="1A1916"/>
                </a:solidFill>
                <a:latin typeface="Arial" pitchFamily="34" charset="0"/>
                <a:ea typeface="Arial" pitchFamily="34" charset="-122"/>
                <a:cs typeface="Arial" pitchFamily="34" charset="-120"/>
              </a:rPr>
              <a:t xml:space="preserve">The key never appears in the HTML file </a:t>
            </a:r>
            <a:r>
              <a:rPr lang="pl-PL" sz="1000" dirty="0">
                <a:solidFill>
                  <a:srgbClr val="1A1916"/>
                </a:solidFill>
                <a:latin typeface="Arial" pitchFamily="34" charset="0"/>
                <a:ea typeface="Arial" pitchFamily="34" charset="-122"/>
                <a:cs typeface="Arial" pitchFamily="34" charset="-120"/>
              </a:rPr>
              <a:t>-</a:t>
            </a:r>
            <a:r>
              <a:rPr lang="en-US" sz="1000" dirty="0">
                <a:solidFill>
                  <a:srgbClr val="1A1916"/>
                </a:solidFill>
                <a:latin typeface="Arial" pitchFamily="34" charset="0"/>
                <a:ea typeface="Arial" pitchFamily="34" charset="-122"/>
                <a:cs typeface="Arial" pitchFamily="34" charset="-120"/>
              </a:rPr>
              <a:t xml:space="preserve"> zero leak risk</a:t>
            </a:r>
            <a:endParaRPr lang="en-US" sz="1000" dirty="0"/>
          </a:p>
        </p:txBody>
      </p:sp>
      <p:sp>
        <p:nvSpPr>
          <p:cNvPr id="50" name="note"/>
          <p:cNvSpPr/>
          <p:nvPr/>
        </p:nvSpPr>
        <p:spPr>
          <a:xfrm>
            <a:off x="228600" y="4233096"/>
            <a:ext cx="8686800" cy="201168"/>
          </a:xfrm>
          <a:prstGeom prst="rect">
            <a:avLst/>
          </a:prstGeom>
          <a:noFill/>
          <a:ln/>
        </p:spPr>
        <p:txBody>
          <a:bodyPr wrap="square" lIns="0" tIns="0" rIns="0" bIns="0" rtlCol="0" anchor="ctr"/>
          <a:lstStyle/>
          <a:p>
            <a:pPr marL="0" indent="0">
              <a:buNone/>
            </a:pPr>
            <a:r>
              <a:rPr lang="en-US" sz="950" dirty="0">
                <a:solidFill>
                  <a:srgbClr val="5A5850"/>
                </a:solidFill>
                <a:latin typeface="Arial" pitchFamily="34" charset="0"/>
                <a:ea typeface="Arial" pitchFamily="34" charset="-122"/>
                <a:cs typeface="Arial" pitchFamily="34" charset="-120"/>
              </a:rPr>
              <a:t xml:space="preserve">Deployed </a:t>
            </a:r>
            <a:r>
              <a:rPr lang="en-US" sz="950" dirty="0" err="1">
                <a:solidFill>
                  <a:srgbClr val="5A5850"/>
                </a:solidFill>
                <a:latin typeface="Arial" pitchFamily="34" charset="0"/>
                <a:ea typeface="Arial" pitchFamily="34" charset="-122"/>
                <a:cs typeface="Arial" pitchFamily="34" charset="-120"/>
              </a:rPr>
              <a:t>layers</a:t>
            </a:r>
            <a:r>
              <a:rPr lang="en-US" sz="950" dirty="0">
                <a:solidFill>
                  <a:srgbClr val="5A5850"/>
                </a:solidFill>
                <a:latin typeface="Arial" pitchFamily="34" charset="0"/>
                <a:ea typeface="Arial" pitchFamily="34" charset="-122"/>
                <a:cs typeface="Arial" pitchFamily="34" charset="-120"/>
              </a:rPr>
              <a:t xml:space="preserve"> 1</a:t>
            </a:r>
            <a:r>
              <a:rPr lang="pl-PL" sz="950" dirty="0">
                <a:solidFill>
                  <a:srgbClr val="5A5850"/>
                </a:solidFill>
                <a:latin typeface="Arial" pitchFamily="34" charset="0"/>
                <a:ea typeface="Arial" pitchFamily="34" charset="-122"/>
                <a:cs typeface="Arial" pitchFamily="34" charset="-120"/>
              </a:rPr>
              <a:t>-</a:t>
            </a:r>
            <a:r>
              <a:rPr lang="en-US" sz="950" dirty="0">
                <a:solidFill>
                  <a:srgbClr val="5A5850"/>
                </a:solidFill>
                <a:latin typeface="Arial" pitchFamily="34" charset="0"/>
                <a:ea typeface="Arial" pitchFamily="34" charset="-122"/>
                <a:cs typeface="Arial" pitchFamily="34" charset="-120"/>
              </a:rPr>
              <a:t>4 cover typical risk scenarios when distributing an internal file. The Proxy option eliminates key leak risk entirely.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916"/>
          </a:solidFill>
          <a:ln w="12700">
            <a:solidFill>
              <a:srgbClr val="1A1916"/>
            </a:solidFill>
            <a:prstDash val="solid"/>
          </a:ln>
        </p:spPr>
        <p:txBody>
          <a:bodyPr/>
          <a:lstStyle/>
          <a:p>
            <a:endParaRPr lang="pl-PL"/>
          </a:p>
        </p:txBody>
      </p:sp>
      <p:sp>
        <p:nvSpPr>
          <p:cNvPr id="3" name="Shape 1"/>
          <p:cNvSpPr/>
          <p:nvPr/>
        </p:nvSpPr>
        <p:spPr>
          <a:xfrm>
            <a:off x="0" y="0"/>
            <a:ext cx="164592" cy="5143500"/>
          </a:xfrm>
          <a:prstGeom prst="rect">
            <a:avLst/>
          </a:prstGeom>
          <a:solidFill>
            <a:srgbClr val="F5A300"/>
          </a:solidFill>
          <a:ln w="12700">
            <a:solidFill>
              <a:srgbClr val="F5A300"/>
            </a:solidFill>
            <a:prstDash val="solid"/>
          </a:ln>
        </p:spPr>
        <p:txBody>
          <a:bodyPr/>
          <a:lstStyle/>
          <a:p>
            <a:endParaRPr lang="pl-PL"/>
          </a:p>
        </p:txBody>
      </p:sp>
      <p:sp>
        <p:nvSpPr>
          <p:cNvPr id="4" name="Text 2"/>
          <p:cNvSpPr/>
          <p:nvPr/>
        </p:nvSpPr>
        <p:spPr>
          <a:xfrm>
            <a:off x="457200" y="822960"/>
            <a:ext cx="8229600" cy="914400"/>
          </a:xfrm>
          <a:prstGeom prst="rect">
            <a:avLst/>
          </a:prstGeom>
          <a:noFill/>
          <a:ln/>
        </p:spPr>
        <p:txBody>
          <a:bodyPr wrap="square" lIns="0" tIns="0" rIns="0" bIns="0" rtlCol="0" anchor="ctr"/>
          <a:lstStyle/>
          <a:p>
            <a:pPr marL="0" indent="0">
              <a:buNone/>
            </a:pPr>
            <a:r>
              <a:rPr lang="en-US" sz="5400" b="1" dirty="0">
                <a:solidFill>
                  <a:srgbClr val="F5A300"/>
                </a:solidFill>
                <a:latin typeface="Arial Black" pitchFamily="34" charset="0"/>
                <a:ea typeface="Arial Black" pitchFamily="34" charset="-122"/>
                <a:cs typeface="Arial Black" pitchFamily="34" charset="-120"/>
              </a:rPr>
              <a:t>Thank you</a:t>
            </a:r>
            <a:endParaRPr lang="en-US" sz="5400" dirty="0"/>
          </a:p>
        </p:txBody>
      </p:sp>
      <p:sp>
        <p:nvSpPr>
          <p:cNvPr id="5" name="Text 3"/>
          <p:cNvSpPr/>
          <p:nvPr/>
        </p:nvSpPr>
        <p:spPr>
          <a:xfrm>
            <a:off x="457200" y="1691640"/>
            <a:ext cx="8229600" cy="594360"/>
          </a:xfrm>
          <a:prstGeom prst="rect">
            <a:avLst/>
          </a:prstGeom>
          <a:noFill/>
          <a:ln/>
        </p:spPr>
        <p:txBody>
          <a:bodyPr wrap="square" lIns="0" tIns="0" rIns="0" bIns="0" rtlCol="0" anchor="ctr"/>
          <a:lstStyle/>
          <a:p>
            <a:pPr marL="0" indent="0">
              <a:buNone/>
            </a:pPr>
            <a:r>
              <a:rPr lang="en-US" sz="3000" dirty="0">
                <a:solidFill>
                  <a:srgbClr val="FFFFFF"/>
                </a:solidFill>
                <a:latin typeface="Arial" pitchFamily="34" charset="0"/>
                <a:ea typeface="Arial" pitchFamily="34" charset="-122"/>
                <a:cs typeface="Arial" pitchFamily="34" charset="-120"/>
              </a:rPr>
              <a:t>for your attention and time.</a:t>
            </a:r>
            <a:endParaRPr lang="en-US" sz="3000" dirty="0"/>
          </a:p>
        </p:txBody>
      </p:sp>
      <p:sp>
        <p:nvSpPr>
          <p:cNvPr id="6" name="Shape 4"/>
          <p:cNvSpPr/>
          <p:nvPr/>
        </p:nvSpPr>
        <p:spPr>
          <a:xfrm>
            <a:off x="457200" y="2423160"/>
            <a:ext cx="2286000" cy="45720"/>
          </a:xfrm>
          <a:prstGeom prst="rect">
            <a:avLst/>
          </a:prstGeom>
          <a:solidFill>
            <a:srgbClr val="F5A300"/>
          </a:solidFill>
          <a:ln w="12700">
            <a:solidFill>
              <a:srgbClr val="F5A300"/>
            </a:solidFill>
            <a:prstDash val="solid"/>
          </a:ln>
        </p:spPr>
        <p:txBody>
          <a:bodyPr/>
          <a:lstStyle/>
          <a:p>
            <a:endParaRPr lang="pl-PL"/>
          </a:p>
        </p:txBody>
      </p:sp>
      <p:sp>
        <p:nvSpPr>
          <p:cNvPr id="7" name="Text 5"/>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Questions and further information:</a:t>
            </a:r>
            <a:endParaRPr lang="en-US" sz="1400" dirty="0"/>
          </a:p>
        </p:txBody>
      </p:sp>
      <p:sp>
        <p:nvSpPr>
          <p:cNvPr id="8" name="Text 6"/>
          <p:cNvSpPr/>
          <p:nvPr/>
        </p:nvSpPr>
        <p:spPr>
          <a:xfrm>
            <a:off x="457200" y="2971800"/>
            <a:ext cx="822960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Marcin Przybylski</a:t>
            </a:r>
            <a:endParaRPr lang="en-US" sz="2000" dirty="0"/>
          </a:p>
        </p:txBody>
      </p:sp>
      <p:sp>
        <p:nvSpPr>
          <p:cNvPr id="9" name="Text 7"/>
          <p:cNvSpPr/>
          <p:nvPr/>
        </p:nvSpPr>
        <p:spPr>
          <a:xfrm>
            <a:off x="457200" y="3401568"/>
            <a:ext cx="8229600" cy="292608"/>
          </a:xfrm>
          <a:prstGeom prst="rect">
            <a:avLst/>
          </a:prstGeom>
          <a:noFill/>
          <a:ln/>
        </p:spPr>
        <p:txBody>
          <a:bodyPr wrap="square" lIns="0" tIns="0" rIns="0" bIns="0" rtlCol="0" anchor="ctr"/>
          <a:lstStyle/>
          <a:p>
            <a:pPr marL="0" indent="0">
              <a:buNone/>
            </a:pPr>
            <a:r>
              <a:rPr lang="en-US" sz="1200" dirty="0">
                <a:solidFill>
                  <a:srgbClr val="AAAAAA"/>
                </a:solidFill>
                <a:latin typeface="Arial" pitchFamily="34" charset="0"/>
                <a:ea typeface="Arial" pitchFamily="34" charset="-122"/>
                <a:cs typeface="Arial" pitchFamily="34" charset="-120"/>
              </a:rPr>
              <a:t>Web and Digital Marketing Expert</a:t>
            </a:r>
            <a:endParaRPr lang="en-US" sz="1200" dirty="0"/>
          </a:p>
        </p:txBody>
      </p:sp>
      <p:sp>
        <p:nvSpPr>
          <p:cNvPr id="10" name="Text 8"/>
          <p:cNvSpPr/>
          <p:nvPr/>
        </p:nvSpPr>
        <p:spPr>
          <a:xfrm>
            <a:off x="457200" y="3730752"/>
            <a:ext cx="8229600" cy="292608"/>
          </a:xfrm>
          <a:prstGeom prst="rect">
            <a:avLst/>
          </a:prstGeom>
          <a:noFill/>
          <a:ln/>
        </p:spPr>
        <p:txBody>
          <a:bodyPr wrap="square" lIns="0" tIns="0" rIns="0" bIns="0" rtlCol="0" anchor="ctr"/>
          <a:lstStyle/>
          <a:p>
            <a:pPr marL="0" indent="0">
              <a:buNone/>
            </a:pPr>
            <a:r>
              <a:rPr lang="en-US" sz="1200" dirty="0">
                <a:solidFill>
                  <a:srgbClr val="AAAAAA"/>
                </a:solidFill>
                <a:latin typeface="Arial" pitchFamily="34" charset="0"/>
                <a:ea typeface="Arial" pitchFamily="34" charset="-122"/>
                <a:cs typeface="Arial" pitchFamily="34" charset="-120"/>
              </a:rPr>
              <a:t>Content AI</a:t>
            </a:r>
            <a:endParaRPr lang="en-US" sz="12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Label"/>
          <p:cNvSpPr/>
          <p:nvPr/>
        </p:nvSpPr>
        <p:spPr>
          <a:xfrm>
            <a:off x="365760" y="91440"/>
            <a:ext cx="5486400" cy="457200"/>
          </a:xfrm>
          <a:prstGeom prst="rect">
            <a:avLst/>
          </a:prstGeom>
          <a:noFill/>
          <a:ln/>
        </p:spPr>
        <p:txBody>
          <a:bodyPr wrap="square" lIns="0" tIns="0" rIns="0" bIns="0" rtlCol="0" anchor="ctr"/>
          <a:lstStyle/>
          <a:p>
            <a:pPr marL="0" indent="0">
              <a:buNone/>
            </a:pPr>
            <a:r>
              <a:rPr lang="pl-PL" sz="1100" b="1" kern="0" spc="500" dirty="0">
                <a:solidFill>
                  <a:srgbClr val="F5A300"/>
                </a:solidFill>
                <a:latin typeface="Arial" pitchFamily="34" charset="0"/>
              </a:rPr>
              <a:t>SECURITY — ARCHITECTURE</a:t>
            </a:r>
          </a:p>
        </p:txBody>
      </p:sp>
      <p:sp>
        <p:nvSpPr>
          <p:cNvPr id="3" name="Title"/>
          <p:cNvSpPr/>
          <p:nvPr/>
        </p:nvSpPr>
        <p:spPr>
          <a:xfrm>
            <a:off x="365760" y="548640"/>
            <a:ext cx="8412480" cy="594360"/>
          </a:xfrm>
          <a:prstGeom prst="rect">
            <a:avLst/>
          </a:prstGeom>
          <a:noFill/>
          <a:ln/>
        </p:spPr>
        <p:txBody>
          <a:bodyPr wrap="square" lIns="0" tIns="0" rIns="0" bIns="0" rtlCol="0" anchor="ctr"/>
          <a:lstStyle/>
          <a:p>
            <a:pPr marL="0" indent="0">
              <a:buNone/>
            </a:pPr>
            <a:r>
              <a:rPr lang="pl-PL" sz="2800" b="1" dirty="0">
                <a:solidFill>
                  <a:srgbClr val="1A1916"/>
                </a:solidFill>
                <a:latin typeface="Arial Black" pitchFamily="34" charset="0"/>
              </a:rPr>
              <a:t>Azure OpenAI — data in Content AI infrastructure</a:t>
            </a:r>
          </a:p>
        </p:txBody>
      </p:sp>
      <p:sp>
        <p:nvSpPr>
          <p:cNvPr id="4" name="Line"/>
          <p:cNvSpPr/>
          <p:nvPr/>
        </p:nvSpPr>
        <p:spPr>
          <a:xfrm>
            <a:off x="365760" y="1188720"/>
            <a:ext cx="8412480" cy="22860"/>
          </a:xfrm>
          <a:prstGeom prst="rect">
            <a:avLst/>
          </a:prstGeom>
          <a:solidFill>
            <a:srgbClr val="E8E8E8"/>
          </a:solidFill>
          <a:ln/>
        </p:spPr>
        <p:txBody>
          <a:bodyPr/>
          <a:lstStyle/>
        </p:txBody>
      </p:sp>
      <p:sp>
        <p:nvSpPr>
          <p:cNvPr id="5" name="H1"/>
          <p:cNvSpPr/>
          <p:nvPr/>
        </p:nvSpPr>
        <p:spPr>
          <a:xfrm>
            <a:off x="365760" y="1280160"/>
            <a:ext cx="3840480" cy="365760"/>
          </a:xfrm>
          <a:prstGeom prst="rect">
            <a:avLst/>
          </a:prstGeom>
          <a:solidFill>
            <a:srgbClr val="F8F8F8"/>
          </a:solidFill>
          <a:ln>
            <a:solidFill>
              <a:srgbClr val="E0E0E0"/>
            </a:solidFill>
          </a:ln>
        </p:spPr>
        <p:txBody>
          <a:bodyPr wrap="square" lIns="91440" tIns="45720" rIns="91440" bIns="45720" rtlCol="0" anchor="ctr"/>
          <a:lstStyle/>
          <a:p>
            <a:pPr marL="0" indent="0">
              <a:buNone/>
            </a:pPr>
            <a:r>
              <a:rPr lang="pl-PL" sz="1300" b="1" dirty="0">
                <a:solidFill>
                  <a:srgbClr val="555555"/>
                </a:solidFill>
                <a:latin typeface="Arial" pitchFamily="34" charset="0"/>
              </a:rPr>
              <a:t>Now: Anthropic API</a:t>
            </a:r>
          </a:p>
        </p:txBody>
      </p:sp>
      <p:sp>
        <p:nvSpPr>
          <p:cNvPr id="6" name="H2"/>
          <p:cNvSpPr/>
          <p:nvPr/>
        </p:nvSpPr>
        <p:spPr>
          <a:xfrm>
            <a:off x="4389120" y="1280160"/>
            <a:ext cx="4389120" cy="365760"/>
          </a:xfrm>
          <a:prstGeom prst="rect">
            <a:avLst/>
          </a:prstGeom>
          <a:solidFill>
            <a:srgbClr val="0078D4"/>
          </a:solidFill>
          <a:ln>
            <a:solidFill>
              <a:srgbClr val="0078D4"/>
            </a:solidFill>
          </a:ln>
        </p:spPr>
        <p:txBody>
          <a:bodyPr wrap="square" lIns="91440" tIns="45720" rIns="91440" bIns="45720" rtlCol="0" anchor="ctr"/>
          <a:lstStyle/>
          <a:p>
            <a:pPr marL="0" indent="0">
              <a:buNone/>
            </a:pPr>
            <a:r>
              <a:rPr lang="pl-PL" sz="1300" b="1" dirty="0">
                <a:solidFill>
                  <a:srgbClr val="FFFFFF"/>
                </a:solidFill>
                <a:latin typeface="Arial" pitchFamily="34" charset="0"/>
              </a:rPr>
              <a:t>☁️  Option: Azure OpenAI</a:t>
            </a:r>
          </a:p>
        </p:txBody>
      </p:sp>
      <p:sp>
        <p:nvSpPr>
          <p:cNvPr id="7" name="R1L"/>
          <p:cNvSpPr/>
          <p:nvPr/>
        </p:nvSpPr>
        <p:spPr>
          <a:xfrm>
            <a:off x="365760" y="1645920"/>
            <a:ext cx="3840480" cy="548640"/>
          </a:xfrm>
          <a:prstGeom prst="rect">
            <a:avLst/>
          </a:prstGeom>
          <a:solidFill>
            <a:srgbClr val="FAFAFA"/>
          </a:solidFill>
          <a:ln>
            <a:solidFill>
              <a:srgbClr val="E0E0E0"/>
            </a:solidFill>
          </a:ln>
        </p:spPr>
        <p:txBody>
          <a:bodyPr wrap="square" lIns="91440" tIns="45720" rIns="91440" bIns="45720" rtlCol="0" anchor="ctr"/>
          <a:lstStyle/>
          <a:p>
            <a:pPr marL="0" indent="0">
              <a:buNone/>
            </a:pPr>
            <a:r>
              <a:rPr lang="pl-PL" sz="1200" b="1" dirty="0">
                <a:solidFill>
                  <a:srgbClr val="333333"/>
                </a:solidFill>
                <a:latin typeface="Calibri" pitchFamily="34" charset="0"/>
              </a:rPr>
              <a:t>Data location</a:t>
            </a:r>
          </a:p>
          <a:p>
            <a:pPr marL="0" indent="0">
              <a:buNone/>
            </a:pPr>
            <a:r>
              <a:rPr lang="pl-PL" sz="1200" dirty="0">
                <a:solidFill>
                  <a:srgbClr val="666666"/>
                </a:solidFill>
                <a:latin typeface="Calibri" pitchFamily="34" charset="0"/>
              </a:rPr>
              <a:t>Serwery Anthropic (USA)</a:t>
            </a:r>
          </a:p>
        </p:txBody>
      </p:sp>
      <p:sp>
        <p:nvSpPr>
          <p:cNvPr id="8" name="R1R"/>
          <p:cNvSpPr/>
          <p:nvPr/>
        </p:nvSpPr>
        <p:spPr>
          <a:xfrm>
            <a:off x="4389120" y="1645920"/>
            <a:ext cx="4389120" cy="548640"/>
          </a:xfrm>
          <a:prstGeom prst="rect">
            <a:avLst/>
          </a:prstGeom>
          <a:solidFill>
            <a:srgbClr val="F0F7FF"/>
          </a:solidFill>
          <a:ln>
            <a:solidFill>
              <a:srgbClr val="0078D4"/>
            </a:solidFill>
          </a:ln>
        </p:spPr>
        <p:txBody>
          <a:bodyPr wrap="square" lIns="91440" tIns="45720" rIns="91440" bIns="45720" rtlCol="0" anchor="ctr"/>
          <a:lstStyle/>
          <a:p>
            <a:pPr marL="0" indent="0">
              <a:buNone/>
            </a:pPr>
            <a:r>
              <a:rPr lang="pl-PL" sz="1200" b="1" dirty="0">
                <a:solidFill>
                  <a:srgbClr val="0078D4"/>
                </a:solidFill>
                <a:latin typeface="Calibri" pitchFamily="34" charset="0"/>
              </a:rPr>
              <a:t>✅  Azure tenant Content AI</a:t>
            </a:r>
          </a:p>
          <a:p>
            <a:pPr marL="0" indent="0">
              <a:buNone/>
            </a:pPr>
            <a:r>
              <a:rPr lang="pl-PL" sz="1200" dirty="0">
                <a:solidFill>
                  <a:srgbClr val="666666"/>
                </a:solidFill>
                <a:latin typeface="Calibri" pitchFamily="34" charset="0"/>
              </a:rPr>
              <a:t>Your infrastructure, your control</a:t>
            </a:r>
          </a:p>
        </p:txBody>
      </p:sp>
      <p:sp>
        <p:nvSpPr>
          <p:cNvPr id="9" name="R2L"/>
          <p:cNvSpPr/>
          <p:nvPr/>
        </p:nvSpPr>
        <p:spPr>
          <a:xfrm>
            <a:off x="365760" y="2194560"/>
            <a:ext cx="3840480" cy="548640"/>
          </a:xfrm>
          <a:prstGeom prst="rect">
            <a:avLst/>
          </a:prstGeom>
          <a:solidFill>
            <a:srgbClr val="FAFAFA"/>
          </a:solidFill>
          <a:ln>
            <a:solidFill>
              <a:srgbClr val="E0E0E0"/>
            </a:solidFill>
          </a:ln>
        </p:spPr>
        <p:txBody>
          <a:bodyPr wrap="square" lIns="91440" tIns="45720" rIns="91440" bIns="45720" rtlCol="0" anchor="ctr"/>
          <a:lstStyle/>
          <a:p>
            <a:pPr marL="0" indent="0">
              <a:buNone/>
            </a:pPr>
            <a:r>
              <a:rPr lang="pl-PL" sz="1200" b="1" dirty="0">
                <a:solidFill>
                  <a:srgbClr val="333333"/>
                </a:solidFill>
                <a:latin typeface="Calibri" pitchFamily="34" charset="0"/>
              </a:rPr>
              <a:t>Log retention</a:t>
            </a:r>
          </a:p>
          <a:p>
            <a:pPr marL="0" indent="0">
              <a:buNone/>
            </a:pPr>
            <a:r>
              <a:rPr lang="pl-PL" sz="1200" dirty="0">
                <a:solidFill>
                  <a:srgbClr val="666666"/>
                </a:solidFill>
                <a:latin typeface="Calibri" pitchFamily="34" charset="0"/>
              </a:rPr>
              <a:t>7 dni, auto-usuwane</a:t>
            </a:r>
          </a:p>
        </p:txBody>
      </p:sp>
      <p:sp>
        <p:nvSpPr>
          <p:cNvPr id="10" name="R2R"/>
          <p:cNvSpPr/>
          <p:nvPr/>
        </p:nvSpPr>
        <p:spPr>
          <a:xfrm>
            <a:off x="4389120" y="2194560"/>
            <a:ext cx="4389120" cy="548640"/>
          </a:xfrm>
          <a:prstGeom prst="rect">
            <a:avLst/>
          </a:prstGeom>
          <a:solidFill>
            <a:srgbClr val="F0F7FF"/>
          </a:solidFill>
          <a:ln>
            <a:solidFill>
              <a:srgbClr val="0078D4"/>
            </a:solidFill>
          </a:ln>
        </p:spPr>
        <p:txBody>
          <a:bodyPr wrap="square" lIns="91440" tIns="45720" rIns="91440" bIns="45720" rtlCol="0" anchor="ctr"/>
          <a:lstStyle/>
          <a:p>
            <a:pPr marL="0" indent="0">
              <a:buNone/>
            </a:pPr>
            <a:r>
              <a:rPr lang="pl-PL" sz="1200" b="1" dirty="0">
                <a:solidFill>
                  <a:srgbClr val="0078D4"/>
                </a:solidFill>
                <a:latin typeface="Calibri" pitchFamily="34" charset="0"/>
              </a:rPr>
              <a:t>✅  In line with Content AI/Azure policy</a:t>
            </a:r>
          </a:p>
          <a:p>
            <a:pPr marL="0" indent="0">
              <a:buNone/>
            </a:pPr>
            <a:r>
              <a:rPr lang="pl-PL" sz="1200" dirty="0">
                <a:solidFill>
                  <a:srgbClr val="666666"/>
                </a:solidFill>
                <a:latin typeface="Calibri" pitchFamily="34" charset="0"/>
              </a:rPr>
              <a:t>Your retention rules, your audit</a:t>
            </a:r>
          </a:p>
        </p:txBody>
      </p:sp>
      <p:sp>
        <p:nvSpPr>
          <p:cNvPr id="11" name="R3L"/>
          <p:cNvSpPr/>
          <p:nvPr/>
        </p:nvSpPr>
        <p:spPr>
          <a:xfrm>
            <a:off x="365760" y="2743200"/>
            <a:ext cx="3840480" cy="548640"/>
          </a:xfrm>
          <a:prstGeom prst="rect">
            <a:avLst/>
          </a:prstGeom>
          <a:solidFill>
            <a:srgbClr val="FAFAFA"/>
          </a:solidFill>
          <a:ln>
            <a:solidFill>
              <a:srgbClr val="E0E0E0"/>
            </a:solidFill>
          </a:ln>
        </p:spPr>
        <p:txBody>
          <a:bodyPr wrap="square" lIns="91440" tIns="45720" rIns="91440" bIns="45720" rtlCol="0" anchor="ctr"/>
          <a:lstStyle/>
          <a:p>
            <a:pPr marL="0" indent="0">
              <a:buNone/>
            </a:pPr>
            <a:r>
              <a:rPr lang="pl-PL" sz="1200" b="1" dirty="0">
                <a:solidFill>
                  <a:srgbClr val="333333"/>
                </a:solidFill>
                <a:latin typeface="Calibri" pitchFamily="34" charset="0"/>
              </a:rPr>
              <a:t>Umowa / compliance</a:t>
            </a:r>
          </a:p>
          <a:p>
            <a:pPr marL="0" indent="0">
              <a:buNone/>
            </a:pPr>
            <a:r>
              <a:rPr lang="pl-PL" sz="1200" dirty="0">
                <a:solidFill>
                  <a:srgbClr val="666666"/>
                </a:solidFill>
                <a:latin typeface="Calibri" pitchFamily="34" charset="0"/>
              </a:rPr>
              <a:t>New agreement with Anthropic</a:t>
            </a:r>
          </a:p>
        </p:txBody>
      </p:sp>
      <p:sp>
        <p:nvSpPr>
          <p:cNvPr id="12" name="R3R"/>
          <p:cNvSpPr/>
          <p:nvPr/>
        </p:nvSpPr>
        <p:spPr>
          <a:xfrm>
            <a:off x="4389120" y="2743200"/>
            <a:ext cx="4389120" cy="548640"/>
          </a:xfrm>
          <a:prstGeom prst="rect">
            <a:avLst/>
          </a:prstGeom>
          <a:solidFill>
            <a:srgbClr val="F0F7FF"/>
          </a:solidFill>
          <a:ln>
            <a:solidFill>
              <a:srgbClr val="0078D4"/>
            </a:solidFill>
          </a:ln>
        </p:spPr>
        <p:txBody>
          <a:bodyPr wrap="square" lIns="91440" tIns="45720" rIns="91440" bIns="45720" rtlCol="0" anchor="ctr"/>
          <a:lstStyle/>
          <a:p>
            <a:pPr marL="0" indent="0">
              <a:buNone/>
            </a:pPr>
            <a:r>
              <a:rPr lang="pl-PL" sz="1200" b="1" dirty="0">
                <a:solidFill>
                  <a:srgbClr val="0078D4"/>
                </a:solidFill>
                <a:latin typeface="Calibri" pitchFamily="34" charset="0"/>
              </a:rPr>
              <a:t>✅  Existing Content AI Azure agreement</a:t>
            </a:r>
          </a:p>
          <a:p>
            <a:pPr marL="0" indent="0">
              <a:buNone/>
            </a:pPr>
            <a:r>
              <a:rPr lang="pl-PL" sz="1200" dirty="0">
                <a:solidFill>
                  <a:srgbClr val="666666"/>
                </a:solidFill>
                <a:latin typeface="Calibri" pitchFamily="34" charset="0"/>
              </a:rPr>
              <a:t>No new negotiations. Internal rollout.</a:t>
            </a:r>
          </a:p>
        </p:txBody>
      </p:sp>
      <p:sp>
        <p:nvSpPr>
          <p:cNvPr id="13" name="Note"/>
          <p:cNvSpPr/>
          <p:nvPr/>
        </p:nvSpPr>
        <p:spPr>
          <a:xfrm>
            <a:off x="365760" y="4754640"/>
            <a:ext cx="8778240" cy="274320"/>
          </a:xfrm>
          <a:prstGeom prst="rect">
            <a:avLst/>
          </a:prstGeom>
          <a:noFill/>
          <a:ln/>
        </p:spPr>
        <p:txBody>
          <a:bodyPr wrap="square" lIns="0" tIns="0" rIns="0" bIns="0" rtlCol="0" anchor="ctr"/>
          <a:lstStyle/>
          <a:p>
            <a:pPr marL="0" indent="0">
              <a:buNone/>
            </a:pPr>
            <a:r>
              <a:rPr lang="pl-PL" sz="1000" dirty="0">
                <a:solidFill>
                  <a:srgbClr val="AAAAAA"/>
                </a:solidFill>
                <a:latin typeface="Calibri" pitchFamily="34" charset="0"/>
              </a:rPr>
              <a:t>Technical implementation: ~30 lines of code. Changing the endpoint and request format. Available on request. GPT-4o vs Claude generation quality: testing recommended before deciding.</a:t>
            </a:r>
          </a:p>
        </p:txBody>
      </p:sp>
    </p:spTree>
  </p:cSld>
  <p:clrMapOvr>
    <a:masterClr/>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916"/>
          </a:solidFill>
          <a:ln w="12700">
            <a:solidFill>
              <a:srgbClr val="1A1916"/>
            </a:solidFill>
            <a:prstDash val="solid"/>
          </a:ln>
        </p:spPr>
        <p:txBody>
          <a:bodyPr/>
          <a:lstStyle/>
          <a:p>
            <a:endParaRPr lang="pl-PL"/>
          </a:p>
        </p:txBody>
      </p:sp>
      <p:sp>
        <p:nvSpPr>
          <p:cNvPr id="3" name="Text 1"/>
          <p:cNvSpPr/>
          <p:nvPr/>
        </p:nvSpPr>
        <p:spPr>
          <a:xfrm>
            <a:off x="320040" y="73152"/>
            <a:ext cx="5486400" cy="420624"/>
          </a:xfrm>
          <a:prstGeom prst="rect">
            <a:avLst/>
          </a:prstGeom>
          <a:noFill/>
          <a:ln/>
        </p:spPr>
        <p:txBody>
          <a:bodyPr wrap="square" lIns="0" tIns="0" rIns="0" bIns="0" rtlCol="0" anchor="ctr"/>
          <a:lstStyle/>
          <a:p>
            <a:pPr marL="0" indent="0">
              <a:buNone/>
            </a:pPr>
            <a:r>
              <a:rPr lang="en-US" sz="1100" b="1" kern="0" spc="500" dirty="0">
                <a:solidFill>
                  <a:srgbClr val="F5A300"/>
                </a:solidFill>
                <a:latin typeface="Arial" pitchFamily="34" charset="0"/>
                <a:ea typeface="Arial" pitchFamily="34" charset="-122"/>
                <a:cs typeface="Arial" pitchFamily="34" charset="-120"/>
              </a:rPr>
              <a:t>AI MODULES</a:t>
            </a:r>
            <a:endParaRPr lang="en-US" sz="1100" dirty="0"/>
          </a:p>
        </p:txBody>
      </p:sp>
      <p:sp>
        <p:nvSpPr>
          <p:cNvPr id="4" name="Text 2"/>
          <p:cNvSpPr/>
          <p:nvPr/>
        </p:nvSpPr>
        <p:spPr>
          <a:xfrm>
            <a:off x="320040" y="749808"/>
            <a:ext cx="8503920" cy="548640"/>
          </a:xfrm>
          <a:prstGeom prst="rect">
            <a:avLst/>
          </a:prstGeom>
          <a:noFill/>
          <a:ln/>
        </p:spPr>
        <p:txBody>
          <a:bodyPr wrap="square" lIns="0" tIns="0" rIns="0" bIns="0" rtlCol="0" anchor="ctr"/>
          <a:lstStyle/>
          <a:p>
            <a:pPr marL="0" indent="0">
              <a:buNone/>
            </a:pPr>
            <a:r>
              <a:rPr lang="en-US" sz="2600" b="1" dirty="0">
                <a:solidFill>
                  <a:srgbClr val="1A1916"/>
                </a:solidFill>
                <a:latin typeface="Arial Black" pitchFamily="34" charset="0"/>
                <a:ea typeface="Arial Black" pitchFamily="34" charset="-122"/>
                <a:cs typeface="Arial Black" pitchFamily="34" charset="-120"/>
              </a:rPr>
              <a:t>Visibility, report and AI-readiness</a:t>
            </a:r>
            <a:endParaRPr lang="en-US" sz="2600" dirty="0"/>
          </a:p>
        </p:txBody>
      </p:sp>
      <p:sp>
        <p:nvSpPr>
          <p:cNvPr id="5" name="Shape 3"/>
          <p:cNvSpPr/>
          <p:nvPr/>
        </p:nvSpPr>
        <p:spPr>
          <a:xfrm>
            <a:off x="228600" y="1481328"/>
            <a:ext cx="4023360" cy="347472"/>
          </a:xfrm>
          <a:prstGeom prst="rect">
            <a:avLst/>
          </a:prstGeom>
          <a:solidFill>
            <a:srgbClr val="B45309"/>
          </a:solidFill>
          <a:ln w="12700">
            <a:solidFill>
              <a:srgbClr val="B45309"/>
            </a:solidFill>
            <a:prstDash val="solid"/>
          </a:ln>
        </p:spPr>
        <p:txBody>
          <a:bodyPr/>
          <a:lstStyle/>
          <a:p>
            <a:endParaRPr lang="pl-PL"/>
          </a:p>
        </p:txBody>
      </p:sp>
      <p:sp>
        <p:nvSpPr>
          <p:cNvPr id="6" name="Text 4"/>
          <p:cNvSpPr/>
          <p:nvPr/>
        </p:nvSpPr>
        <p:spPr>
          <a:xfrm>
            <a:off x="228600" y="1481328"/>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NEW OUTGOING REQUESTS</a:t>
            </a:r>
            <a:endParaRPr lang="en-US" sz="1200" dirty="0"/>
          </a:p>
        </p:txBody>
      </p:sp>
      <p:sp>
        <p:nvSpPr>
          <p:cNvPr id="7" name="Shape 5"/>
          <p:cNvSpPr/>
          <p:nvPr/>
        </p:nvSpPr>
        <p:spPr>
          <a:xfrm>
            <a:off x="228600" y="1874520"/>
            <a:ext cx="4023360" cy="420624"/>
          </a:xfrm>
          <a:prstGeom prst="rect">
            <a:avLst/>
          </a:prstGeom>
          <a:solidFill>
            <a:srgbClr val="FEF3C7"/>
          </a:solidFill>
          <a:ln w="5080">
            <a:solidFill>
              <a:srgbClr val="FCD34D"/>
            </a:solidFill>
            <a:prstDash val="solid"/>
          </a:ln>
        </p:spPr>
        <p:txBody>
          <a:bodyPr/>
          <a:lstStyle/>
          <a:p>
            <a:endParaRPr lang="pl-PL"/>
          </a:p>
        </p:txBody>
      </p:sp>
      <p:sp>
        <p:nvSpPr>
          <p:cNvPr id="8" name="Text 6"/>
          <p:cNvSpPr/>
          <p:nvPr/>
        </p:nvSpPr>
        <p:spPr>
          <a:xfrm>
            <a:off x="347472" y="1892808"/>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Brand name and control queries (Visibility)</a:t>
            </a:r>
            <a:endParaRPr lang="en-US" sz="1150" dirty="0"/>
          </a:p>
        </p:txBody>
      </p:sp>
      <p:sp>
        <p:nvSpPr>
          <p:cNvPr id="9" name="Shape 7"/>
          <p:cNvSpPr/>
          <p:nvPr/>
        </p:nvSpPr>
        <p:spPr>
          <a:xfrm>
            <a:off x="228600" y="2359152"/>
            <a:ext cx="4023360" cy="420624"/>
          </a:xfrm>
          <a:prstGeom prst="rect">
            <a:avLst/>
          </a:prstGeom>
          <a:solidFill>
            <a:srgbClr val="FEF3C7"/>
          </a:solidFill>
          <a:ln w="5080">
            <a:solidFill>
              <a:srgbClr val="FCD34D"/>
            </a:solidFill>
            <a:prstDash val="solid"/>
          </a:ln>
        </p:spPr>
        <p:txBody>
          <a:bodyPr/>
          <a:lstStyle/>
          <a:p>
            <a:endParaRPr lang="pl-PL"/>
          </a:p>
        </p:txBody>
      </p:sp>
      <p:sp>
        <p:nvSpPr>
          <p:cNvPr id="10" name="Text 8"/>
          <p:cNvSpPr/>
          <p:nvPr/>
        </p:nvSpPr>
        <p:spPr>
          <a:xfrm>
            <a:off x="347472" y="2377440"/>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Web search performed by Anthropic</a:t>
            </a:r>
            <a:endParaRPr lang="en-US" sz="1150" dirty="0"/>
          </a:p>
        </p:txBody>
      </p:sp>
      <p:sp>
        <p:nvSpPr>
          <p:cNvPr id="11" name="Shape 9"/>
          <p:cNvSpPr/>
          <p:nvPr/>
        </p:nvSpPr>
        <p:spPr>
          <a:xfrm>
            <a:off x="228600" y="2843784"/>
            <a:ext cx="4023360" cy="420624"/>
          </a:xfrm>
          <a:prstGeom prst="rect">
            <a:avLst/>
          </a:prstGeom>
          <a:solidFill>
            <a:srgbClr val="FEF3C7"/>
          </a:solidFill>
          <a:ln w="5080">
            <a:solidFill>
              <a:srgbClr val="FCD34D"/>
            </a:solidFill>
            <a:prstDash val="solid"/>
          </a:ln>
        </p:spPr>
        <p:txBody>
          <a:bodyPr/>
          <a:lstStyle/>
          <a:p>
            <a:endParaRPr lang="pl-PL"/>
          </a:p>
        </p:txBody>
      </p:sp>
      <p:sp>
        <p:nvSpPr>
          <p:cNvPr id="12" name="Text 10"/>
          <p:cNvSpPr/>
          <p:nvPr/>
        </p:nvSpPr>
        <p:spPr>
          <a:xfrm>
            <a:off x="347472" y="2862072"/>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Brand description for narrative scoring</a:t>
            </a:r>
            <a:endParaRPr lang="en-US" sz="1150" dirty="0"/>
          </a:p>
        </p:txBody>
      </p:sp>
      <p:sp>
        <p:nvSpPr>
          <p:cNvPr id="13" name="Shape 11"/>
          <p:cNvSpPr/>
          <p:nvPr/>
        </p:nvSpPr>
        <p:spPr>
          <a:xfrm>
            <a:off x="228600" y="3328416"/>
            <a:ext cx="4023360" cy="420624"/>
          </a:xfrm>
          <a:prstGeom prst="rect">
            <a:avLst/>
          </a:prstGeom>
          <a:solidFill>
            <a:srgbClr val="FEF3C7"/>
          </a:solidFill>
          <a:ln w="5080">
            <a:solidFill>
              <a:srgbClr val="FCD34D"/>
            </a:solidFill>
            <a:prstDash val="solid"/>
          </a:ln>
        </p:spPr>
        <p:txBody>
          <a:bodyPr/>
          <a:lstStyle/>
          <a:p>
            <a:endParaRPr lang="pl-PL"/>
          </a:p>
        </p:txBody>
      </p:sp>
      <p:sp>
        <p:nvSpPr>
          <p:cNvPr id="14" name="Text 12"/>
          <p:cNvSpPr/>
          <p:nvPr/>
        </p:nvSpPr>
        <p:spPr>
          <a:xfrm>
            <a:off x="347472" y="3346704"/>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Competitor list for comparison</a:t>
            </a:r>
            <a:endParaRPr lang="en-US" sz="1150" dirty="0"/>
          </a:p>
        </p:txBody>
      </p:sp>
      <p:sp>
        <p:nvSpPr>
          <p:cNvPr id="15" name="Shape 13"/>
          <p:cNvSpPr/>
          <p:nvPr/>
        </p:nvSpPr>
        <p:spPr>
          <a:xfrm>
            <a:off x="228600" y="3813048"/>
            <a:ext cx="4023360" cy="420624"/>
          </a:xfrm>
          <a:prstGeom prst="rect">
            <a:avLst/>
          </a:prstGeom>
          <a:solidFill>
            <a:srgbClr val="FEF3C7"/>
          </a:solidFill>
          <a:ln w="5080">
            <a:solidFill>
              <a:srgbClr val="FCD34D"/>
            </a:solidFill>
            <a:prstDash val="solid"/>
          </a:ln>
        </p:spPr>
        <p:txBody>
          <a:bodyPr/>
          <a:lstStyle/>
          <a:p>
            <a:endParaRPr lang="pl-PL"/>
          </a:p>
        </p:txBody>
      </p:sp>
      <p:sp>
        <p:nvSpPr>
          <p:cNvPr id="16" name="Text 14"/>
          <p:cNvSpPr/>
          <p:nvPr/>
        </p:nvSpPr>
        <p:spPr>
          <a:xfrm>
            <a:off x="347472" y="3831336"/>
            <a:ext cx="3794760" cy="384048"/>
          </a:xfrm>
          <a:prstGeom prst="rect">
            <a:avLst/>
          </a:prstGeom>
          <a:noFill/>
          <a:ln/>
        </p:spPr>
        <p:txBody>
          <a:bodyPr wrap="square" lIns="0" tIns="0" rIns="0" bIns="0" rtlCol="0" anchor="ctr"/>
          <a:lstStyle/>
          <a:p>
            <a:pPr marL="0" indent="0">
              <a:buNone/>
            </a:pPr>
            <a:r>
              <a:rPr lang="en-US" sz="1150" dirty="0">
                <a:solidFill>
                  <a:srgbClr val="B45309"/>
                </a:solidFill>
                <a:latin typeface="Arial" pitchFamily="34" charset="0"/>
                <a:ea typeface="Arial" pitchFamily="34" charset="-122"/>
                <a:cs typeface="Arial" pitchFamily="34" charset="-120"/>
              </a:rPr>
              <a:t>⚠  Queries about the brand, not Content AI customers
⚠  GPT/Azure mode: web search unavailable</a:t>
            </a:r>
            <a:endParaRPr lang="en-US" sz="1150" dirty="0"/>
          </a:p>
        </p:txBody>
      </p:sp>
      <p:sp>
        <p:nvSpPr>
          <p:cNvPr id="17" name="Shape 15"/>
          <p:cNvSpPr/>
          <p:nvPr/>
        </p:nvSpPr>
        <p:spPr>
          <a:xfrm>
            <a:off x="4892040" y="1481328"/>
            <a:ext cx="4023360" cy="347472"/>
          </a:xfrm>
          <a:prstGeom prst="rect">
            <a:avLst/>
          </a:prstGeom>
          <a:solidFill>
            <a:srgbClr val="1E7A4A"/>
          </a:solidFill>
          <a:ln w="12700">
            <a:solidFill>
              <a:srgbClr val="1E7A4A"/>
            </a:solidFill>
            <a:prstDash val="solid"/>
          </a:ln>
        </p:spPr>
        <p:txBody>
          <a:bodyPr/>
          <a:lstStyle/>
          <a:p>
            <a:endParaRPr lang="pl-PL"/>
          </a:p>
        </p:txBody>
      </p:sp>
      <p:sp>
        <p:nvSpPr>
          <p:cNvPr id="18" name="Text 16"/>
          <p:cNvSpPr/>
          <p:nvPr/>
        </p:nvSpPr>
        <p:spPr>
          <a:xfrm>
            <a:off x="4892040" y="1481328"/>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STAYS LOCAL</a:t>
            </a:r>
            <a:endParaRPr lang="en-US" sz="1200" dirty="0"/>
          </a:p>
        </p:txBody>
      </p:sp>
      <p:sp>
        <p:nvSpPr>
          <p:cNvPr id="19" name="Shape 17"/>
          <p:cNvSpPr/>
          <p:nvPr/>
        </p:nvSpPr>
        <p:spPr>
          <a:xfrm>
            <a:off x="4892040" y="1874520"/>
            <a:ext cx="4023360" cy="420624"/>
          </a:xfrm>
          <a:prstGeom prst="rect">
            <a:avLst/>
          </a:prstGeom>
          <a:solidFill>
            <a:srgbClr val="D6F0E0"/>
          </a:solidFill>
          <a:ln w="5080">
            <a:solidFill>
              <a:srgbClr val="7ECBA1"/>
            </a:solidFill>
            <a:prstDash val="solid"/>
          </a:ln>
        </p:spPr>
        <p:txBody>
          <a:bodyPr/>
          <a:lstStyle/>
          <a:p>
            <a:endParaRPr lang="pl-PL"/>
          </a:p>
        </p:txBody>
      </p:sp>
      <p:sp>
        <p:nvSpPr>
          <p:cNvPr id="20" name="Text 18"/>
          <p:cNvSpPr/>
          <p:nvPr/>
        </p:nvSpPr>
        <p:spPr>
          <a:xfrm>
            <a:off x="5010912" y="1892808"/>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Entity config (cai-llms)</a:t>
            </a:r>
            <a:endParaRPr lang="en-US" sz="1150" dirty="0"/>
          </a:p>
        </p:txBody>
      </p:sp>
      <p:sp>
        <p:nvSpPr>
          <p:cNvPr id="21" name="Shape 19"/>
          <p:cNvSpPr/>
          <p:nvPr/>
        </p:nvSpPr>
        <p:spPr>
          <a:xfrm>
            <a:off x="4892040" y="2359152"/>
            <a:ext cx="4023360" cy="420624"/>
          </a:xfrm>
          <a:prstGeom prst="rect">
            <a:avLst/>
          </a:prstGeom>
          <a:solidFill>
            <a:srgbClr val="D6F0E0"/>
          </a:solidFill>
          <a:ln w="5080">
            <a:solidFill>
              <a:srgbClr val="7ECBA1"/>
            </a:solidFill>
            <a:prstDash val="solid"/>
          </a:ln>
        </p:spPr>
        <p:txBody>
          <a:bodyPr/>
          <a:lstStyle/>
          <a:p>
            <a:endParaRPr lang="pl-PL"/>
          </a:p>
        </p:txBody>
      </p:sp>
      <p:sp>
        <p:nvSpPr>
          <p:cNvPr id="22" name="Text 20"/>
          <p:cNvSpPr/>
          <p:nvPr/>
        </p:nvSpPr>
        <p:spPr>
          <a:xfrm>
            <a:off x="5010912" y="2377440"/>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Visibility config (cai-vis)</a:t>
            </a:r>
            <a:endParaRPr lang="en-US" sz="1150" dirty="0"/>
          </a:p>
        </p:txBody>
      </p:sp>
      <p:sp>
        <p:nvSpPr>
          <p:cNvPr id="23" name="Shape 21"/>
          <p:cNvSpPr/>
          <p:nvPr/>
        </p:nvSpPr>
        <p:spPr>
          <a:xfrm>
            <a:off x="4892040" y="2843784"/>
            <a:ext cx="4023360" cy="420624"/>
          </a:xfrm>
          <a:prstGeom prst="rect">
            <a:avLst/>
          </a:prstGeom>
          <a:solidFill>
            <a:srgbClr val="D6F0E0"/>
          </a:solidFill>
          <a:ln w="5080">
            <a:solidFill>
              <a:srgbClr val="7ECBA1"/>
            </a:solidFill>
            <a:prstDash val="solid"/>
          </a:ln>
        </p:spPr>
        <p:txBody>
          <a:bodyPr/>
          <a:lstStyle/>
          <a:p>
            <a:endParaRPr lang="pl-PL"/>
          </a:p>
        </p:txBody>
      </p:sp>
      <p:sp>
        <p:nvSpPr>
          <p:cNvPr id="24" name="Text 22"/>
          <p:cNvSpPr/>
          <p:nvPr/>
        </p:nvSpPr>
        <p:spPr>
          <a:xfrm>
            <a:off x="5010912" y="2862072"/>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Measurement snapshots, up to 20 (cai-vis-runs)</a:t>
            </a:r>
            <a:endParaRPr lang="en-US" sz="1150" dirty="0"/>
          </a:p>
        </p:txBody>
      </p:sp>
      <p:sp>
        <p:nvSpPr>
          <p:cNvPr id="25" name="Shape 23"/>
          <p:cNvSpPr/>
          <p:nvPr/>
        </p:nvSpPr>
        <p:spPr>
          <a:xfrm>
            <a:off x="4892040" y="3328416"/>
            <a:ext cx="4023360" cy="420624"/>
          </a:xfrm>
          <a:prstGeom prst="rect">
            <a:avLst/>
          </a:prstGeom>
          <a:solidFill>
            <a:srgbClr val="D6F0E0"/>
          </a:solidFill>
          <a:ln w="5080">
            <a:solidFill>
              <a:srgbClr val="7ECBA1"/>
            </a:solidFill>
            <a:prstDash val="solid"/>
          </a:ln>
        </p:spPr>
        <p:txBody>
          <a:bodyPr/>
          <a:lstStyle/>
          <a:p>
            <a:endParaRPr lang="pl-PL"/>
          </a:p>
        </p:txBody>
      </p:sp>
      <p:sp>
        <p:nvSpPr>
          <p:cNvPr id="26" name="Text 24"/>
          <p:cNvSpPr/>
          <p:nvPr/>
        </p:nvSpPr>
        <p:spPr>
          <a:xfrm>
            <a:off x="5010912" y="3346704"/>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llms.txt, robots.txt, UTM links</a:t>
            </a:r>
            <a:endParaRPr lang="en-US" sz="1150" dirty="0"/>
          </a:p>
        </p:txBody>
      </p:sp>
      <p:sp>
        <p:nvSpPr>
          <p:cNvPr id="27" name="Shape 25"/>
          <p:cNvSpPr/>
          <p:nvPr/>
        </p:nvSpPr>
        <p:spPr>
          <a:xfrm>
            <a:off x="4892040" y="3813048"/>
            <a:ext cx="4023360" cy="420624"/>
          </a:xfrm>
          <a:prstGeom prst="rect">
            <a:avLst/>
          </a:prstGeom>
          <a:solidFill>
            <a:srgbClr val="D6F0E0"/>
          </a:solidFill>
          <a:ln w="5080">
            <a:solidFill>
              <a:srgbClr val="7ECBA1"/>
            </a:solidFill>
            <a:prstDash val="solid"/>
          </a:ln>
        </p:spPr>
        <p:txBody>
          <a:bodyPr/>
          <a:lstStyle/>
          <a:p>
            <a:endParaRPr lang="pl-PL"/>
          </a:p>
        </p:txBody>
      </p:sp>
      <p:sp>
        <p:nvSpPr>
          <p:cNvPr id="28" name="Text 26"/>
          <p:cNvSpPr/>
          <p:nvPr/>
        </p:nvSpPr>
        <p:spPr>
          <a:xfrm>
            <a:off x="5010912" y="3831336"/>
            <a:ext cx="3794760" cy="384048"/>
          </a:xfrm>
          <a:prstGeom prst="rect">
            <a:avLst/>
          </a:prstGeom>
          <a:noFill/>
          <a:ln/>
        </p:spPr>
        <p:txBody>
          <a:bodyPr wrap="square" lIns="0" tIns="0" rIns="0" bIns="0" rtlCol="0" anchor="ctr"/>
          <a:lstStyle/>
          <a:p>
            <a:pPr marL="0" indent="0">
              <a:buNone/>
            </a:pPr>
            <a:r>
              <a:rPr lang="en-US" sz="1150" dirty="0">
                <a:solidFill>
                  <a:srgbClr val="1E7A4A"/>
                </a:solidFill>
                <a:latin typeface="Arial" pitchFamily="34" charset="0"/>
                <a:ea typeface="Arial" pitchFamily="34" charset="-122"/>
                <a:cs typeface="Arial" pitchFamily="34" charset="-120"/>
              </a:rPr>
              <a:t>✓  Reports generated locally (DOCX/PDF)</a:t>
            </a:r>
            <a:endParaRPr lang="en-US" sz="1150" dirty="0"/>
          </a:p>
        </p:txBody>
      </p:sp>
      <p:sp>
        <p:nvSpPr>
          <p:cNvPr id="29" name="Shape 27"/>
          <p:cNvSpPr/>
          <p:nvPr/>
        </p:nvSpPr>
        <p:spPr>
          <a:xfrm>
            <a:off x="0" y="4828032"/>
            <a:ext cx="9144000" cy="315468"/>
          </a:xfrm>
          <a:prstGeom prst="rect">
            <a:avLst/>
          </a:prstGeom>
          <a:solidFill>
            <a:srgbClr val="F0F0F0"/>
          </a:solidFill>
          <a:ln w="12700">
            <a:solidFill>
              <a:srgbClr val="CCCCCC"/>
            </a:solidFill>
            <a:prstDash val="solid"/>
          </a:ln>
        </p:spPr>
        <p:txBody>
          <a:bodyPr/>
          <a:lstStyle/>
          <a:p>
            <a:endParaRPr lang="pl-PL"/>
          </a:p>
        </p:txBody>
      </p:sp>
      <p:sp>
        <p:nvSpPr>
          <p:cNvPr id="30" name="Text 28"/>
          <p:cNvSpPr/>
          <p:nvPr/>
        </p:nvSpPr>
        <p:spPr>
          <a:xfrm>
            <a:off x="274320" y="4855464"/>
            <a:ext cx="8595360" cy="265176"/>
          </a:xfrm>
          <a:prstGeom prst="rect">
            <a:avLst/>
          </a:prstGeom>
          <a:noFill/>
          <a:ln/>
        </p:spPr>
        <p:txBody>
          <a:bodyPr wrap="square" lIns="0" tIns="0" rIns="0" bIns="0" rtlCol="0" anchor="ctr"/>
          <a:lstStyle/>
          <a:p>
            <a:pPr marL="0" indent="0">
              <a:buNone/>
            </a:pPr>
            <a:r>
              <a:rPr lang="en-US" sz="1000" dirty="0">
                <a:solidFill>
                  <a:srgbClr val="5A5850"/>
                </a:solidFill>
                <a:latin typeface="Arial" pitchFamily="34" charset="0"/>
                <a:ea typeface="Arial" pitchFamily="34" charset="-122"/>
                <a:cs typeface="Arial" pitchFamily="34" charset="-120"/>
              </a:rPr>
              <a:t xml:space="preserve">Visibility and report use web search performed by Anthropic. Measurement on demand, not continuous. </a:t>
            </a:r>
            <a:endParaRPr lang="pl-PL" sz="1000" dirty="0">
              <a:solidFill>
                <a:srgbClr val="5A5850"/>
              </a:solidFill>
              <a:latin typeface="Arial" pitchFamily="34" charset="0"/>
              <a:ea typeface="Arial" pitchFamily="34" charset="-122"/>
              <a:cs typeface="Arial" pitchFamily="34" charset="-120"/>
            </a:endParaRPr>
          </a:p>
          <a:p>
            <a:pPr marL="0" indent="0">
              <a:buNone/>
            </a:pPr>
            <a:r>
              <a:rPr lang="en-US" sz="1000" dirty="0">
                <a:solidFill>
                  <a:srgbClr val="5A5850"/>
                </a:solidFill>
                <a:latin typeface="Arial" pitchFamily="34" charset="0"/>
                <a:ea typeface="Arial" pitchFamily="34" charset="-122"/>
                <a:cs typeface="Arial" pitchFamily="34" charset="-120"/>
              </a:rPr>
              <a:t xml:space="preserve">Queries are about the brand and competitors, not personal data of Content AI customers.</a:t>
            </a:r>
            <a:r>
              <a:rPr lang="en-US" sz="1000" dirty="0" err="1">
                <a:solidFill>
                  <a:srgbClr val="5A5850"/>
                </a:solidFill>
                <a:latin typeface="Arial" pitchFamily="34" charset="0"/>
                <a:ea typeface="Arial" pitchFamily="34" charset="-122"/>
                <a:cs typeface="Arial" pitchFamily="34" charset="-120"/>
              </a:rPr>
              <a:t/>
            </a:r>
            <a:r>
              <a:rPr lang="en-US" sz="1000" dirty="0">
                <a:solidFill>
                  <a:srgbClr val="5A5850"/>
                </a:solidFill>
                <a:latin typeface="Arial" pitchFamily="34" charset="0"/>
                <a:ea typeface="Arial" pitchFamily="34" charset="-122"/>
                <a:cs typeface="Arial" pitchFamily="34" charset="-120"/>
              </a:rPr>
              <a:t xml:space="preserve"/>
            </a:r>
            <a:r>
              <a:rPr lang="pl-PL" sz="1000" dirty="0">
                <a:solidFill>
                  <a:srgbClr val="5A5850"/>
                </a:solidFill>
                <a:latin typeface="Arial" pitchFamily="34" charset="0"/>
                <a:ea typeface="Arial" pitchFamily="34" charset="-122"/>
                <a:cs typeface="Arial" pitchFamily="34" charset="-120"/>
              </a:rPr>
              <a:t/>
            </a:r>
            <a:r>
              <a:rPr lang="en-US" sz="1000" dirty="0">
                <a:solidFill>
                  <a:srgbClr val="5A5850"/>
                </a:solidFill>
                <a:latin typeface="Arial" pitchFamily="34" charset="0"/>
                <a:ea typeface="Arial" pitchFamily="34" charset="-122"/>
                <a:cs typeface="Arial" pitchFamily="34" charset="-120"/>
              </a:rPr>
              <a:t xml:space="preserve"/>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36915f3-2f02-4945-8997-f2963298db46}" enabled="1" method="Standard" siteId="{cd99fef8-1cd3-4a2a-9bdf-15531181d65e}" contentBits="1" removed="0"/>
</clbl:labelList>
</file>

<file path=docProps/app.xml><?xml version="1.0" encoding="utf-8"?>
<Properties xmlns="http://schemas.openxmlformats.org/officeDocument/2006/extended-properties" xmlns:vt="http://schemas.openxmlformats.org/officeDocument/2006/docPropsVTypes">
  <TotalTime>16</TotalTime>
  <Words>1457</Words>
  <Application>Microsoft Office PowerPoint</Application>
  <PresentationFormat>Pokaz na ekranie (16:9)</PresentationFormat>
  <Paragraphs>273</Paragraphs>
  <Slides>12</Slides>
  <Notes>9</Notes>
  <HiddenSlides>0</HiddenSlides>
  <MMClips>0</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12</vt:i4>
      </vt:variant>
    </vt:vector>
  </HeadingPairs>
  <TitlesOfParts>
    <vt:vector size="15" baseType="lpstr">
      <vt:lpstr>Arial</vt:lpstr>
      <vt:lpstr>Arial Black</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Marcin Przybylski (Content AI eCom PL)</cp:lastModifiedBy>
  <cp:revision>6</cp:revision>
  <dcterms:created xsi:type="dcterms:W3CDTF">2026-05-14T09:47:43Z</dcterms:created>
  <dcterms:modified xsi:type="dcterms:W3CDTF">2026-05-15T10:15:27Z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Theme:3</vt:lpwstr>
  </property>
  <property fmtid="{D5CDD505-2E9C-101B-9397-08002B2CF9AE}" pid="3" name="ClassificationContentMarkingHeaderText">
    <vt:lpwstr>FOR INTERNAL USE</vt:lpwstr>
  </property>
</Properties>
</file>