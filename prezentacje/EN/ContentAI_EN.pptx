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9" r:id="rId27"/>
    <p:sldId id="261" r:id="rId7"/>
    <p:sldId id="272" r:id="rId8"/>
    <p:sldId id="278" r:id="rId26"/>
    <p:sldId id="274" r:id="rId9"/>
    <p:sldId id="275" r:id="rId10"/>
    <p:sldId id="276" r:id="rId11"/>
    <p:sldId id="270" r:id="rId12"/>
    <p:sldId id="271" r:id="rId13"/>
    <p:sldId id="262" r:id="rId14"/>
    <p:sldId id="263" r:id="rId15"/>
    <p:sldId id="264" r:id="rId16"/>
    <p:sldId id="268" r:id="rId17"/>
    <p:sldId id="269" r:id="rId18"/>
    <p:sldId id="277" r:id="rId25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61A6"/>
    <a:srgbClr val="447A58"/>
    <a:srgbClr val="F5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58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EFF1BDD-D095-030C-F6DB-E99E293BC3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l-PL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A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749040" y="129159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749040" y="2486209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and AIO Content Generator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4480560"/>
            <a:ext cx="5669280" cy="66294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4E1C86CF-DF91-EEEE-0C1F-1212FBBC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" y="227110"/>
            <a:ext cx="2973275" cy="987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Creating SEO content takes time and resources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8013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Every article written from </a:t>
            </a:r>
            <a:r>
              <a:rPr lang="en-US" sz="15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</a:t>
            </a: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with no consistency with the company offer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2350008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320040" y="2542032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60604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542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generated by external AI doesn't know Content AI specifics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20040" y="3154680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9"/>
          <p:cNvSpPr/>
          <p:nvPr/>
        </p:nvSpPr>
        <p:spPr>
          <a:xfrm>
            <a:off x="320040" y="3346704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4107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467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for fast SEO and AIO content creation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20040" y="3959352"/>
            <a:ext cx="850392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2"/>
          <p:cNvSpPr/>
          <p:nvPr/>
        </p:nvSpPr>
        <p:spPr>
          <a:xfrm>
            <a:off x="320040" y="4151376"/>
            <a:ext cx="502920" cy="502920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421538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1513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 or agency = high cost and long turnaround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5"/>
          <p:cNvSpPr/>
          <p:nvPr/>
        </p:nvSpPr>
        <p:spPr>
          <a:xfrm>
            <a:off x="365760" y="48371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solves these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automatically, cheaply and securely.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steps to a finished, optimized article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291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47088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9184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company knowledge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Add files (PDF, Word, Excel), paste Content AI page links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app reads their content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enter text manually. Select which sources to use for a given article.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85416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414016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414016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54203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059936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542032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parameters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content type (SEO, AIO, SEO+AIO Hybrid, FAQ, landing, directional page, press release), length (custom word count), keywords, tone and language. Use templates for repeatable tasks.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9826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626864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26864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272784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creates an article from the knowledge base. Automatic SEO and AIO scoring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if the score &lt; 70, the article is improved. Compare variants: original and improved.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11112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839712" y="1572768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6839712" y="1572768"/>
            <a:ext cx="2029968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96772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485632" y="1764792"/>
            <a:ext cx="237744" cy="23774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967728" y="2331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edit, download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2862072"/>
            <a:ext cx="1773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Score SEO and Score AIO results. Edit the article inline without leaving the app. Download as .docx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.pdf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or .txt, copy to clipboard.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65760" y="48371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time: 15-60 sec. (including auto SEO and AIO scoring). Export to .docx</a:t>
            </a: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.pdf </a:t>
            </a:r>
            <a:r>
              <a:rPr lang="en-US" sz="11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.txt.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ways to provide company knowledge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344168" y="1783080"/>
            <a:ext cx="694944" cy="694944"/>
          </a:xfrm>
          <a:prstGeom prst="ellipse">
            <a:avLst/>
          </a:prstGeom>
          <a:solidFill>
            <a:srgbClr val="D8F3DC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19019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Excel, PPTX, TXT, CSV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50292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Upload company documents </a:t>
            </a:r>
            <a:r>
              <a:rPr lang="en-US" sz="11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offers, presentations, price lists, terms. The app reads the text automatically right in the browser.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3840480" y="1353312"/>
            <a:ext cx="155448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3840480" y="1353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70248" y="1783080"/>
            <a:ext cx="694944" cy="694944"/>
          </a:xfrm>
          <a:prstGeom prst="ellipse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90195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pages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2900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URL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6"/>
          <p:cNvSpPr/>
          <p:nvPr/>
        </p:nvSpPr>
        <p:spPr>
          <a:xfrm>
            <a:off x="342900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Content AI page link. Claude AI automatically visits the page, reads its content and saves it to the base. Works with any public page.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7920" y="160020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18"/>
          <p:cNvSpPr/>
          <p:nvPr/>
        </p:nvSpPr>
        <p:spPr>
          <a:xfrm>
            <a:off x="7196328" y="1783080"/>
            <a:ext cx="694944" cy="694944"/>
          </a:xfrm>
          <a:prstGeom prst="ellipse">
            <a:avLst/>
          </a:prstGeom>
          <a:solidFill>
            <a:srgbClr val="FFF8CC"/>
          </a:solidFill>
          <a:ln w="9525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90195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text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5508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content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46520" y="3447288"/>
            <a:ext cx="219456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2"/>
          <p:cNvSpPr/>
          <p:nvPr/>
        </p:nvSpPr>
        <p:spPr>
          <a:xfrm>
            <a:off x="6355080" y="3538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Type or paste text </a:t>
            </a:r>
            <a:r>
              <a:rPr lang="en-US" sz="11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notes, briefs, product descriptions, FAQs, data not available online.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sources can be combined · Checkboxes to select active sources · Base state saved between sessions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the company gain?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ready in 15-60 sec. including auto scoring and improvement.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only from your data. Files processed locally.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SEO+AIO Hybrid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content type optimized for Google and AI Overview at once.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quality scoring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Automatyczny loop SEO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AIO</a:t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improves itself if the score &lt; 70/100.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 handles many times more content with no cost increase.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templates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articles saved with preview. Templates for repeatable tasks.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capabilities of the deployed version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AIO Hybrid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Dedicated content type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one article meets Google SEO and AI Overview requirements at once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242316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51460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3288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scoring with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SEO and AIO scoring. Improvement if score &lt; 70/100. Premium mode up to 82/100.</a:t>
            </a:r>
          </a:p>
        </p:txBody>
      </p:sp>
      <p:sp>
        <p:nvSpPr>
          <p:cNvPr id="15" name="Shape 13"/>
          <p:cNvSpPr/>
          <p:nvPr/>
        </p:nvSpPr>
        <p:spPr>
          <a:xfrm>
            <a:off x="461772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61772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70916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2744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URL reading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visits the given page and pulls content into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knowledge 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backend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57276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90372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22008" y="2103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editing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432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article directly in the app, no copying to an external editor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2004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templates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repeatable configurations (topic, type, length, tone) and run with one click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242316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251460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3288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with preview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3288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generated articles saved in the browser with full content to review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461772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7091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2744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2744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original and improved version side by side, switch with one click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3127248"/>
            <a:ext cx="2011680" cy="141732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6812280" y="3127248"/>
            <a:ext cx="201168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690372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2200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pl-PL" dirty="0"/>
              <a:t>Generate professional Content AI images based on the article. With a reference image you keep the same characters (e.g. Paczusie) in a new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7 </a:t>
            </a:r>
            <a:r>
              <a:rPr lang="en-US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features</a:t>
            </a: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en-US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1572768"/>
            <a:ext cx="2816352" cy="1033272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64592" y="1572768"/>
            <a:ext cx="281635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23729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+ Drupal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articles directly from the app. Draft or publish with one click. Configured via secure Application Password.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9816" y="1572768"/>
            <a:ext cx="2816352" cy="103327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3099816" y="1572768"/>
            <a:ext cx="2816352" cy="457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3191256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723729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generator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191256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writing: suggested H2s, keywords and content gap. Keywords are clickable and marked as used once added.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572768"/>
            <a:ext cx="2816352" cy="1033272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4"/>
          <p:cNvSpPr/>
          <p:nvPr/>
        </p:nvSpPr>
        <p:spPr>
          <a:xfrm>
            <a:off x="6035040" y="1572768"/>
            <a:ext cx="281635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5"/>
          <p:cNvSpPr/>
          <p:nvPr/>
        </p:nvSpPr>
        <p:spPr>
          <a:xfrm>
            <a:off x="6126480" y="16766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72542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8816" y="16642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26480" y="20025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Paste 3-5 Content AI articles. The app extracts the style profile and applies it to every future generation automatically.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64592" y="2651760"/>
            <a:ext cx="2816352" cy="896112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19"/>
          <p:cNvSpPr/>
          <p:nvPr/>
        </p:nvSpPr>
        <p:spPr>
          <a:xfrm>
            <a:off x="164592" y="2651760"/>
            <a:ext cx="281635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0"/>
          <p:cNvSpPr/>
          <p:nvPr/>
        </p:nvSpPr>
        <p:spPr>
          <a:xfrm>
            <a:off x="256032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281101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8368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generator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56032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designs the visual prompt, GPT Image generates the image. A reference image keeps the same characters or style in a new scene.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099816" y="2651760"/>
            <a:ext cx="2816352" cy="896112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4"/>
          <p:cNvSpPr/>
          <p:nvPr/>
        </p:nvSpPr>
        <p:spPr>
          <a:xfrm>
            <a:off x="3099816" y="2651760"/>
            <a:ext cx="2816352" cy="45720"/>
          </a:xfrm>
          <a:prstGeom prst="rect">
            <a:avLst/>
          </a:prstGeom>
          <a:solidFill>
            <a:srgbClr val="F5C0BE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5"/>
          <p:cNvSpPr/>
          <p:nvPr/>
        </p:nvSpPr>
        <p:spPr>
          <a:xfrm>
            <a:off x="3191256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806954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593592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generation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191256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10 topics - the app generates all articles in sequence with a progress bar. Results go to history.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35040" y="2651760"/>
            <a:ext cx="2816352" cy="896112"/>
          </a:xfrm>
          <a:prstGeom prst="rect">
            <a:avLst/>
          </a:prstGeom>
          <a:solidFill>
            <a:srgbClr val="F5F4F1"/>
          </a:solidFill>
          <a:ln w="6350">
            <a:solidFill>
              <a:srgbClr val="CBC6B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29"/>
          <p:cNvSpPr/>
          <p:nvPr/>
        </p:nvSpPr>
        <p:spPr>
          <a:xfrm>
            <a:off x="6035040" y="2651760"/>
            <a:ext cx="2816352" cy="45720"/>
          </a:xfrm>
          <a:prstGeom prst="rect">
            <a:avLst/>
          </a:prstGeom>
          <a:solidFill>
            <a:srgbClr val="CBC6BC"/>
          </a:solidFill>
          <a:ln w="12700">
            <a:solidFill>
              <a:srgbClr val="CBC6B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0"/>
          <p:cNvSpPr/>
          <p:nvPr/>
        </p:nvSpPr>
        <p:spPr>
          <a:xfrm>
            <a:off x="6126480" y="275564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C6B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2814405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528816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existing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126480" y="308152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Paste an old article from the Content AI site. The app rewrites it for SEO+AIO keeping facts and data from the knowledge base.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099816" y="3588004"/>
            <a:ext cx="2816352" cy="1060196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2" name="Shape 34"/>
          <p:cNvSpPr/>
          <p:nvPr/>
        </p:nvSpPr>
        <p:spPr>
          <a:xfrm>
            <a:off x="3099816" y="3588004"/>
            <a:ext cx="2816352" cy="457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35"/>
          <p:cNvSpPr/>
          <p:nvPr/>
        </p:nvSpPr>
        <p:spPr>
          <a:xfrm>
            <a:off x="3191256" y="369189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6120" y="3746754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593592" y="367944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JSON-LD schema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3191256" y="4017772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generates JSON-LD code for FAQ articles. Ready to paste in WordPress or Drupal - rich snippets in Google.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39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features work in the same HTML file - no install, no backend, no extra subscriptions.</a:t>
            </a:r>
            <a:endParaRPr lang="en-US" sz="1100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A86F5B49-1B6D-FD66-7925-AB6C5B8A33A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C31409DC-C1F5-C08B-E72F-4424153005D8}"/>
              </a:ext>
            </a:extLst>
          </p:cNvPr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E2F8681D-CA7C-2114-1B1B-9AA8E92287D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ectangle 4"/>
          <p:cNvSpPr/>
          <p:nvPr/>
        </p:nvSpPr>
        <p:spPr>
          <a:xfrm>
            <a:off x="228600" y="1485721"/>
            <a:ext cx="4080000" cy="242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8600" y="1575721"/>
            <a:ext cx="38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E40AF"/>
                </a:solidFill>
              </a:rPr>
              <a:t xml:space="preserve">🔍  </a:t>
            </a:r>
            <a:r>
              <a:rPr sz="1200" b="1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600" y="1885721"/>
            <a:ext cx="38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from top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Google: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600" y="2245721"/>
            <a:ext cx="38400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e.g. 1,400</a:t>
            </a:r>
            <a:endParaRPr lang="pl-PL" sz="1000" b="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l-PL" sz="1000" b="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Average number of H2 sections: e.g. 8</a:t>
            </a:r>
          </a:p>
          <a:p>
            <a:endParaRPr lang="pl-PL" sz="100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8 topics from top results</a:t>
            </a:r>
          </a:p>
          <a:p>
            <a:endParaRPr lang="pl-PL" sz="100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00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10 keyword phrases</a:t>
            </a:r>
          </a:p>
          <a:p>
            <a:endParaRPr lang="pl-PL" sz="950" dirty="0">
              <a:solidFill>
                <a:srgbClr val="1A1916"/>
              </a:solidFill>
            </a:endParaRPr>
          </a:p>
          <a:p>
            <a:endParaRPr lang="pl-PL" sz="950" dirty="0">
              <a:solidFill>
                <a:srgbClr val="1A1916"/>
              </a:solidFill>
            </a:endParaRPr>
          </a:p>
          <a:p>
            <a:pPr algn="l"/>
            <a:endParaRPr sz="950" b="0" dirty="0">
              <a:solidFill>
                <a:srgbClr val="1A1916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35400" y="1485721"/>
            <a:ext cx="4080000" cy="24200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5400" y="1575721"/>
            <a:ext cx="38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66534"/>
                </a:solidFill>
              </a:rPr>
              <a:t xml:space="preserve">🧩  </a:t>
            </a:r>
            <a:r>
              <a:rPr sz="1200" b="1" dirty="0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Semantic </a:t>
            </a:r>
            <a:r>
              <a:rPr sz="1200" b="1" dirty="0" err="1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gaps</a:t>
            </a:r>
            <a:endParaRPr sz="1200" b="1" dirty="0">
              <a:solidFill>
                <a:srgbClr val="1665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5400" y="1885721"/>
            <a:ext cx="384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with </a:t>
            </a:r>
            <a:r>
              <a:rPr sz="1000" b="1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SERP</a:t>
            </a:r>
            <a:r>
              <a:rPr sz="1000" b="1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data: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5400" y="2245721"/>
            <a:ext cx="3840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  <a:r>
              <a:rPr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52 → 78 pts (+26)</a:t>
            </a:r>
            <a:endParaRPr lang="pl-PL" sz="100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l-PL" sz="1000" b="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• </a:t>
            </a:r>
            <a:r>
              <a:rPr lang="pl-PL" sz="1000" b="0" dirty="0" err="1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Checkboxes</a:t>
            </a:r>
            <a:r>
              <a:rPr lang="pl-PL"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to select topics</a:t>
            </a:r>
          </a:p>
          <a:p>
            <a:pPr algn="l"/>
            <a:endParaRPr lang="pl-PL" sz="1000" b="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Improve for selected topics - 1 click</a:t>
            </a:r>
          </a:p>
          <a:p>
            <a:pPr algn="l"/>
            <a:endParaRPr lang="pl-PL" sz="1000" b="0" dirty="0">
              <a:solidFill>
                <a:srgbClr val="1A19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l-PL" sz="1000" b="0" dirty="0">
                <a:solidFill>
                  <a:srgbClr val="1A19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Cumulative progress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005721"/>
            <a:ext cx="8686800" cy="430000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55400" y="3989530"/>
            <a:ext cx="240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sz="80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80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</a:t>
            </a:r>
            <a:endParaRPr sz="800" b="0" dirty="0"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05400" y="4111442"/>
            <a:ext cx="2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 / 100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5400" y="4041397"/>
            <a:ext cx="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5A300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5400" y="3989530"/>
            <a:ext cx="240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After </a:t>
            </a:r>
            <a:r>
              <a:rPr sz="80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</a:t>
            </a:r>
            <a:endParaRPr sz="800" b="0" dirty="0">
              <a:solidFill>
                <a:srgbClr val="6B72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55400" y="4111442"/>
            <a:ext cx="2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 / 100 pts (+26)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485721"/>
            <a:ext cx="8686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marked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authoritatively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covered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.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AI after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 xml:space="preserve"> </a:t>
            </a:r>
            <a:r>
              <a:rPr sz="750" b="0" dirty="0" err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</a:t>
            </a:r>
            <a:r>
              <a:rPr sz="75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sec">
            <a:extLst>
              <a:ext uri="{FF2B5EF4-FFF2-40B4-BE49-F238E27FC236}">
                <a16:creationId xmlns:a16="http://schemas.microsoft.com/office/drawing/2014/main" id="{50BDC86F-029C-BCE5-85B9-92B0708085D4}"/>
              </a:ext>
            </a:extLst>
          </p:cNvPr>
          <p:cNvSpPr/>
          <p:nvPr/>
        </p:nvSpPr>
        <p:spPr>
          <a:xfrm>
            <a:off x="355400" y="155681"/>
            <a:ext cx="5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spc="5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SEO ANALYSIS</a:t>
            </a:r>
            <a:endParaRPr lang="pl-PL" sz="11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C883B24C-0E0A-CC79-3193-4D93CA0A48DD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 and Semantic gaps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C816085-64B0-C479-8C93-37E3951CB39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desc"/>
          <p:cNvSpPr/>
          <p:nvPr/>
        </p:nvSpPr>
        <p:spPr>
          <a:xfrm>
            <a:off x="228600" y="140360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Optional deep self-correction mode. The article is generated, scored and improved in one session.</a:t>
            </a:r>
            <a:endParaRPr lang="pl-PL" sz="1100" dirty="0"/>
          </a:p>
        </p:txBody>
      </p:sp>
      <p:sp>
        <p:nvSpPr>
          <p:cNvPr id="20" name="step_bg"/>
          <p:cNvSpPr/>
          <p:nvPr/>
        </p:nvSpPr>
        <p:spPr>
          <a:xfrm>
            <a:off x="228600" y="1723284"/>
            <a:ext cx="868680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1" name="num"/>
          <p:cNvSpPr/>
          <p:nvPr/>
        </p:nvSpPr>
        <p:spPr>
          <a:xfrm>
            <a:off x="301752" y="17690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1E40AF"/>
                </a:solidFill>
                <a:latin typeface="Arial" pitchFamily="34" charset="0"/>
                <a:ea typeface="Arial"/>
                <a:cs typeface="Arial"/>
              </a:rPr>
              <a:t>1</a:t>
            </a:r>
            <a:endParaRPr lang="pl-PL" sz="1600" dirty="0"/>
          </a:p>
        </p:txBody>
      </p:sp>
      <p:sp>
        <p:nvSpPr>
          <p:cNvPr id="22" name="stxt"/>
          <p:cNvSpPr/>
          <p:nvPr/>
        </p:nvSpPr>
        <p:spPr>
          <a:xfrm>
            <a:off x="594360" y="17598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Generating the article from the knowledge base and SERP data</a:t>
            </a:r>
            <a:endParaRPr lang="pl-PL" sz="1050" dirty="0"/>
          </a:p>
        </p:txBody>
      </p:sp>
      <p:sp>
        <p:nvSpPr>
          <p:cNvPr id="23" name="step_bg"/>
          <p:cNvSpPr/>
          <p:nvPr/>
        </p:nvSpPr>
        <p:spPr>
          <a:xfrm>
            <a:off x="228600" y="2180484"/>
            <a:ext cx="8686800" cy="41148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4" name="num"/>
          <p:cNvSpPr/>
          <p:nvPr/>
        </p:nvSpPr>
        <p:spPr>
          <a:xfrm>
            <a:off x="301752" y="22262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B45309"/>
                </a:solidFill>
                <a:latin typeface="Arial" pitchFamily="34" charset="0"/>
                <a:ea typeface="Arial"/>
                <a:cs typeface="Arial"/>
              </a:rPr>
              <a:t>2</a:t>
            </a:r>
            <a:endParaRPr lang="pl-PL" sz="1600" dirty="0"/>
          </a:p>
        </p:txBody>
      </p:sp>
      <p:sp>
        <p:nvSpPr>
          <p:cNvPr id="25" name="stxt"/>
          <p:cNvSpPr/>
          <p:nvPr/>
        </p:nvSpPr>
        <p:spPr>
          <a:xfrm>
            <a:off x="594360" y="22170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Article scoring: checking SEO and AIO requirements, score 0-100 pts</a:t>
            </a:r>
            <a:endParaRPr lang="pl-PL" sz="1050" dirty="0"/>
          </a:p>
        </p:txBody>
      </p:sp>
      <p:sp>
        <p:nvSpPr>
          <p:cNvPr id="26" name="step_bg"/>
          <p:cNvSpPr/>
          <p:nvPr/>
        </p:nvSpPr>
        <p:spPr>
          <a:xfrm>
            <a:off x="228600" y="2637684"/>
            <a:ext cx="8686800" cy="41148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7" name="num"/>
          <p:cNvSpPr/>
          <p:nvPr/>
        </p:nvSpPr>
        <p:spPr>
          <a:xfrm>
            <a:off x="301752" y="26834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B91C1C"/>
                </a:solidFill>
                <a:latin typeface="Arial" pitchFamily="34" charset="0"/>
                <a:ea typeface="Arial"/>
                <a:cs typeface="Arial"/>
              </a:rPr>
              <a:t>3</a:t>
            </a:r>
            <a:endParaRPr lang="pl-PL" sz="1600" dirty="0"/>
          </a:p>
        </p:txBody>
      </p:sp>
      <p:sp>
        <p:nvSpPr>
          <p:cNvPr id="28" name="stxt"/>
          <p:cNvSpPr/>
          <p:nvPr/>
        </p:nvSpPr>
        <p:spPr>
          <a:xfrm>
            <a:off x="594360" y="26742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If the score is below 82 pts: automatic improvement with a list of specific issues</a:t>
            </a:r>
            <a:endParaRPr lang="pl-PL" sz="1050" dirty="0"/>
          </a:p>
        </p:txBody>
      </p:sp>
      <p:sp>
        <p:nvSpPr>
          <p:cNvPr id="29" name="step_bg"/>
          <p:cNvSpPr/>
          <p:nvPr/>
        </p:nvSpPr>
        <p:spPr>
          <a:xfrm>
            <a:off x="228600" y="3094884"/>
            <a:ext cx="8686800" cy="4114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0" name="num"/>
          <p:cNvSpPr/>
          <p:nvPr/>
        </p:nvSpPr>
        <p:spPr>
          <a:xfrm>
            <a:off x="301752" y="31406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166534"/>
                </a:solidFill>
                <a:latin typeface="Arial" pitchFamily="34" charset="0"/>
                <a:ea typeface="Arial"/>
                <a:cs typeface="Arial"/>
              </a:rPr>
              <a:t>4</a:t>
            </a:r>
            <a:endParaRPr lang="pl-PL" sz="1600" dirty="0"/>
          </a:p>
        </p:txBody>
      </p:sp>
      <p:sp>
        <p:nvSpPr>
          <p:cNvPr id="31" name="stxt"/>
          <p:cNvSpPr/>
          <p:nvPr/>
        </p:nvSpPr>
        <p:spPr>
          <a:xfrm>
            <a:off x="594360" y="3131460"/>
            <a:ext cx="826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5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Both article versions available for comparison in the versioning system</a:t>
            </a:r>
            <a:endParaRPr lang="pl-PL" sz="1050" dirty="0"/>
          </a:p>
        </p:txBody>
      </p:sp>
      <p:sp>
        <p:nvSpPr>
          <p:cNvPr id="40" name="cmp"/>
          <p:cNvSpPr/>
          <p:nvPr/>
        </p:nvSpPr>
        <p:spPr>
          <a:xfrm>
            <a:off x="228600" y="3671343"/>
            <a:ext cx="86868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dirty="0">
                <a:solidFill>
                  <a:srgbClr val="9CA3AF"/>
                </a:solidFill>
                <a:latin typeface="Arial" pitchFamily="34" charset="0"/>
                <a:ea typeface="Arial"/>
                <a:cs typeface="Arial"/>
              </a:rPr>
              <a:t>Standard: 1 API call - approx. 35 sec.     |     Premium: 2-3 API calls - approx. 90-110 sec.</a:t>
            </a:r>
            <a:endParaRPr lang="pl-PL" sz="1000" dirty="0"/>
          </a:p>
        </p:txBody>
      </p:sp>
      <p:sp>
        <p:nvSpPr>
          <p:cNvPr id="41" name="note"/>
          <p:cNvSpPr/>
          <p:nvPr/>
        </p:nvSpPr>
        <p:spPr>
          <a:xfrm>
            <a:off x="228600" y="3945981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dirty="0">
                <a:solidFill>
                  <a:srgbClr val="6B7280"/>
                </a:solidFill>
                <a:latin typeface="Arial" pitchFamily="34" charset="0"/>
                <a:ea typeface="Arial"/>
                <a:cs typeface="Arial"/>
              </a:rPr>
              <a:t>The "Premium Quality" button activates the mode before generating or runs a correction after generation.</a:t>
            </a:r>
            <a:endParaRPr lang="pl-PL" sz="1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3318B31-90AD-BF2E-143E-C2FB76BD56BB}"/>
              </a:ext>
            </a:extLst>
          </p:cNvPr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QUALITY</a:t>
            </a:r>
            <a:endParaRPr lang="en-US" sz="11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1A9E54D-C743-307C-FA54-D03903E23246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Quality mode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l_hdr"/>
          <p:cNvSpPr/>
          <p:nvPr/>
        </p:nvSpPr>
        <p:spPr>
          <a:xfrm>
            <a:off x="228600" y="1434441"/>
            <a:ext cx="8686800" cy="274638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" name="ch1"/>
          <p:cNvSpPr/>
          <p:nvPr/>
        </p:nvSpPr>
        <p:spPr>
          <a:xfrm>
            <a:off x="320040" y="1097280"/>
            <a:ext cx="22860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Tool</a:t>
            </a:r>
            <a:endParaRPr lang="pl-PL" sz="1000" dirty="0"/>
          </a:p>
        </p:txBody>
      </p:sp>
      <p:sp>
        <p:nvSpPr>
          <p:cNvPr id="12" name="ch2"/>
          <p:cNvSpPr/>
          <p:nvPr/>
        </p:nvSpPr>
        <p:spPr>
          <a:xfrm>
            <a:off x="2606040" y="1097280"/>
            <a:ext cx="13716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Position</a:t>
            </a:r>
            <a:endParaRPr lang="pl-PL" sz="1000" dirty="0"/>
          </a:p>
        </p:txBody>
      </p:sp>
      <p:sp>
        <p:nvSpPr>
          <p:cNvPr id="13" name="ch3"/>
          <p:cNvSpPr/>
          <p:nvPr/>
        </p:nvSpPr>
        <p:spPr>
          <a:xfrm>
            <a:off x="3977640" y="1097280"/>
            <a:ext cx="54864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l-PL" sz="1000" dirty="0"/>
          </a:p>
        </p:txBody>
      </p:sp>
      <p:sp>
        <p:nvSpPr>
          <p:cNvPr id="14" name="ch4"/>
          <p:cNvSpPr/>
          <p:nvPr/>
        </p:nvSpPr>
        <p:spPr>
          <a:xfrm>
            <a:off x="4526280" y="1097280"/>
            <a:ext cx="438912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00" b="1" dirty="0">
                <a:solidFill>
                  <a:srgbClr val="FFFFFF"/>
                </a:solidFill>
                <a:latin typeface="Arial" pitchFamily="34" charset="0"/>
                <a:ea typeface="Arial"/>
                <a:cs typeface="Arial"/>
              </a:rPr>
              <a:t>Comment</a:t>
            </a:r>
            <a:endParaRPr lang="pl-PL" sz="1000" dirty="0"/>
          </a:p>
        </p:txBody>
      </p:sp>
      <p:sp>
        <p:nvSpPr>
          <p:cNvPr id="5" name="row_bg"/>
          <p:cNvSpPr/>
          <p:nvPr/>
        </p:nvSpPr>
        <p:spPr>
          <a:xfrm>
            <a:off x="228600" y="152588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6" name="tool"/>
          <p:cNvSpPr/>
          <p:nvPr/>
        </p:nvSpPr>
        <p:spPr>
          <a:xfrm>
            <a:off x="320040" y="152588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Frase.io ($15-115/mo.)</a:t>
            </a:r>
            <a:endParaRPr lang="pl-PL" sz="1100" dirty="0"/>
          </a:p>
        </p:txBody>
      </p:sp>
      <p:sp>
        <p:nvSpPr>
          <p:cNvPr id="7" name="score"/>
          <p:cNvSpPr/>
          <p:nvPr/>
        </p:nvSpPr>
        <p:spPr>
          <a:xfrm>
            <a:off x="2606040" y="152588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861A6"/>
                </a:solidFill>
                <a:latin typeface="Arial" pitchFamily="34" charset="0"/>
                <a:ea typeface="Arial"/>
                <a:cs typeface="Arial"/>
              </a:rPr>
              <a:t>SIMILAR</a:t>
            </a:r>
            <a:endParaRPr lang="pl-PL" sz="1100" dirty="0">
              <a:solidFill>
                <a:srgbClr val="4861A6"/>
              </a:solidFill>
            </a:endParaRPr>
          </a:p>
        </p:txBody>
      </p:sp>
      <p:sp>
        <p:nvSpPr>
          <p:cNvPr id="8" name="arrow"/>
          <p:cNvSpPr/>
          <p:nvPr/>
        </p:nvSpPr>
        <p:spPr>
          <a:xfrm>
            <a:off x="3977640" y="152588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=</a:t>
            </a:r>
            <a:endParaRPr lang="pl-PL" sz="1800" dirty="0"/>
          </a:p>
        </p:txBody>
      </p:sp>
      <p:sp>
        <p:nvSpPr>
          <p:cNvPr id="9" name="desc"/>
          <p:cNvSpPr/>
          <p:nvPr/>
        </p:nvSpPr>
        <p:spPr>
          <a:xfrm>
            <a:off x="4526280" y="152588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Porownywalna analiza SERP, semantic gap AI vs. NLP.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wins on company knowledge base, AIO, cost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15" name="row_bg"/>
          <p:cNvSpPr/>
          <p:nvPr/>
        </p:nvSpPr>
        <p:spPr>
          <a:xfrm>
            <a:off x="228600" y="195464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6" name="tool"/>
          <p:cNvSpPr/>
          <p:nvPr/>
        </p:nvSpPr>
        <p:spPr>
          <a:xfrm>
            <a:off x="320040" y="195464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NeuronWriter ($19-97/mo.)</a:t>
            </a:r>
            <a:endParaRPr lang="pl-PL" sz="1100" dirty="0"/>
          </a:p>
        </p:txBody>
      </p:sp>
      <p:sp>
        <p:nvSpPr>
          <p:cNvPr id="17" name="score"/>
          <p:cNvSpPr/>
          <p:nvPr/>
        </p:nvSpPr>
        <p:spPr>
          <a:xfrm>
            <a:off x="2606040" y="195464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861A6"/>
                </a:solidFill>
                <a:latin typeface="Arial" pitchFamily="34" charset="0"/>
                <a:ea typeface="Arial"/>
                <a:cs typeface="Arial"/>
              </a:rPr>
              <a:t>SIMILAR</a:t>
            </a:r>
            <a:endParaRPr lang="pl-PL" sz="1100" dirty="0">
              <a:solidFill>
                <a:srgbClr val="4861A6"/>
              </a:solidFill>
            </a:endParaRPr>
          </a:p>
        </p:txBody>
      </p:sp>
      <p:sp>
        <p:nvSpPr>
          <p:cNvPr id="18" name="arrow"/>
          <p:cNvSpPr/>
          <p:nvPr/>
        </p:nvSpPr>
        <p:spPr>
          <a:xfrm>
            <a:off x="3977640" y="195464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~</a:t>
            </a:r>
            <a:endParaRPr lang="pl-PL" sz="1800" dirty="0"/>
          </a:p>
        </p:txBody>
      </p:sp>
      <p:sp>
        <p:nvSpPr>
          <p:cNvPr id="19" name="desc"/>
          <p:cNvSpPr/>
          <p:nvPr/>
        </p:nvSpPr>
        <p:spPr>
          <a:xfrm>
            <a:off x="4526280" y="195464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 err="1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NeuronWriter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 lepszy w NLP term scoring.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is better at knowledge and AIO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20" name="row_bg"/>
          <p:cNvSpPr/>
          <p:nvPr/>
        </p:nvSpPr>
        <p:spPr>
          <a:xfrm>
            <a:off x="228600" y="238340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1" name="tool"/>
          <p:cNvSpPr/>
          <p:nvPr/>
        </p:nvSpPr>
        <p:spPr>
          <a:xfrm>
            <a:off x="320040" y="238340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Surfer SEO ($89-219/mo.)</a:t>
            </a:r>
            <a:endParaRPr lang="pl-PL" sz="1100" dirty="0"/>
          </a:p>
        </p:txBody>
      </p:sp>
      <p:sp>
        <p:nvSpPr>
          <p:cNvPr id="22" name="score"/>
          <p:cNvSpPr/>
          <p:nvPr/>
        </p:nvSpPr>
        <p:spPr>
          <a:xfrm>
            <a:off x="2606040" y="238340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chemeClr val="accent2"/>
                </a:solidFill>
                <a:latin typeface="Arial" pitchFamily="34" charset="0"/>
                <a:ea typeface="Arial"/>
                <a:cs typeface="Arial"/>
              </a:rPr>
              <a:t>BETTER</a:t>
            </a:r>
            <a:endParaRPr lang="pl-PL" sz="1100" dirty="0">
              <a:solidFill>
                <a:schemeClr val="accent2"/>
              </a:solidFill>
            </a:endParaRPr>
          </a:p>
        </p:txBody>
      </p:sp>
      <p:sp>
        <p:nvSpPr>
          <p:cNvPr id="23" name="arrow"/>
          <p:cNvSpPr/>
          <p:nvPr/>
        </p:nvSpPr>
        <p:spPr>
          <a:xfrm>
            <a:off x="3977640" y="238340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↗</a:t>
            </a:r>
            <a:endParaRPr lang="pl-PL" sz="1800" dirty="0"/>
          </a:p>
        </p:txBody>
      </p:sp>
      <p:sp>
        <p:nvSpPr>
          <p:cNvPr id="24" name="desc"/>
          <p:cNvSpPr/>
          <p:nvPr/>
        </p:nvSpPr>
        <p:spPr>
          <a:xfrm>
            <a:off x="4526280" y="238340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Surfer wins with live Google data (volume, NLP).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is close on SEO features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25" name="row_bg"/>
          <p:cNvSpPr/>
          <p:nvPr/>
        </p:nvSpPr>
        <p:spPr>
          <a:xfrm>
            <a:off x="228600" y="281216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26" name="tool"/>
          <p:cNvSpPr/>
          <p:nvPr/>
        </p:nvSpPr>
        <p:spPr>
          <a:xfrm>
            <a:off x="320040" y="281216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Jasper AI ($49-125/seat)</a:t>
            </a:r>
            <a:endParaRPr lang="pl-PL" sz="1100" dirty="0"/>
          </a:p>
        </p:txBody>
      </p:sp>
      <p:sp>
        <p:nvSpPr>
          <p:cNvPr id="27" name="score"/>
          <p:cNvSpPr/>
          <p:nvPr/>
        </p:nvSpPr>
        <p:spPr>
          <a:xfrm>
            <a:off x="2606040" y="281216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47A58"/>
                </a:solidFill>
                <a:latin typeface="Arial" pitchFamily="34" charset="0"/>
                <a:cs typeface="Arial"/>
              </a:rPr>
              <a:t>WORSE</a:t>
            </a:r>
            <a:endParaRPr lang="pl-PL" sz="1100" dirty="0">
              <a:solidFill>
                <a:srgbClr val="447A58"/>
              </a:solidFill>
            </a:endParaRPr>
          </a:p>
        </p:txBody>
      </p:sp>
      <p:sp>
        <p:nvSpPr>
          <p:cNvPr id="28" name="arrow"/>
          <p:cNvSpPr/>
          <p:nvPr/>
        </p:nvSpPr>
        <p:spPr>
          <a:xfrm>
            <a:off x="3977640" y="281216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↑</a:t>
            </a:r>
            <a:endParaRPr lang="pl-PL" sz="1800" dirty="0"/>
          </a:p>
        </p:txBody>
      </p:sp>
      <p:sp>
        <p:nvSpPr>
          <p:cNvPr id="29" name="desc"/>
          <p:cNvSpPr/>
          <p:nvPr/>
        </p:nvSpPr>
        <p:spPr>
          <a:xfrm>
            <a:off x="4526280" y="281216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Jasper is general writing.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better: SERP, KD, FOG, AIO, knowledge base, semantic gap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30" name="row_bg"/>
          <p:cNvSpPr/>
          <p:nvPr/>
        </p:nvSpPr>
        <p:spPr>
          <a:xfrm>
            <a:off x="228600" y="3240921"/>
            <a:ext cx="8686800" cy="38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1" name="tool"/>
          <p:cNvSpPr/>
          <p:nvPr/>
        </p:nvSpPr>
        <p:spPr>
          <a:xfrm>
            <a:off x="320040" y="3240921"/>
            <a:ext cx="22860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Writesonic / Copy.ai ($16-99)</a:t>
            </a:r>
            <a:endParaRPr lang="pl-PL" sz="1100" dirty="0"/>
          </a:p>
        </p:txBody>
      </p:sp>
      <p:sp>
        <p:nvSpPr>
          <p:cNvPr id="32" name="score"/>
          <p:cNvSpPr/>
          <p:nvPr/>
        </p:nvSpPr>
        <p:spPr>
          <a:xfrm>
            <a:off x="2606040" y="3240921"/>
            <a:ext cx="137160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  <a:t xml:space="preserve">CLEARLY </a:t>
            </a:r>
            <a:b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</a:br>
            <a:r>
              <a:rPr lang="pl-PL" sz="1100" b="1" dirty="0">
                <a:solidFill>
                  <a:srgbClr val="447A58"/>
                </a:solidFill>
                <a:latin typeface="Arial" pitchFamily="34" charset="0"/>
                <a:ea typeface="Arial"/>
                <a:cs typeface="Arial"/>
              </a:rPr>
              <a:t>WORSE</a:t>
            </a:r>
            <a:endParaRPr lang="pl-PL" sz="1100" dirty="0">
              <a:solidFill>
                <a:srgbClr val="447A58"/>
              </a:solidFill>
            </a:endParaRPr>
          </a:p>
        </p:txBody>
      </p:sp>
      <p:sp>
        <p:nvSpPr>
          <p:cNvPr id="33" name="arrow"/>
          <p:cNvSpPr/>
          <p:nvPr/>
        </p:nvSpPr>
        <p:spPr>
          <a:xfrm>
            <a:off x="3977640" y="3240921"/>
            <a:ext cx="54864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dirty="0">
                <a:solidFill>
                  <a:srgbClr val="1A1916"/>
                </a:solidFill>
                <a:latin typeface="Arial" pitchFamily="34" charset="0"/>
                <a:ea typeface="Arial"/>
                <a:cs typeface="Arial"/>
              </a:rPr>
              <a:t>↑↑</a:t>
            </a:r>
            <a:endParaRPr lang="pl-PL" sz="1800" dirty="0"/>
          </a:p>
        </p:txBody>
      </p:sp>
      <p:sp>
        <p:nvSpPr>
          <p:cNvPr id="34" name="desc"/>
          <p:cNvSpPr/>
          <p:nvPr/>
        </p:nvSpPr>
        <p:spPr>
          <a:xfrm>
            <a:off x="4526280" y="3240921"/>
            <a:ext cx="4389120" cy="38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 xml:space="preserve">No SEO analysis, no AIO, no knowledge base. </a:t>
            </a:r>
            <a:r>
              <a:rPr lang="pl-PL" sz="950" b="1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Content AI has a full functional advantage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/>
                <a:cs typeface="Arial"/>
              </a:rPr>
              <a:t>.</a:t>
            </a:r>
            <a:endParaRPr lang="pl-PL" sz="950" dirty="0"/>
          </a:p>
        </p:txBody>
      </p:sp>
      <p:sp>
        <p:nvSpPr>
          <p:cNvPr id="90" name="note"/>
          <p:cNvSpPr/>
          <p:nvPr/>
        </p:nvSpPr>
        <p:spPr>
          <a:xfrm>
            <a:off x="228600" y="3715401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950" dirty="0">
                <a:solidFill>
                  <a:srgbClr val="9CA3AF"/>
                </a:solidFill>
                <a:latin typeface="Arial" pitchFamily="34" charset="0"/>
                <a:ea typeface="Arial"/>
                <a:cs typeface="Arial"/>
              </a:rPr>
              <a:t>Main gap vs. Surfer/NeuronWriter: no live Google data (search volume, NLP term scoring). Requires a paid external API.</a:t>
            </a:r>
            <a:endParaRPr lang="pl-PL" sz="95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FBACC9DE-A7B5-3717-65B1-96D0A9A19F6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DB79CE8F-7160-060F-12CF-5158F74976C4}"/>
              </a:ext>
            </a:extLst>
          </p:cNvPr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ASSESSMENT</a:t>
            </a:r>
            <a:endParaRPr lang="en-US" sz="11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D302D062-D0A9-CB30-78A9-637236099567}"/>
              </a:ext>
            </a:extLst>
          </p:cNvPr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 Content</a:t>
            </a: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AI vs. </a:t>
            </a:r>
            <a:r>
              <a:rPr lang="it-IT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rynek</a:t>
            </a:r>
            <a:r>
              <a:rPr lang="it-IT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8.7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SCORING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does SEO scoring work?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749808"/>
            <a:ext cx="14630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452360" y="777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pl-PL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8251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scored: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93994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47472" y="189457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945903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183057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202259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form keywords appear naturally in H1, H2 and the article body?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333490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347472" y="243407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489233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7" y="2370066"/>
            <a:ext cx="2232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structure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808" y="256209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one clear H1? Do the H2s split the topic into logical sections?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872986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6"/>
          <p:cNvSpPr/>
          <p:nvPr/>
        </p:nvSpPr>
        <p:spPr>
          <a:xfrm>
            <a:off x="347472" y="297357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02666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7" y="2909562"/>
            <a:ext cx="20860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completeness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9808" y="310158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article have an intro, developed sections and a summary? No cut-off sentences.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3412482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0"/>
          <p:cNvSpPr/>
          <p:nvPr/>
        </p:nvSpPr>
        <p:spPr>
          <a:xfrm>
            <a:off x="347472" y="351306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66" y="357707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" y="344905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" y="364108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meta description 150-160 characters and does it include the main keyword?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74320" y="3951978"/>
            <a:ext cx="4160520" cy="484632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4"/>
          <p:cNvSpPr/>
          <p:nvPr/>
        </p:nvSpPr>
        <p:spPr>
          <a:xfrm>
            <a:off x="347472" y="405256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103591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9807" y="3988554"/>
            <a:ext cx="2331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and specifics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49808" y="418057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content include numbers, dimensions, terms? Does it cover the topic thoroughly?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09160" y="138251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scoring does NOT penalize: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709160" y="1793994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29"/>
          <p:cNvSpPr/>
          <p:nvPr/>
        </p:nvSpPr>
        <p:spPr>
          <a:xfrm>
            <a:off x="4773168" y="179399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084064" y="17939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internal and external links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709160" y="2214618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2"/>
          <p:cNvSpPr/>
          <p:nvPr/>
        </p:nvSpPr>
        <p:spPr>
          <a:xfrm>
            <a:off x="4773168" y="221461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5084064" y="221461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page optimization (technical SEO)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4709160" y="2635242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35"/>
          <p:cNvSpPr/>
          <p:nvPr/>
        </p:nvSpPr>
        <p:spPr>
          <a:xfrm>
            <a:off x="4773168" y="263524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5084064" y="263524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Brak cen, case studies, danych z </a:t>
            </a:r>
            <a:r>
              <a:rPr lang="en-US" sz="1050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rynku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if they are not in the knowledge base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709160" y="3055866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38"/>
          <p:cNvSpPr/>
          <p:nvPr/>
        </p:nvSpPr>
        <p:spPr>
          <a:xfrm>
            <a:off x="4773168" y="305586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5084064" y="305586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Page title (meta title) </a:t>
            </a:r>
            <a:r>
              <a:rPr lang="pl-PL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 CMS setting, not content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4709160" y="3476490"/>
            <a:ext cx="4160520" cy="365760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1"/>
          <p:cNvSpPr/>
          <p:nvPr/>
        </p:nvSpPr>
        <p:spPr>
          <a:xfrm>
            <a:off x="4773168" y="347649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084064" y="347649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Backlinks and Domain Authority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4709160" y="3915402"/>
            <a:ext cx="4160520" cy="802902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1" name="Text 44"/>
          <p:cNvSpPr/>
          <p:nvPr/>
        </p:nvSpPr>
        <p:spPr>
          <a:xfrm>
            <a:off x="4828032" y="3926021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technically: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4828032" y="420801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Sonnet 4.6 analyzes the full article text together with the meta description. The result is deterministic (temperature: 0) and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cachowany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same article always gives the same result. The cache is cleared after editing or a new generation.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4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Wynik &lt; 70 pkt </a:t>
            </a:r>
            <a:r>
              <a:rPr lang="pl-PL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auto-improvement of the article. Score ≥ 70 pts </a:t>
            </a:r>
            <a:r>
              <a:rPr lang="pl-PL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article considered valid, no improvement triggered.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SCORING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does AIO scoring work?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749808"/>
            <a:ext cx="1463040" cy="6400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452360" y="777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pl-PL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13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859536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AIO (AI Overview Optimization) </a:t>
            </a:r>
            <a:r>
              <a:rPr lang="pl-PL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1E5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scores how well the article can be cited by Google AI Overviews, ChatGPT, Perplexity and similar. A different dimension than classic SEO.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568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AIO scoring criteria: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0545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answer up front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first paragraph answer the question/topic immediately? AI Overview cites exactly this fragment as a definition.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82112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3182112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6"/>
          <p:cNvSpPr/>
          <p:nvPr/>
        </p:nvSpPr>
        <p:spPr>
          <a:xfrm>
            <a:off x="3273552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501326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Citable, standalone fragments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273552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each paragraph (3-5 sentences) make sense on its own? AI must be able to cut a fragment without losing meaning.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89904" y="233172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0"/>
          <p:cNvSpPr/>
          <p:nvPr/>
        </p:nvSpPr>
        <p:spPr>
          <a:xfrm>
            <a:off x="6089904" y="233172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1"/>
          <p:cNvSpPr/>
          <p:nvPr/>
        </p:nvSpPr>
        <p:spPr>
          <a:xfrm>
            <a:off x="6181344" y="245059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50132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65392" y="24505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and concept definitions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181344" y="2807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Are products, services and concepts explained on first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 summary is added at the end of each article. 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74320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5"/>
          <p:cNvSpPr/>
          <p:nvPr/>
        </p:nvSpPr>
        <p:spPr>
          <a:xfrm>
            <a:off x="274320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6"/>
          <p:cNvSpPr/>
          <p:nvPr/>
        </p:nvSpPr>
        <p:spPr>
          <a:xfrm>
            <a:off x="365760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595141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808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topic coverage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365760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article answer all logical questions related to the topic, based on available knowledge?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182112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0"/>
          <p:cNvSpPr/>
          <p:nvPr/>
        </p:nvSpPr>
        <p:spPr>
          <a:xfrm>
            <a:off x="3182112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1"/>
          <p:cNvSpPr/>
          <p:nvPr/>
        </p:nvSpPr>
        <p:spPr>
          <a:xfrm>
            <a:off x="3273552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5971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657600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unnecessary filler (fluff)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3273552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 sentence add facts or value? AI systems downrank content with vague statements.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089904" y="3429000"/>
            <a:ext cx="274320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2" name="Shape 35"/>
          <p:cNvSpPr/>
          <p:nvPr/>
        </p:nvSpPr>
        <p:spPr>
          <a:xfrm>
            <a:off x="6089904" y="3429000"/>
            <a:ext cx="2743200" cy="548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36"/>
          <p:cNvSpPr/>
          <p:nvPr/>
        </p:nvSpPr>
        <p:spPr>
          <a:xfrm>
            <a:off x="6181344" y="35478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597132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565392" y="35478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human language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6181344" y="39044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text sound natural, not like stuffed keywords? AIO rewards content written for humans.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0" y="4768449"/>
            <a:ext cx="9144000" cy="375051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0"/>
          <p:cNvSpPr/>
          <p:nvPr/>
        </p:nvSpPr>
        <p:spPr>
          <a:xfrm>
            <a:off x="365760" y="481121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SEO and AIO scores are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 article can have 85 SEO and 72 AIO at once. </a:t>
            </a:r>
            <a:endParaRPr lang="pl-PL" sz="11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Hybryda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SEO+AIO Hybrid targets both scores above 70.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3 options </a:t>
            </a:r>
            <a:r>
              <a:rPr lang="en-US" sz="20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</a:t>
            </a: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no subscription, no hidden fees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490472"/>
            <a:ext cx="27432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758952" y="1362456"/>
            <a:ext cx="1737360" cy="3017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58952" y="136245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46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11226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93192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 PLN  ·  one-time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311810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93192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650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articles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months at 3 articles/day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84048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20624" y="388162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functionality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408279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content types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" y="42839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URL reading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44851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Ideal for testing and rollout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1362456"/>
            <a:ext cx="2852928" cy="3493008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3200400" y="1399032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23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3703320" y="1271016"/>
            <a:ext cx="1737360" cy="301752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703320" y="1271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655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37560" y="20208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232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33756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200 PLN  ·  one-time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02666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33756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1,600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articles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47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year+ at 5 articles/day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364992" y="38496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functionality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405079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content types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42519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URL reading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445312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Comfortable buffer for a full year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44768" y="1490472"/>
            <a:ext cx="27432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6647688" y="1362456"/>
            <a:ext cx="1737360" cy="3017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647688" y="13670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team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81928" y="1746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81928" y="211226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6281928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400 PLN  ·  one-time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118104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6281928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3,200</a:t>
            </a:r>
            <a:r>
              <a:rPr lang="en-US" sz="12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articles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81928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years+ at 5 articles/day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27648" y="3840480"/>
            <a:ext cx="2377440" cy="0"/>
          </a:xfrm>
          <a:prstGeom prst="line">
            <a:avLst/>
          </a:prstGeom>
          <a:noFill/>
          <a:ln w="6350">
            <a:solidFill>
              <a:srgbClr val="EEEBE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6309360" y="3877057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functionality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4078225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content types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4279393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URL reading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480561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Long-term peace of mind and reserve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8737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Claude Sonnet 4.6 ($3/$15 per million tokens). Estimate ~$0.03-0.05 per text article. Images: ~$0.05-0.12 (requires a separate OpenAI key). Audio: synthesis ~$0.015/min, transcription $0.006/min (OpenAI). No monthly fees.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the alternative cost?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926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572768"/>
            <a:ext cx="1783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37560" y="15727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(freelance)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572768"/>
            <a:ext cx="17830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166360" y="15727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572768"/>
            <a:ext cx="2011680" cy="512064"/>
          </a:xfrm>
          <a:prstGeom prst="rect">
            <a:avLst/>
          </a:prstGeom>
          <a:solidFill>
            <a:srgbClr val="1A1916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995160" y="15727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($50 option)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20040" y="20848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1 article (approx. 800 words)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084832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150-400 PLN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2084832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166360" y="20848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300-800 PLN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2084832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995160" y="20848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0.15 PLN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2596896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20040" y="25968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596896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337560" y="25968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days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2596896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166360" y="25968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days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2596896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995160" y="25968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15-60 seconds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3108960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20040" y="31089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of Content AI offer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108960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3337560" y="31089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brief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74920" y="3108960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5166360" y="31089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brief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03720" y="3108960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995160" y="31089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base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" y="3621024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20040" y="3621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100 articles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46120" y="3621024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3337560" y="3621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15,000-40,000 PLN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74920" y="3621024"/>
            <a:ext cx="1783080" cy="512064"/>
          </a:xfrm>
          <a:prstGeom prst="rect">
            <a:avLst/>
          </a:prstGeom>
          <a:solidFill>
            <a:srgbClr val="FAFAF8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5166360" y="3621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30,000-80,000 PLN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03720" y="3621024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6995160" y="362102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15 PLN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28600" y="4133088"/>
            <a:ext cx="2926080" cy="512064"/>
          </a:xfrm>
          <a:prstGeom prst="rect">
            <a:avLst/>
          </a:prstGeom>
          <a:solidFill>
            <a:srgbClr val="EEEBE5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320040" y="413308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4133088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337560" y="41330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074920" y="4133088"/>
            <a:ext cx="17830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5166360" y="41330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903720" y="4133088"/>
            <a:ext cx="2011680" cy="512064"/>
          </a:xfrm>
          <a:prstGeom prst="rect">
            <a:avLst/>
          </a:prstGeom>
          <a:solidFill>
            <a:srgbClr val="FFF8CC"/>
          </a:solidFill>
          <a:ln w="5080">
            <a:solidFill>
              <a:srgbClr val="E2DED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6995160" y="41330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$50 investment the ROI exceeds 99% within the first 10 articles.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data is safe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502920" y="2002536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1214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7373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processed locally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52728" y="210312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 and other documents are read directly in the browser. No file is sent to an external server or stored in the cloud.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600200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983480" y="2002536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2121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33288" y="173736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content to AI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33288" y="210312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text is sent to the AI model as part of the request. Anthropic deletes API logs after 7 days and does not use the data for training.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264408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502920" y="3666744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7856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52728" y="34015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API key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52728" y="376732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app runs on an API key owned by the company. Full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can be disabled instantly in the Anthropic Console.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264408"/>
            <a:ext cx="4160520" cy="150876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4983480" y="3666744"/>
            <a:ext cx="585216" cy="585216"/>
          </a:xfrm>
          <a:prstGeom prst="ellipse">
            <a:avLst/>
          </a:prstGeom>
          <a:solidFill>
            <a:srgbClr val="FDEAEA"/>
          </a:solidFill>
          <a:ln w="1270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7856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33288" y="34015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for authorized only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33288" y="3767328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App file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dystrybuowany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</a:t>
            </a:r>
            <a:r>
              <a:rPr lang="pl-PL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</a:t>
            </a:r>
            <a:r>
              <a:rPr lang="en-US" sz="10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it reaches only designated people. No public link, login or registration.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How to share the app </a:t>
            </a:r>
            <a:r>
              <a:rPr lang="en-US" sz="26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5 minutes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4754880" y="1508760"/>
            <a:ext cx="4114800" cy="31546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7" name="Shape 24"/>
          <p:cNvSpPr/>
          <p:nvPr/>
        </p:nvSpPr>
        <p:spPr>
          <a:xfrm>
            <a:off x="4754880" y="1508760"/>
            <a:ext cx="4114800" cy="54864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645920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21808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(console.anthropic.com)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892040" y="21945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7"/>
          <p:cNvSpPr/>
          <p:nvPr/>
        </p:nvSpPr>
        <p:spPr>
          <a:xfrm>
            <a:off x="48920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85232" y="21854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to console.anthropic.com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892040" y="26517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0"/>
          <p:cNvSpPr/>
          <p:nvPr/>
        </p:nvSpPr>
        <p:spPr>
          <a:xfrm>
            <a:off x="48920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285232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→ Create Key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892040" y="31089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3"/>
          <p:cNvSpPr/>
          <p:nvPr/>
        </p:nvSpPr>
        <p:spPr>
          <a:xfrm>
            <a:off x="48920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285232" y="30998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key (shown only once!)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892040" y="35661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6"/>
          <p:cNvSpPr/>
          <p:nvPr/>
        </p:nvSpPr>
        <p:spPr>
          <a:xfrm>
            <a:off x="48920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285232" y="35570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HTML in a text editor (e.g. Notepad)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892040" y="40233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9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285232" y="40142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key in the right place in the code</a:t>
            </a:r>
          </a:p>
        </p:txBody>
      </p:sp>
      <p:sp>
        <p:nvSpPr>
          <p:cNvPr id="45" name="Shape 41"/>
          <p:cNvSpPr/>
          <p:nvPr/>
        </p:nvSpPr>
        <p:spPr>
          <a:xfrm>
            <a:off x="4892040" y="4407408"/>
            <a:ext cx="3840480" cy="201168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2"/>
          <p:cNvSpPr/>
          <p:nvPr/>
        </p:nvSpPr>
        <p:spPr>
          <a:xfrm>
            <a:off x="493776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⚠  Key in the HTML file </a:t>
            </a:r>
            <a:r>
              <a:rPr lang="pl-PL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 not share the file publicly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84FBBB35-42DB-638A-7B73-ED6CDC47E475}"/>
              </a:ext>
            </a:extLst>
          </p:cNvPr>
          <p:cNvSpPr/>
          <p:nvPr/>
        </p:nvSpPr>
        <p:spPr>
          <a:xfrm>
            <a:off x="274320" y="1508760"/>
            <a:ext cx="4114800" cy="3154680"/>
          </a:xfrm>
          <a:prstGeom prst="rect">
            <a:avLst/>
          </a:prstGeom>
          <a:solidFill>
            <a:srgbClr val="F5F4F1"/>
          </a:solidFill>
          <a:ln w="6350">
            <a:solidFill>
              <a:srgbClr val="E2DED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26326E2A-B941-B4EC-1B99-B6126E46F0EA}"/>
              </a:ext>
            </a:extLst>
          </p:cNvPr>
          <p:cNvSpPr/>
          <p:nvPr/>
        </p:nvSpPr>
        <p:spPr>
          <a:xfrm>
            <a:off x="274320" y="1508760"/>
            <a:ext cx="4114800" cy="54864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BB74D629-31C3-A007-2217-346FF4BD9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645920"/>
            <a:ext cx="320040" cy="320040"/>
          </a:xfrm>
          <a:prstGeom prst="rect">
            <a:avLst/>
          </a:prstGeom>
        </p:spPr>
      </p:pic>
      <p:sp>
        <p:nvSpPr>
          <p:cNvPr id="52" name="Text 5">
            <a:extLst>
              <a:ext uri="{FF2B5EF4-FFF2-40B4-BE49-F238E27FC236}">
                <a16:creationId xmlns:a16="http://schemas.microsoft.com/office/drawing/2014/main" id="{CEC60DE1-6A14-1E0A-8586-733B9ACFC709}"/>
              </a:ext>
            </a:extLst>
          </p:cNvPr>
          <p:cNvSpPr/>
          <p:nvPr/>
        </p:nvSpPr>
        <p:spPr>
          <a:xfrm>
            <a:off x="841248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in the pilot via Teams / OneDrive</a:t>
            </a:r>
            <a:endParaRPr lang="en-US" sz="140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47F99A56-0B1F-9094-A5CF-B892ECE433CC}"/>
              </a:ext>
            </a:extLst>
          </p:cNvPr>
          <p:cNvSpPr/>
          <p:nvPr/>
        </p:nvSpPr>
        <p:spPr>
          <a:xfrm>
            <a:off x="411480" y="21945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9F14D264-1069-54AA-5D61-3D5B4AAE6046}"/>
              </a:ext>
            </a:extLst>
          </p:cNvPr>
          <p:cNvSpPr/>
          <p:nvPr/>
        </p:nvSpPr>
        <p:spPr>
          <a:xfrm>
            <a:off x="4114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3AA6561C-3885-8423-697C-8F3B0E325DCD}"/>
              </a:ext>
            </a:extLst>
          </p:cNvPr>
          <p:cNvSpPr/>
          <p:nvPr/>
        </p:nvSpPr>
        <p:spPr>
          <a:xfrm>
            <a:off x="804672" y="21854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DEV file in a text editor</a:t>
            </a:r>
            <a:endParaRPr lang="en-US" sz="1200" dirty="0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D93119A9-FD14-97BD-7725-D0A5F1A31DDC}"/>
              </a:ext>
            </a:extLst>
          </p:cNvPr>
          <p:cNvSpPr/>
          <p:nvPr/>
        </p:nvSpPr>
        <p:spPr>
          <a:xfrm>
            <a:off x="411480" y="26517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5BD0DC40-CD68-702B-CA4F-FC41D6C91046}"/>
              </a:ext>
            </a:extLst>
          </p:cNvPr>
          <p:cNvSpPr/>
          <p:nvPr/>
        </p:nvSpPr>
        <p:spPr>
          <a:xfrm>
            <a:off x="4114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50B2C514-2732-A680-9917-E1A999B87D15}"/>
              </a:ext>
            </a:extLst>
          </p:cNvPr>
          <p:cNvSpPr/>
          <p:nvPr/>
        </p:nvSpPr>
        <p:spPr>
          <a:xfrm>
            <a:off x="804672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user name in USER_LABEL</a:t>
            </a:r>
            <a:endParaRPr lang="en-US" sz="12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5BBD544D-8541-FAE4-F15C-A63323E2BE6A}"/>
              </a:ext>
            </a:extLst>
          </p:cNvPr>
          <p:cNvSpPr/>
          <p:nvPr/>
        </p:nvSpPr>
        <p:spPr>
          <a:xfrm>
            <a:off x="411480" y="31089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7098EF77-FACA-FC31-9937-7939652F6C2B}"/>
              </a:ext>
            </a:extLst>
          </p:cNvPr>
          <p:cNvSpPr/>
          <p:nvPr/>
        </p:nvSpPr>
        <p:spPr>
          <a:xfrm>
            <a:off x="4114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4081A4B4-A8BF-BF9A-E4CC-18BA4A6D1A43}"/>
              </a:ext>
            </a:extLst>
          </p:cNvPr>
          <p:cNvSpPr/>
          <p:nvPr/>
        </p:nvSpPr>
        <p:spPr>
          <a:xfrm>
            <a:off x="804672" y="30998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python3 build.py</a:t>
            </a:r>
            <a:endParaRPr lang="en-US" sz="120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36AFA830-E90E-F43C-A832-7DF9058B7F85}"/>
              </a:ext>
            </a:extLst>
          </p:cNvPr>
          <p:cNvSpPr/>
          <p:nvPr/>
        </p:nvSpPr>
        <p:spPr>
          <a:xfrm>
            <a:off x="411480" y="35661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78D80755-B367-C601-B777-A58CDF69CBFC}"/>
              </a:ext>
            </a:extLst>
          </p:cNvPr>
          <p:cNvSpPr/>
          <p:nvPr/>
        </p:nvSpPr>
        <p:spPr>
          <a:xfrm>
            <a:off x="4114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5CE07523-4B32-209B-5ECE-93862774918A}"/>
              </a:ext>
            </a:extLst>
          </p:cNvPr>
          <p:cNvSpPr/>
          <p:nvPr/>
        </p:nvSpPr>
        <p:spPr>
          <a:xfrm>
            <a:off x="804672" y="35570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INTERNAL file via Teams</a:t>
            </a:r>
            <a:endParaRPr lang="en-US" sz="1200" dirty="0"/>
          </a:p>
        </p:txBody>
      </p:sp>
      <p:sp>
        <p:nvSpPr>
          <p:cNvPr id="65" name="Shape 18">
            <a:extLst>
              <a:ext uri="{FF2B5EF4-FFF2-40B4-BE49-F238E27FC236}">
                <a16:creationId xmlns:a16="http://schemas.microsoft.com/office/drawing/2014/main" id="{4137F38D-24E3-37C2-0613-9D09B358E02D}"/>
              </a:ext>
            </a:extLst>
          </p:cNvPr>
          <p:cNvSpPr/>
          <p:nvPr/>
        </p:nvSpPr>
        <p:spPr>
          <a:xfrm>
            <a:off x="411480" y="4023360"/>
            <a:ext cx="274320" cy="274320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E572B8D9-B1CD-B9D3-4907-3A8DC3A54914}"/>
              </a:ext>
            </a:extLst>
          </p:cNvPr>
          <p:cNvSpPr/>
          <p:nvPr/>
        </p:nvSpPr>
        <p:spPr>
          <a:xfrm>
            <a:off x="4114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897C675-C1D6-4373-476E-549B17FD23FB}"/>
              </a:ext>
            </a:extLst>
          </p:cNvPr>
          <p:cNvSpPr/>
          <p:nvPr/>
        </p:nvSpPr>
        <p:spPr>
          <a:xfrm>
            <a:off x="804672" y="40142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opens it from the same location on disk</a:t>
            </a:r>
            <a:endParaRPr lang="en-US" sz="1200" dirty="0"/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276B9B32-50C4-3CF1-7EB4-2C35289FB8FB}"/>
              </a:ext>
            </a:extLst>
          </p:cNvPr>
          <p:cNvSpPr/>
          <p:nvPr/>
        </p:nvSpPr>
        <p:spPr>
          <a:xfrm>
            <a:off x="411480" y="4407408"/>
            <a:ext cx="3840480" cy="201168"/>
          </a:xfrm>
          <a:prstGeom prst="rect">
            <a:avLst/>
          </a:prstGeom>
          <a:solidFill>
            <a:srgbClr val="FFF8CC"/>
          </a:solidFill>
          <a:ln w="635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81E2ED8A-7B12-8182-6497-4BFBAF787E7C}"/>
              </a:ext>
            </a:extLst>
          </p:cNvPr>
          <p:cNvSpPr/>
          <p:nvPr/>
        </p:nvSpPr>
        <p:spPr>
          <a:xfrm>
            <a:off x="45720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✓  The file registers the device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r>
              <a:rPr lang="en-US" sz="950" b="1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b="1" dirty="0" err="1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70" name="Text 44">
            <a:extLst>
              <a:ext uri="{FF2B5EF4-FFF2-40B4-BE49-F238E27FC236}">
                <a16:creationId xmlns:a16="http://schemas.microsoft.com/office/drawing/2014/main" id="{73EF6C41-A167-8BE9-BF92-7D150099656A}"/>
              </a:ext>
            </a:extLst>
          </p:cNvPr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Target hosting is Azure Static Web Apps in the Content AI tenant. Device fingerprint locks the file. </a:t>
            </a:r>
            <a:r>
              <a:rPr lang="en-US" sz="1050" dirty="0" err="1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 USER_LABEL identifies</a:t>
            </a: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user in API logs.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BILLING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API vs </a:t>
            </a:r>
            <a:r>
              <a:rPr lang="en-US" sz="26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subskrypcja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an important distinction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44168"/>
            <a:ext cx="8595360" cy="457200"/>
          </a:xfrm>
          <a:prstGeom prst="rect">
            <a:avLst/>
          </a:prstGeom>
          <a:solidFill>
            <a:srgbClr val="FFF8CC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Content AI uses the API </a:t>
            </a:r>
            <a:r>
              <a:rPr lang="pl-PL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7A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 completely different billing than a Claude.ai subscription for employees. We do not need a subscription to use the app.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069080" cy="2606040"/>
          </a:xfrm>
          <a:prstGeom prst="rect">
            <a:avLst/>
          </a:prstGeom>
          <a:solidFill>
            <a:srgbClr val="D8F3DC"/>
          </a:solidFill>
          <a:ln w="19050">
            <a:solidFill>
              <a:srgbClr val="95D5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069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✓  Anthropic API </a:t>
            </a: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 co potrzebujemy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fee: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12848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BRAK </a:t>
            </a:r>
            <a:r>
              <a:rPr lang="pl-PL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zero fixed costs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for: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2848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actually 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account: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→ Organization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from Anthropic PBC (like AWS, GCP)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77640"/>
            <a:ext cx="3749040" cy="0"/>
          </a:xfrm>
          <a:prstGeom prst="line">
            <a:avLst/>
          </a:prstGeom>
          <a:noFill/>
          <a:ln w="508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cost: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12848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$20-100 for a few months / year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938528"/>
            <a:ext cx="4069080" cy="2606040"/>
          </a:xfrm>
          <a:prstGeom prst="rect">
            <a:avLst/>
          </a:prstGeom>
          <a:solidFill>
            <a:srgbClr val="F9F9F9"/>
          </a:solidFill>
          <a:ln w="1016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4800600" y="1938528"/>
            <a:ext cx="4069080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Claude.ai Teams </a:t>
            </a: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 chat, not the app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fee: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9984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$20/user (min. 5 users = $100+)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74320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93776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what: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9984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chat for employees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15468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93776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Needed?: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9984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NIE </a:t>
            </a:r>
            <a:r>
              <a:rPr lang="pl-PL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not required for Content AI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56616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4937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consider: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9984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whole team wants to use Claude chat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977640"/>
            <a:ext cx="374904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93776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9984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50 users, negotiated pricing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57465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set up company billing for the API: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 →  Settings  →  Organization  →  Add company billing  →  add a company card or transfer details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 →  Settings  →  Organization  →  Billing  →  company card or transfer  →  done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3840480" y="4732020"/>
            <a:ext cx="5303520" cy="411480"/>
          </a:xfrm>
          <a:prstGeom prst="rect">
            <a:avLst/>
          </a:prstGeom>
          <a:solidFill>
            <a:srgbClr val="E23244"/>
          </a:solidFill>
          <a:ln w="1270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Prostokąt 38">
            <a:extLst>
              <a:ext uri="{FF2B5EF4-FFF2-40B4-BE49-F238E27FC236}">
                <a16:creationId xmlns:a16="http://schemas.microsoft.com/office/drawing/2014/main" id="{92ABF705-8E89-C99B-E3A9-168538A7DFAC}"/>
              </a:ext>
            </a:extLst>
          </p:cNvPr>
          <p:cNvSpPr/>
          <p:nvPr/>
        </p:nvSpPr>
        <p:spPr>
          <a:xfrm>
            <a:off x="3840480" y="0"/>
            <a:ext cx="5303520" cy="4732020"/>
          </a:xfrm>
          <a:prstGeom prst="rect">
            <a:avLst/>
          </a:prstGeom>
          <a:solidFill>
            <a:srgbClr val="F5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916"/>
          </a:solidFill>
          <a:ln w="12700">
            <a:noFill/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2514600"/>
            <a:ext cx="457200" cy="64008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160520" y="817288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63440" y="81728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ready and tested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47640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663440" y="13476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SEO and AIO scoring with improvement loop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877992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663440" y="187799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+ Drupal - CMS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2408344"/>
            <a:ext cx="466344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663440" y="2408344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Brand Voice, Brief,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Bulk, JSON-LD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2938696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663440" y="2938696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approval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l-PL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($20 / $50 / $100)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3469048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663440" y="346904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 configuration (</a:t>
            </a:r>
            <a:r>
              <a:rPr lang="en-US" sz="1200" b="1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3999400"/>
            <a:ext cx="4663440" cy="457200"/>
          </a:xfrm>
          <a:prstGeom prst="rect">
            <a:avLst/>
          </a:prstGeom>
          <a:solidFill>
            <a:srgbClr val="FDEAEA"/>
          </a:solidFill>
          <a:ln w="6350">
            <a:solidFill>
              <a:srgbClr val="F5C0B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663440" y="399940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Optionally: OpenAI key (images) + CMS configuration (WP/Drupal)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47320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starting budget: $50 ≈ 200 PLN one-time</a:t>
            </a: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21D0A09-B7CD-F14C-11D5-A12802B1A140}"/>
              </a:ext>
            </a:extLst>
          </p:cNvPr>
          <p:cNvSpPr/>
          <p:nvPr/>
        </p:nvSpPr>
        <p:spPr>
          <a:xfrm>
            <a:off x="320040" y="2697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fully ready,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and expanded.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top up the account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start using it.</a:t>
            </a:r>
            <a:endParaRPr lang="en-US" sz="13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79C8017-A0B8-98C1-810D-26A641B3FFE4}"/>
              </a:ext>
            </a:extLst>
          </p:cNvPr>
          <p:cNvSpPr/>
          <p:nvPr/>
        </p:nvSpPr>
        <p:spPr>
          <a:xfrm>
            <a:off x="4160520" y="20345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needed to start?</a:t>
            </a:r>
            <a:endParaRPr lang="en-US" sz="2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75DB59D-B455-CE7E-C928-B11D85192376}"/>
              </a:ext>
            </a:extLst>
          </p:cNvPr>
          <p:cNvSpPr/>
          <p:nvPr/>
        </p:nvSpPr>
        <p:spPr>
          <a:xfrm>
            <a:off x="4251960" y="8172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09CC202-0D9B-D384-2D6E-B94EB6CFFA5B}"/>
              </a:ext>
            </a:extLst>
          </p:cNvPr>
          <p:cNvSpPr/>
          <p:nvPr/>
        </p:nvSpPr>
        <p:spPr>
          <a:xfrm>
            <a:off x="4251960" y="132478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9C8AD59F-79DB-E8ED-8D1A-5BB2EB39FFB1}"/>
              </a:ext>
            </a:extLst>
          </p:cNvPr>
          <p:cNvSpPr/>
          <p:nvPr/>
        </p:nvSpPr>
        <p:spPr>
          <a:xfrm>
            <a:off x="4247747" y="187799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E7B1F80-0FE9-A691-459A-A732626EFE05}"/>
              </a:ext>
            </a:extLst>
          </p:cNvPr>
          <p:cNvSpPr/>
          <p:nvPr/>
        </p:nvSpPr>
        <p:spPr>
          <a:xfrm>
            <a:off x="4255486" y="239920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5121CEFC-9FCC-C213-3492-BC3C363C4D20}"/>
              </a:ext>
            </a:extLst>
          </p:cNvPr>
          <p:cNvSpPr/>
          <p:nvPr/>
        </p:nvSpPr>
        <p:spPr>
          <a:xfrm>
            <a:off x="4251960" y="292040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D16FD4A-5CC7-B8C8-72D5-FB9C2236513B}"/>
              </a:ext>
            </a:extLst>
          </p:cNvPr>
          <p:cNvSpPr/>
          <p:nvPr/>
        </p:nvSpPr>
        <p:spPr>
          <a:xfrm>
            <a:off x="4255486" y="34461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31A26FF5-7AE2-F36F-7E4B-BB705D21CF2C}"/>
              </a:ext>
            </a:extLst>
          </p:cNvPr>
          <p:cNvSpPr/>
          <p:nvPr/>
        </p:nvSpPr>
        <p:spPr>
          <a:xfrm>
            <a:off x="4255486" y="39719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500" dirty="0">
                <a:solidFill>
                  <a:srgbClr val="F5A300"/>
                </a:solidFill>
                <a:latin typeface="Arial" pitchFamily="34" charset="0"/>
              </a:rPr>
              <a:t>ROADMAP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A1916"/>
                </a:solidFill>
                <a:latin typeface="Arial Black" pitchFamily="34" charset="0"/>
              </a:rPr>
              <a:t>Swapping the AI engine - Azure OpenAI</a:t>
            </a:r>
          </a:p>
        </p:txBody>
      </p:sp>
      <p:sp>
        <p:nvSpPr>
          <p:cNvPr id="4" name="Line"/>
          <p:cNvSpPr/>
          <p:nvPr/>
        </p:nvSpPr>
        <p:spPr>
          <a:xfrm>
            <a:off x="365760" y="1188720"/>
            <a:ext cx="8412480" cy="228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</p:txBody>
      </p:sp>
      <p:sp>
        <p:nvSpPr>
          <p:cNvPr id="5" name="Now"/>
          <p:cNvSpPr/>
          <p:nvPr/>
        </p:nvSpPr>
        <p:spPr>
          <a:xfrm>
            <a:off x="365760" y="128016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🤖  Teraz: Anthropic Claude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claude-sonnet-4-6 via the Anthropic API.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Data goes to the Anthropic server (USA).</a:t>
            </a:r>
          </a:p>
        </p:txBody>
      </p:sp>
      <p:sp>
        <p:nvSpPr>
          <p:cNvPr id="6" name="Plan"/>
          <p:cNvSpPr/>
          <p:nvPr/>
        </p:nvSpPr>
        <p:spPr>
          <a:xfrm>
            <a:off x="365760" y="228600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⚙️  Model selector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Engine choice in the app settings: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Anthropic / Azure OpenAI / OpenAI</a:t>
            </a:r>
          </a:p>
        </p:txBody>
      </p:sp>
      <p:sp>
        <p:nvSpPr>
          <p:cNvPr id="7" name="Change"/>
          <p:cNvSpPr/>
          <p:nvPr/>
        </p:nvSpPr>
        <p:spPr>
          <a:xfrm>
            <a:off x="365760" y="3291840"/>
            <a:ext cx="3840480" cy="100584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🔧  Co wymaga zmiany w kodzie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~30 lines of code: different request format,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different endpoint, model choice in UI.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Available on request.</a:t>
            </a:r>
          </a:p>
        </p:txBody>
      </p:sp>
      <p:sp>
        <p:nvSpPr>
          <p:cNvPr id="8" name="Azure"/>
          <p:cNvSpPr/>
          <p:nvPr/>
        </p:nvSpPr>
        <p:spPr>
          <a:xfrm>
            <a:off x="4389120" y="1280160"/>
            <a:ext cx="4389120" cy="3017520"/>
          </a:xfrm>
          <a:prstGeom prst="rect">
            <a:avLst/>
          </a:prstGeom>
          <a:solidFill>
            <a:srgbClr val="F0F7FF"/>
          </a:solidFill>
          <a:ln>
            <a:solidFill>
              <a:srgbClr val="0078D4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pl-PL" sz="1500" b="1" dirty="0">
                <a:solidFill>
                  <a:srgbClr val="0078D4"/>
                </a:solidFill>
                <a:latin typeface="Arial Black" pitchFamily="34" charset="0"/>
              </a:rPr>
              <a:t>☁️  Why Azure OpenAI?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🔒  Data in your infrastructure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Content AI Azure tenant, not the Anthropic server. Full compliance and GDPR control.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📊  Existing subscription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Content AI uses Azure. No new contracts - rollout within the existing agreement.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🤖  Te same modele GPT-4o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GPT-4o, GPT-4 Turbo - the same models as OpenAI, but hosted on your side.</a:t>
            </a:r>
          </a:p>
        </p:txBody>
      </p:sp>
    </p:spTree>
  </p:cSld>
  <p:clrMapOvr>
    <a:masterClr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AI-readiness and visibility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in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measurement of brand presence in AI answers, with web search.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score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score reflects position and stability, not raw presence.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and recommendations, export to DOCX and PDF.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AI-readiness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llms.txt, schema.org and robots.txt - content ready for AI models.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and GEO Score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citability score 0-100: format, structure, entity.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new content types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page (export) and press release in news format.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MODULE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 content and voice assistant (2.8)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content aloud and dictate into fields.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content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Podcast, audio newsletter and article as audiobook.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373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12280" y="2075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 recording or audio file to text.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to knowledge base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Transcribe recordings straight into the knowledge base.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pl-PL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329184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engine by default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88620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speech synthesis. ElevenLabs as a premium option.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743200" cy="1371600"/>
          </a:xfrm>
          <a:prstGeom prst="rect">
            <a:avLst/>
          </a:prstGeom>
          <a:solidFill>
            <a:srgbClr val="252320"/>
          </a:solidFill>
          <a:ln w="6350">
            <a:solidFill>
              <a:srgbClr val="3A37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4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2461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12280" y="363016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read-aloud, on-device dictation, data wipe.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2434</Words>
  <Application>Microsoft Office PowerPoint</Application>
  <PresentationFormat>Pokaz na ekranie (16:9)</PresentationFormat>
  <Paragraphs>376</Paragraphs>
  <Slides>18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Delivery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— Kosztorys i propozycja</dc:title>
  <dc:subject>PptxGenJS Presentation</dc:subject>
  <dc:creator>PptxGenJS</dc:creator>
  <cp:lastModifiedBy>Marcin Przybylski (Content AI eCom PL)</cp:lastModifiedBy>
  <cp:revision>8</cp:revision>
  <dcterms:created xsi:type="dcterms:W3CDTF">2026-05-12T13:41:15Z</dcterms:created>
  <dcterms:modified xsi:type="dcterms:W3CDTF">2026-05-18T08:48:07Z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FOR INTERNAL USE</vt:lpwstr>
  </property>
</Properties>
</file>