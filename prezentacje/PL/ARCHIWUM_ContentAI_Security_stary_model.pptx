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2" r:id="rId20"/>
    <p:sldId id="259" r:id="rId5"/>
    <p:sldId id="260" r:id="rId6"/>
    <p:sldId id="265" r:id="rId7"/>
    <p:sldId id="264" r:id="rId8"/>
    <p:sldId id="262" r:id="rId9"/>
    <p:sldId id="268" r:id="rId10"/>
    <p:sldId id="269" r:id="rId11"/>
    <p:sldId id="270" r:id="rId12"/>
    <p:sldId id="271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34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Nadmierne</a:t>
            </a:r>
            <a:r>
              <a:rPr lang="en-US" dirty="0"/>
              <a:t xml:space="preserve"> </a:t>
            </a:r>
            <a:r>
              <a:rPr lang="en-US" dirty="0" err="1"/>
              <a:t>koszty</a:t>
            </a:r>
            <a:r>
              <a:rPr lang="en-US" dirty="0"/>
              <a:t xml:space="preserve"> API</a:t>
            </a:r>
            <a:r>
              <a:rPr lang="pl-PL" dirty="0"/>
              <a:t xml:space="preserve"> - Niskie | Niskie - Limit miesięczny (50-100$) na koncie </a:t>
            </a:r>
            <a:r>
              <a:rPr lang="pl-PL" dirty="0" err="1"/>
              <a:t>Anthropic</a:t>
            </a:r>
            <a:r>
              <a:rPr lang="pl-PL" dirty="0"/>
              <a:t xml:space="preserve"> + alert email przy 80% wykorzystania.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 Bezpieczeństwa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011680" cy="457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7818120" y="45720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2A2200"/>
          </a:solidFill>
          <a:ln w="1905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818120" y="7132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1396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jak działa Content 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02920" y="2578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5968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Przepływ </a:t>
            </a:r>
            <a:r>
              <a:rPr lang="en-US" sz="13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danych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 trafia do Anthropic, co lokalnie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02920" y="3035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0540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Klucz API </a:t>
            </a:r>
            <a:r>
              <a:rPr lang="pl-PL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zarządzanie dostępem i kontrola kosztów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35112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Retencja </a:t>
            </a:r>
            <a:r>
              <a:rPr lang="en-US" sz="13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danych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7 dni API vs Shadow AI (konta prywatne)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502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02920" y="3950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39684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ryzyka i macierz kontroli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320040" cy="2743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502920" y="4407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4425696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Rekomendacje wdrożenia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Content AI  |  Marcin Przybylski </a:t>
            </a:r>
            <a:r>
              <a:rPr lang="pl-PL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Web and Digital Marketing Expert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działa Content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2468880" cy="1554480"/>
          </a:xfrm>
          <a:prstGeom prst="rect">
            <a:avLst/>
          </a:prstGeom>
          <a:solidFill>
            <a:srgbClr val="DBEAFE"/>
          </a:solidFill>
          <a:ln w="8890">
            <a:solidFill>
              <a:srgbClr val="93C5F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2860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Przeglądarka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 HTML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/ lokalnie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2468880" cy="1554480"/>
          </a:xfrm>
          <a:prstGeom prst="rect">
            <a:avLst/>
          </a:prstGeom>
          <a:solidFill>
            <a:srgbClr val="FEF3C7"/>
          </a:solidFill>
          <a:ln w="8890">
            <a:solidFill>
              <a:srgbClr val="FCD34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292608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/ AWS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1508760"/>
            <a:ext cx="2468880" cy="1554480"/>
          </a:xfrm>
          <a:prstGeom prst="rect">
            <a:avLst/>
          </a:prstGeom>
          <a:solidFill>
            <a:srgbClr val="D6F0E0"/>
          </a:solidFill>
          <a:ln w="889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62356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150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wiedzy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przeglądarka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06624" y="2176272"/>
            <a:ext cx="201168" cy="731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5408676" y="2176272"/>
            <a:ext cx="201168" cy="7315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228600" y="3291840"/>
            <a:ext cx="146304" cy="146304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75488" y="32552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własnego serwera Content AI - aplikacja to jeden plik HTML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694176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Treści do generowania trafiają do Anthropic API (szyfrowane HTTPS/TLS 1.3)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4096512"/>
            <a:ext cx="146304" cy="146304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75488" y="40599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artykułów i baza wiedzy - wyłącznie lokalnie w przeglądarce użytkownika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498848"/>
            <a:ext cx="146304" cy="14630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75488" y="44622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Żadne dane nie trafiają na serwery Content AI ani zewnętrzne bazy danych</a:t>
            </a:r>
            <a:endParaRPr lang="en-US" sz="1200" dirty="0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C2D9B1A1-57F3-BC2E-2F46-383AC885E827}"/>
              </a:ext>
            </a:extLst>
          </p:cNvPr>
          <p:cNvSpPr/>
          <p:nvPr/>
        </p:nvSpPr>
        <p:spPr>
          <a:xfrm>
            <a:off x="2606040" y="2304288"/>
            <a:ext cx="411480" cy="3108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2587752" y="2304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</a:t>
            </a:r>
            <a:endParaRPr lang="en-US" sz="800" dirty="0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D4910350-A912-082B-22CA-5080804DC384}"/>
              </a:ext>
            </a:extLst>
          </p:cNvPr>
          <p:cNvSpPr/>
          <p:nvPr/>
        </p:nvSpPr>
        <p:spPr>
          <a:xfrm>
            <a:off x="5296662" y="2304288"/>
            <a:ext cx="411480" cy="3108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276088" y="2304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r>
              <a:rPr lang="en-US" sz="8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PRZEPŁYW DANYCH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trafia do Anthropic, a co zostaje lokalnie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77696"/>
            <a:ext cx="402336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28600" y="1377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TRAFIA DO ANTHROPIC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770888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7472" y="1789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Temat artykułu (np. "Content AI BOX")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255520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" y="22738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Zawartość dokumentów z bazy wiedzy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2740152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47472" y="2758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Adresy URL dodane do bazy wiedzy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3224784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47472" y="3243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Ustawienia generowania (typ, długość, ton)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709416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47472" y="3727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Brand Voice - opis stylu pisania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377696"/>
            <a:ext cx="4023360" cy="34747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892040" y="1377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ZOSTAJE LOKALNIE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770888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010912" y="1789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Historia wygenerowanych artykułów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255520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010912" y="22738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Klucz API Anthropic (w pliku HTML)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740152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010912" y="2758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Ustawienia Brand Voice (profil stylu)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224784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010912" y="3243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Licznik wygenerowanych artykułów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3709416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5010912" y="3727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Dane logowania do CMS (WP/Drupal)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274320" y="4855464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Transmisja: HTTPS/TLS 1.3. Logi API automatycznie usuwane po 7 dniach (od 14.09.2025). </a:t>
            </a:r>
            <a:endParaRPr lang="pl-PL" sz="1000" dirty="0">
              <a:solidFill>
                <a:srgbClr val="5A58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Dane NIGDY nie są używane do trenowania 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modelu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zasada bez wyjątków dla kont API.</a:t>
            </a:r>
            <a:endParaRPr lang="en-US" sz="10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8A3398F-F8F5-C782-8AB4-8F26A0FB14E7}"/>
              </a:ext>
            </a:extLst>
          </p:cNvPr>
          <p:cNvSpPr/>
          <p:nvPr/>
        </p:nvSpPr>
        <p:spPr>
          <a:xfrm>
            <a:off x="228600" y="4194048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912FE61-DFE5-AAF6-7136-7F19B830C0F3}"/>
              </a:ext>
            </a:extLst>
          </p:cNvPr>
          <p:cNvSpPr/>
          <p:nvPr/>
        </p:nvSpPr>
        <p:spPr>
          <a:xfrm>
            <a:off x="347472" y="42123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⚠  </a:t>
            </a:r>
            <a:r>
              <a:rPr lang="pl-PL" sz="1150" dirty="0" err="1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graficzny (do </a:t>
            </a:r>
            <a:r>
              <a:rPr lang="pl-PL" sz="1150" dirty="0" err="1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API)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API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Zarządzanie dostępem i kontrola kosztów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44752"/>
            <a:ext cx="8686800" cy="685800"/>
          </a:xfrm>
          <a:prstGeom prst="rect">
            <a:avLst/>
          </a:prstGeom>
          <a:solidFill>
            <a:srgbClr val="FDEAEA"/>
          </a:solidFill>
          <a:ln w="10160">
            <a:solidFill>
              <a:srgbClr val="F5C0B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⚠  Główne ryzyko: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Anthropic API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OpenAI API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wpisane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HTML s</a:t>
            </a:r>
            <a:r>
              <a:rPr lang="pl-PL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ą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widoczne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ka</a:t>
            </a:r>
            <a:r>
              <a:rPr lang="pl-PL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dego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 dost</a:t>
            </a:r>
            <a:r>
              <a:rPr lang="pl-PL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ę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 do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pliku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DEV.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INTERNAL ma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klucze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zabezpieczone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obfuskacją.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kontroli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dost</a:t>
            </a:r>
            <a:r>
              <a:rPr lang="pl-PL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ę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 </a:t>
            </a:r>
            <a:r>
              <a:rPr lang="en-US" sz="1200" b="1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pliku</a:t>
            </a:r>
            <a:r>
              <a:rPr lang="en-US" sz="1200" b="1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2331720"/>
            <a:ext cx="8686800" cy="2926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Dystrybucja: hosting Azure Static Web Apps w tenancie Content AI (rekomendowany) lub plik przez Teams albo OneDrive w pilotażu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dostęp tylko dla wskazanych osób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743200"/>
            <a:ext cx="4160520" cy="29260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0040" y="2743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OPCJA A 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Jeden klucz firmowy (rekomendowana na start)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063240"/>
            <a:ext cx="4160520" cy="32918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47472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Jeden klucz API na koncie firmowym Content AI w console.anthropic.com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438144"/>
            <a:ext cx="4160520" cy="32918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47472" y="3456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✓  Wbudowany w plik HTML </a:t>
            </a:r>
            <a:r>
              <a:rPr lang="pl-PL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użytkownicy nie konfigurują nic sami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813048"/>
            <a:ext cx="4160520" cy="32918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47472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Jeden miesięczny limit kosztów ($50-100) dla wszystkich użytkowników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4187952"/>
            <a:ext cx="4160520" cy="32918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47472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Monitoring zbiorczy: dashboard pokazuje całkowite zużycie tokenów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160520" cy="29260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OPCJA B  </a:t>
            </a:r>
            <a:r>
              <a:rPr lang="pl-PL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Klucz per osoba (pełna kontrola admina)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160520" cy="329184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873752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Admin tworzy klucze w console.anthropic.com → Settings → API Keys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438144"/>
            <a:ext cx="4160520" cy="329184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873752" y="3456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 Naming: </a:t>
            </a:r>
            <a:r>
              <a:rPr lang="en-US" sz="1050" dirty="0" err="1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-marketing-</a:t>
            </a:r>
            <a:r>
              <a:rPr lang="en-US" sz="1050" dirty="0" err="1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 err="1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2207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widoczne w dashboardzie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813048"/>
            <a:ext cx="4160520" cy="329184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873752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Spending limit per klucz (np. $20/mies.) + alert e-mail przy przekroczeniu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187952"/>
            <a:ext cx="4160520" cy="329184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873752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 Dezaktywacja klucza w 1 </a:t>
            </a:r>
            <a:r>
              <a:rPr lang="en-US" sz="1050" dirty="0" err="1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np. przy odejściu pracownika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4572000"/>
            <a:ext cx="4160520" cy="347472"/>
          </a:xfrm>
          <a:prstGeom prst="rect">
            <a:avLst/>
          </a:prstGeom>
          <a:solidFill>
            <a:srgbClr val="EEF4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846320" y="45902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Jedna karta firmowa + jedna faktura miesięczna. Granularny widok zużycia i kosztów per użytkownik.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 DANYCH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vs konta prywatne pracowników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8686800" cy="658368"/>
          </a:xfrm>
          <a:prstGeom prst="rect">
            <a:avLst/>
          </a:prstGeom>
          <a:solidFill>
            <a:srgbClr val="D6F0E0"/>
          </a:solidFill>
          <a:ln w="1016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1490472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Content AI korzysta z konta API </a:t>
            </a:r>
            <a:r>
              <a:rPr lang="pl-PL" sz="125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5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logi usuwane automatycznie po 7 dniach (od 14.09.2025). Dane NIGDY nie są używane do trenowania modelu. Zasada bez wyjątków.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2212848"/>
            <a:ext cx="2834640" cy="34747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2212848"/>
            <a:ext cx="2743200" cy="34747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20040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Content 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2212848"/>
            <a:ext cx="3017520" cy="347472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989320" y="2212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claude.ai konto prywatne (Shadow AI)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87752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20040" y="2606040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 logów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2587752"/>
            <a:ext cx="2743200" cy="393192"/>
          </a:xfrm>
          <a:prstGeom prst="rect">
            <a:avLst/>
          </a:prstGeom>
          <a:solidFill>
            <a:srgbClr val="D6F0E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200400" y="2606040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dni → auto-usuwane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2587752"/>
            <a:ext cx="3017520" cy="393192"/>
          </a:xfrm>
          <a:prstGeom prst="rect">
            <a:avLst/>
          </a:prstGeom>
          <a:solidFill>
            <a:srgbClr val="FDEAE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5989320" y="2606040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dni (opt-out) lub 5 lat (opt-in)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008376"/>
            <a:ext cx="2834640" cy="39319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20040" y="3026664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Trenowanie modelu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3008376"/>
            <a:ext cx="2743200" cy="393192"/>
          </a:xfrm>
          <a:prstGeom prst="rect">
            <a:avLst/>
          </a:prstGeom>
          <a:solidFill>
            <a:srgbClr val="E8F5E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200400" y="3026664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NIE </a:t>
            </a:r>
            <a:r>
              <a:rPr lang="pl-PL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zasada bez wyjątków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008376"/>
            <a:ext cx="3017520" cy="393192"/>
          </a:xfrm>
          <a:prstGeom prst="rect">
            <a:avLst/>
          </a:prstGeom>
          <a:solidFill>
            <a:srgbClr val="FCF0E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5989320" y="3026664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</a:t>
            </a:r>
            <a:r>
              <a:rPr lang="pl-PL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- </a:t>
            </a:r>
            <a:r>
              <a:rPr lang="en-US" sz="1000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</a:t>
            </a: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pracownik zaakceptował opt-in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429000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20040" y="3447288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przez firmę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08960" y="3429000"/>
            <a:ext cx="2743200" cy="393192"/>
          </a:xfrm>
          <a:prstGeom prst="rect">
            <a:avLst/>
          </a:prstGeom>
          <a:solidFill>
            <a:srgbClr val="D6F0E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200400" y="3447288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Tak </a:t>
            </a:r>
            <a:r>
              <a:rPr lang="pl-PL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klucz API, monitoring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97880" y="3429000"/>
            <a:ext cx="3017520" cy="393192"/>
          </a:xfrm>
          <a:prstGeom prst="rect">
            <a:avLst/>
          </a:prstGeom>
          <a:solidFill>
            <a:srgbClr val="FDEAE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5989320" y="3447288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NIE </a:t>
            </a:r>
            <a:r>
              <a:rPr lang="pl-PL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prywatne konto pracownika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849624"/>
            <a:ext cx="2834640" cy="39319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20040" y="3867912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firmowe w zapytaniu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08960" y="3849624"/>
            <a:ext cx="2743200" cy="393192"/>
          </a:xfrm>
          <a:prstGeom prst="rect">
            <a:avLst/>
          </a:prstGeom>
          <a:solidFill>
            <a:srgbClr val="E8F5E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3200400" y="386791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Zarządzane warunkami biznesowymi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3849624"/>
            <a:ext cx="3017520" cy="393192"/>
          </a:xfrm>
          <a:prstGeom prst="rect">
            <a:avLst/>
          </a:prstGeom>
          <a:solidFill>
            <a:srgbClr val="FCF0E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5989320" y="3867912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Zarządzane warunkami konsumenckimi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270248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320040" y="4288536"/>
            <a:ext cx="2651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wycieku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08960" y="4270248"/>
            <a:ext cx="2743200" cy="393192"/>
          </a:xfrm>
          <a:prstGeom prst="rect">
            <a:avLst/>
          </a:prstGeom>
          <a:solidFill>
            <a:srgbClr val="D6F0E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3200400" y="4288536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 / kontrolowane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97880" y="4270248"/>
            <a:ext cx="3017520" cy="393192"/>
          </a:xfrm>
          <a:prstGeom prst="rect">
            <a:avLst/>
          </a:prstGeom>
          <a:solidFill>
            <a:srgbClr val="FDEAEA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5989320" y="4288536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Wysokie</a:t>
            </a: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E23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dane poza kontrolą Content AI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Shadow AI: pracownicy używający prywatnych kont claude.ai do pracy firmowej to większe ryzyko niż wdrożenie Content AI z kontrolowanym kluczem API.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I ZGODNOŚĆ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Porównanie z </a:t>
            </a: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innymi </a:t>
            </a:r>
            <a:r>
              <a:rPr lang="en-US" sz="2400" b="1" dirty="0" err="1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narzędziami</a:t>
            </a:r>
            <a:r>
              <a:rPr lang="pl-PL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011680" cy="34747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01752" y="14173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Kryterium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2103120" cy="34747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359152" y="1417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2103120" cy="34747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507992" y="1417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(wersja firmowa)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2331720" cy="347472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656832" y="141732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783080"/>
            <a:ext cx="2011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01752" y="18013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do trenowania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1783080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359152" y="18013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(API)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783080"/>
            <a:ext cx="2103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507992" y="18013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(Enterprise)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23317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6656832" y="180136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(Enterprise)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212848"/>
            <a:ext cx="201168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01752" y="2231136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Szyfrowanie transmisji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2212848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2359152" y="22311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2212848"/>
            <a:ext cx="21031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507992" y="223113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212848"/>
            <a:ext cx="23317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656832" y="223113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642616"/>
            <a:ext cx="2011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01752" y="266090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Przechowywanie danych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0" y="2642616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2359152" y="26609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Lokalnie w przeglądarce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2642616"/>
            <a:ext cx="2103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4507992" y="266090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Serwery OpenAI (USA)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2642616"/>
            <a:ext cx="23317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656832" y="2660904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Serwery MS (EU/USA)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072384"/>
            <a:ext cx="201168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01752" y="309067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osobowe w treści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0" y="3072384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2359152" y="30906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dotyczy*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34840" y="3072384"/>
            <a:ext cx="21031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4507992" y="309067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zależne od użycia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0" y="3072384"/>
            <a:ext cx="23317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6656832" y="309067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zależne od użycia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502152"/>
            <a:ext cx="2011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301752" y="35204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dostępu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86000" y="3502152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2359152" y="3520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 + klucz API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3502152"/>
            <a:ext cx="21031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4507992" y="352044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firmowy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3502152"/>
            <a:ext cx="233172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6656832" y="352044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AD/Azure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931920"/>
            <a:ext cx="201168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301752" y="39502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użycia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86000" y="3931920"/>
            <a:ext cx="2103120" cy="402336"/>
          </a:xfrm>
          <a:prstGeom prst="rect">
            <a:avLst/>
          </a:prstGeom>
          <a:solidFill>
            <a:srgbClr val="DBEAFE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/>
          <p:cNvSpPr/>
          <p:nvPr/>
        </p:nvSpPr>
        <p:spPr>
          <a:xfrm>
            <a:off x="2359152" y="39502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34840" y="3931920"/>
            <a:ext cx="21031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Text 56"/>
          <p:cNvSpPr/>
          <p:nvPr/>
        </p:nvSpPr>
        <p:spPr>
          <a:xfrm>
            <a:off x="4507992" y="39502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OpenAI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3931920"/>
            <a:ext cx="2331720" cy="402336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Text 58"/>
          <p:cNvSpPr/>
          <p:nvPr/>
        </p:nvSpPr>
        <p:spPr>
          <a:xfrm>
            <a:off x="6656832" y="3950208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Admin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28600" y="44165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Aplikacja generuje treści marketingowe - nie przetwarza danych osobowych klientów Content AI.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ma porównywalny lub niższy profil ryzyka niż narzędzia AI już zatwierdzone i używane w organizacji.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OCENA RYZYKA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797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Macierz ryzyk i środki kontroli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04501"/>
            <a:ext cx="2926080" cy="320040"/>
          </a:xfrm>
          <a:prstGeom prst="rect">
            <a:avLst/>
          </a:prstGeom>
          <a:solidFill>
            <a:srgbClr val="5A5850"/>
          </a:solidFill>
          <a:ln w="12700">
            <a:solidFill>
              <a:srgbClr val="5A58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01752" y="1204501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04501"/>
            <a:ext cx="1371600" cy="320040"/>
          </a:xfrm>
          <a:prstGeom prst="rect">
            <a:avLst/>
          </a:prstGeom>
          <a:solidFill>
            <a:srgbClr val="5A5850"/>
          </a:solidFill>
          <a:ln w="12700">
            <a:solidFill>
              <a:srgbClr val="5A58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73552" y="1204501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Prawdopodo-bieństwo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204501"/>
            <a:ext cx="1097280" cy="320040"/>
          </a:xfrm>
          <a:prstGeom prst="rect">
            <a:avLst/>
          </a:prstGeom>
          <a:solidFill>
            <a:srgbClr val="5A5850"/>
          </a:solidFill>
          <a:ln w="12700">
            <a:solidFill>
              <a:srgbClr val="5A58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690872" y="1204501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Wpływ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204501"/>
            <a:ext cx="3154680" cy="320040"/>
          </a:xfrm>
          <a:prstGeom prst="rect">
            <a:avLst/>
          </a:prstGeom>
          <a:solidFill>
            <a:srgbClr val="5A5850"/>
          </a:solidFill>
          <a:ln w="12700">
            <a:solidFill>
              <a:srgbClr val="5A58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833872" y="1204501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Środek kontroli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551973"/>
            <a:ext cx="29260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20040" y="158854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Wyciek klucza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1973"/>
            <a:ext cx="13258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200400" y="155197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551973"/>
            <a:ext cx="10972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617720" y="155197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55197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852160" y="158854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Limit kosztów + rotacja 90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146333"/>
            <a:ext cx="29260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20040" y="218290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Nieautoryzowany dostęp do pliku HTML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146333"/>
            <a:ext cx="13258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200400" y="214633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14633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5852160" y="218290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Azure Static Web Apps z dostępem w tenancie Content AI. W pilotażu plik przez Teams albo OneDrive wyłącznie do wskazanych osób.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740693"/>
            <a:ext cx="29260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20040" y="277726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firmowe w API Anthropic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740693"/>
            <a:ext cx="13258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3200400" y="274069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740693"/>
            <a:ext cx="10972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4617720" y="274069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274069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5852160" y="277726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Logi API usuwane po 7 dniach. Brak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trenowania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bezwyjątk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dla kont API. Transmisja TLS 1.3.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335053"/>
            <a:ext cx="29260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20040" y="337162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Utrata danych z localStorage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0" y="3335053"/>
            <a:ext cx="13258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3200400" y="333505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335053"/>
            <a:ext cx="10972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4617720" y="333505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60720" y="333505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5852160" y="337162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artykułów tylko pomocnicza. Eksport do .docx/.txt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.pdf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jako backup.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929413"/>
            <a:ext cx="29260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320040" y="396598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(pracownicy na prywatnych kontach)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3929413"/>
            <a:ext cx="13258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200400" y="392941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3929413"/>
            <a:ext cx="10972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4617720" y="392941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392941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5852160" y="396598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Wdrożenie Content AI eliminuje potrzebę korzystania z prywatnych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dane pod kontrolą firmy.</a:t>
            </a:r>
            <a:endParaRPr lang="en-US" sz="95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23B71A47-8CDC-C9D1-B16E-015B5B6EB1B6}"/>
              </a:ext>
            </a:extLst>
          </p:cNvPr>
          <p:cNvSpPr/>
          <p:nvPr/>
        </p:nvSpPr>
        <p:spPr>
          <a:xfrm>
            <a:off x="4617720" y="2146333"/>
            <a:ext cx="1097280" cy="530352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7C9E99E6-E1FA-2EBA-06B8-50B61A0293DF}"/>
              </a:ext>
            </a:extLst>
          </p:cNvPr>
          <p:cNvSpPr/>
          <p:nvPr/>
        </p:nvSpPr>
        <p:spPr>
          <a:xfrm>
            <a:off x="4617720" y="214633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ŚREDNIE</a:t>
            </a:r>
            <a:endParaRPr lang="en-US" sz="1000" dirty="0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2B9767E8-C770-8303-807B-CF5312A81B6B}"/>
              </a:ext>
            </a:extLst>
          </p:cNvPr>
          <p:cNvSpPr/>
          <p:nvPr/>
        </p:nvSpPr>
        <p:spPr>
          <a:xfrm>
            <a:off x="228600" y="4523773"/>
            <a:ext cx="29260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0" name="Text 52">
            <a:extLst>
              <a:ext uri="{FF2B5EF4-FFF2-40B4-BE49-F238E27FC236}">
                <a16:creationId xmlns:a16="http://schemas.microsoft.com/office/drawing/2014/main" id="{8460719F-42FD-5618-99F0-752A868D9135}"/>
              </a:ext>
            </a:extLst>
          </p:cNvPr>
          <p:cNvSpPr/>
          <p:nvPr/>
        </p:nvSpPr>
        <p:spPr>
          <a:xfrm>
            <a:off x="320040" y="456034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Wyciek klucza OpenAI API</a:t>
            </a:r>
            <a:endParaRPr lang="en-US" sz="1100" dirty="0"/>
          </a:p>
        </p:txBody>
      </p:sp>
      <p:sp>
        <p:nvSpPr>
          <p:cNvPr id="71" name="Shape 53">
            <a:extLst>
              <a:ext uri="{FF2B5EF4-FFF2-40B4-BE49-F238E27FC236}">
                <a16:creationId xmlns:a16="http://schemas.microsoft.com/office/drawing/2014/main" id="{D1E5AFB8-455C-21FC-ED43-41FB5DDB4602}"/>
              </a:ext>
            </a:extLst>
          </p:cNvPr>
          <p:cNvSpPr/>
          <p:nvPr/>
        </p:nvSpPr>
        <p:spPr>
          <a:xfrm>
            <a:off x="3200400" y="4523773"/>
            <a:ext cx="13258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2" name="Text 54">
            <a:extLst>
              <a:ext uri="{FF2B5EF4-FFF2-40B4-BE49-F238E27FC236}">
                <a16:creationId xmlns:a16="http://schemas.microsoft.com/office/drawing/2014/main" id="{3064A672-E888-DA21-377F-965552066061}"/>
              </a:ext>
            </a:extLst>
          </p:cNvPr>
          <p:cNvSpPr/>
          <p:nvPr/>
        </p:nvSpPr>
        <p:spPr>
          <a:xfrm>
            <a:off x="3200400" y="4523773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73" name="Shape 55">
            <a:extLst>
              <a:ext uri="{FF2B5EF4-FFF2-40B4-BE49-F238E27FC236}">
                <a16:creationId xmlns:a16="http://schemas.microsoft.com/office/drawing/2014/main" id="{738F2E94-FC4E-F2D5-DA22-D4AD94F840FE}"/>
              </a:ext>
            </a:extLst>
          </p:cNvPr>
          <p:cNvSpPr/>
          <p:nvPr/>
        </p:nvSpPr>
        <p:spPr>
          <a:xfrm>
            <a:off x="4617720" y="4523773"/>
            <a:ext cx="1097280" cy="530352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4" name="Text 56">
            <a:extLst>
              <a:ext uri="{FF2B5EF4-FFF2-40B4-BE49-F238E27FC236}">
                <a16:creationId xmlns:a16="http://schemas.microsoft.com/office/drawing/2014/main" id="{B08A8838-BC0C-1A9D-E074-CD9A36678666}"/>
              </a:ext>
            </a:extLst>
          </p:cNvPr>
          <p:cNvSpPr/>
          <p:nvPr/>
        </p:nvSpPr>
        <p:spPr>
          <a:xfrm>
            <a:off x="4617720" y="4523773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NISKIE</a:t>
            </a:r>
            <a:endParaRPr lang="en-US" sz="1000" dirty="0"/>
          </a:p>
        </p:txBody>
      </p:sp>
      <p:sp>
        <p:nvSpPr>
          <p:cNvPr id="75" name="Shape 57">
            <a:extLst>
              <a:ext uri="{FF2B5EF4-FFF2-40B4-BE49-F238E27FC236}">
                <a16:creationId xmlns:a16="http://schemas.microsoft.com/office/drawing/2014/main" id="{B9056425-47DE-A2EB-233E-4DB98F9F9DD9}"/>
              </a:ext>
            </a:extLst>
          </p:cNvPr>
          <p:cNvSpPr/>
          <p:nvPr/>
        </p:nvSpPr>
        <p:spPr>
          <a:xfrm>
            <a:off x="5760720" y="4523773"/>
            <a:ext cx="3154680" cy="530352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6" name="Text 58">
            <a:extLst>
              <a:ext uri="{FF2B5EF4-FFF2-40B4-BE49-F238E27FC236}">
                <a16:creationId xmlns:a16="http://schemas.microsoft.com/office/drawing/2014/main" id="{29F64D49-919A-2647-C5A0-E3021690542A}"/>
              </a:ext>
            </a:extLst>
          </p:cNvPr>
          <p:cNvSpPr/>
          <p:nvPr/>
        </p:nvSpPr>
        <p:spPr>
          <a:xfrm>
            <a:off x="5852160" y="4560349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Limit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wydatk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 w OpenAI Console + rotacja klucza 90 dni. Klucz dla grafik oddzielny od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klucza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REKOMENDACJE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Warunki wdrożenia produkcyjnego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44752"/>
            <a:ext cx="4251960" cy="1051560"/>
          </a:xfrm>
          <a:prstGeom prst="rect">
            <a:avLst/>
          </a:prstGeom>
          <a:solidFill>
            <a:srgbClr val="2A1800"/>
          </a:solidFill>
          <a:ln w="7620">
            <a:solidFill>
              <a:srgbClr val="FCD34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38328" y="155448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3832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firmowe Anthropic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1856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Organizacja w console.anthropic.com z firmową kartą płatniczą. Klucz na koncie organizacji, nie prywatnym.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1444752"/>
            <a:ext cx="4251960" cy="1051560"/>
          </a:xfrm>
          <a:prstGeom prst="rect">
            <a:avLst/>
          </a:prstGeom>
          <a:solidFill>
            <a:srgbClr val="2A1800"/>
          </a:solidFill>
          <a:ln w="7620">
            <a:solidFill>
              <a:srgbClr val="FCD34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4648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Azure lub udostępnienie pliku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9872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00600" y="1856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przygotowuje osobny plik HTML per użytkownik z jego kluczem API już wbudowanym. Użytkownik tylko otwiera plik - zero konfiguracji. NIE publicznie.</a:t>
            </a:r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4251960" cy="1051560"/>
          </a:xfrm>
          <a:prstGeom prst="rect">
            <a:avLst/>
          </a:prstGeom>
          <a:solidFill>
            <a:srgbClr val="2A1800"/>
          </a:solidFill>
          <a:ln w="7620">
            <a:solidFill>
              <a:srgbClr val="FCD34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38328" y="2724912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38328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kosztów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706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" y="30266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Miesięczny hard limit $100 na koncie Anthropic + alert e-mail przy 80% wykorzystania.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615184"/>
            <a:ext cx="4251960" cy="1051560"/>
          </a:xfrm>
          <a:prstGeom prst="rect">
            <a:avLst/>
          </a:prstGeom>
          <a:solidFill>
            <a:srgbClr val="1A2A1A"/>
          </a:solidFill>
          <a:ln w="762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800600" y="2724912"/>
            <a:ext cx="274320" cy="274320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80060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84648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Zarządzanie kluczami przez admina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19872" y="2706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EC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30266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zarządza kluczami per osoba z console.anthropic.com</a:t>
            </a:r>
            <a:r>
              <a:rPr lang="pl-PL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 platform.openai.com</a:t>
            </a: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Dezaktywacja w 1 klik przy odejściu pracownika. Rotacja co 90 dni.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785616"/>
            <a:ext cx="4251960" cy="1051560"/>
          </a:xfrm>
          <a:prstGeom prst="rect">
            <a:avLst/>
          </a:prstGeom>
          <a:solidFill>
            <a:srgbClr val="1A2A1A"/>
          </a:solidFill>
          <a:ln w="762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338328" y="3895344"/>
            <a:ext cx="274320" cy="274320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3832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Polityka użytkowania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8770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EC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8328" y="41970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Zakaz wrzucania do bazy wiedzy dokumentów zawierających dane osobowe klientów Content AI.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90872" y="3785616"/>
            <a:ext cx="4251960" cy="1051560"/>
          </a:xfrm>
          <a:prstGeom prst="rect">
            <a:avLst/>
          </a:prstGeom>
          <a:solidFill>
            <a:srgbClr val="1A2A1A"/>
          </a:solidFill>
          <a:ln w="762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4800600" y="3895344"/>
            <a:ext cx="274320" cy="274320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80060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84648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Opcja B: klucze per osoba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9872" y="38770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EC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ZALECANE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41970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 miarę wzrostu liczby </a:t>
            </a:r>
            <a:r>
              <a:rPr lang="en-US" sz="10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użytkowników</a:t>
            </a: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- </a:t>
            </a:r>
            <a:r>
              <a:rPr lang="en-US" sz="10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</a:t>
            </a: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osoba z własnym kluczem API dla pełnej audytowalności.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/>
        </p:spPr>
        <p:txBody>
          <a:bodyPr wrap="square" lIns="0" tIns="0" rIns="0" bIns="0" rtlCol="0" anchor="ctr"/>
          <a:lstStyle/>
          <a:p>
            <a:endParaRPr lang="pl-PL"/>
          </a:p>
        </p:txBody>
      </p:sp>
      <p:sp>
        <p:nvSpPr>
          <p:cNvPr id="3" name="section"/>
          <p:cNvSpPr/>
          <p:nvPr/>
        </p:nvSpPr>
        <p:spPr>
          <a:xfrm>
            <a:off x="320040" y="73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OCHRONA KODU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Obfuskacja JS i trzy poziomy dystrybucji</a:t>
            </a:r>
            <a:endParaRPr lang="en-US" sz="2600" dirty="0"/>
          </a:p>
        </p:txBody>
      </p:sp>
      <p:sp>
        <p:nvSpPr>
          <p:cNvPr id="5" name="card_bg"/>
          <p:cNvSpPr/>
          <p:nvPr/>
        </p:nvSpPr>
        <p:spPr>
          <a:xfrm>
            <a:off x="182040" y="1453896"/>
            <a:ext cx="2743200" cy="1920240"/>
          </a:xfrm>
          <a:prstGeom prst="rect">
            <a:avLst/>
          </a:prstGeom>
          <a:solidFill>
            <a:srgbClr val="DBEAFE"/>
          </a:solidFill>
          <a:ln w="8890">
            <a:solidFill>
              <a:srgbClr val="93C5FD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icon"/>
          <p:cNvSpPr/>
          <p:nvPr/>
        </p:nvSpPr>
        <p:spPr>
          <a:xfrm>
            <a:off x="18204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2400" dirty="0"/>
          </a:p>
        </p:txBody>
      </p:sp>
      <p:sp>
        <p:nvSpPr>
          <p:cNvPr id="7" name="card_hdr"/>
          <p:cNvSpPr/>
          <p:nvPr/>
        </p:nvSpPr>
        <p:spPr>
          <a:xfrm>
            <a:off x="273480" y="20025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200" dirty="0"/>
          </a:p>
        </p:txBody>
      </p:sp>
      <p:sp>
        <p:nvSpPr>
          <p:cNvPr id="8" name="card_sub"/>
          <p:cNvSpPr/>
          <p:nvPr/>
        </p:nvSpPr>
        <p:spPr>
          <a:xfrm>
            <a:off x="273480" y="23682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Czytelny kod źródłowy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API widoczny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dla admina</a:t>
            </a:r>
            <a:endParaRPr lang="en-US" sz="900" dirty="0"/>
          </a:p>
        </p:txBody>
      </p:sp>
      <p:sp>
        <p:nvSpPr>
          <p:cNvPr id="9" name="tag_bg"/>
          <p:cNvSpPr/>
          <p:nvPr/>
        </p:nvSpPr>
        <p:spPr>
          <a:xfrm>
            <a:off x="867840" y="3008376"/>
            <a:ext cx="1371600" cy="228600"/>
          </a:xfrm>
          <a:prstGeom prst="roundRect">
            <a:avLst>
              <a:gd name="adj" fmla="val 25000"/>
            </a:avLst>
          </a:prstGeom>
          <a:solidFill>
            <a:srgbClr val="1E4D8C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TYLKO ADMIN</a:t>
            </a:r>
          </a:p>
        </p:txBody>
      </p:sp>
      <p:sp>
        <p:nvSpPr>
          <p:cNvPr id="10" name="card_bg"/>
          <p:cNvSpPr/>
          <p:nvPr/>
        </p:nvSpPr>
        <p:spPr>
          <a:xfrm>
            <a:off x="3200400" y="1453896"/>
            <a:ext cx="2743200" cy="1920240"/>
          </a:xfrm>
          <a:prstGeom prst="rect">
            <a:avLst/>
          </a:prstGeom>
          <a:solidFill>
            <a:srgbClr val="FEF3C7"/>
          </a:solidFill>
          <a:ln w="8890">
            <a:solidFill>
              <a:srgbClr val="FCD34D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icon"/>
          <p:cNvSpPr/>
          <p:nvPr/>
        </p:nvSpPr>
        <p:spPr>
          <a:xfrm>
            <a:off x="320040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12" name="card_hdr"/>
          <p:cNvSpPr/>
          <p:nvPr/>
        </p:nvSpPr>
        <p:spPr>
          <a:xfrm>
            <a:off x="3291840" y="20025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200" dirty="0"/>
          </a:p>
        </p:txBody>
      </p:sp>
      <p:sp>
        <p:nvSpPr>
          <p:cNvPr id="13" name="card_sub"/>
          <p:cNvSpPr/>
          <p:nvPr/>
        </p:nvSpPr>
        <p:spPr>
          <a:xfrm>
            <a:off x="3291840" y="23682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obfuskowany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zabezpieczony w kodzie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Dystrybucja przez Teams</a:t>
            </a:r>
            <a:endParaRPr lang="en-US" sz="900" dirty="0"/>
          </a:p>
        </p:txBody>
      </p:sp>
      <p:sp>
        <p:nvSpPr>
          <p:cNvPr id="14" name="tag_bg"/>
          <p:cNvSpPr/>
          <p:nvPr/>
        </p:nvSpPr>
        <p:spPr>
          <a:xfrm>
            <a:off x="3886200" y="3008376"/>
            <a:ext cx="1371600" cy="2286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UŻYTKOWNICY Content AI</a:t>
            </a:r>
          </a:p>
        </p:txBody>
      </p:sp>
      <p:sp>
        <p:nvSpPr>
          <p:cNvPr id="15" name="card_bg"/>
          <p:cNvSpPr/>
          <p:nvPr/>
        </p:nvSpPr>
        <p:spPr>
          <a:xfrm>
            <a:off x="6218760" y="1453896"/>
            <a:ext cx="2743200" cy="1920240"/>
          </a:xfrm>
          <a:prstGeom prst="rect">
            <a:avLst/>
          </a:prstGeom>
          <a:solidFill>
            <a:srgbClr val="D6F0E0"/>
          </a:solidFill>
          <a:ln w="8890">
            <a:solidFill>
              <a:srgbClr val="7ECBA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icon"/>
          <p:cNvSpPr/>
          <p:nvPr/>
        </p:nvSpPr>
        <p:spPr>
          <a:xfrm>
            <a:off x="621876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400" dirty="0"/>
          </a:p>
        </p:txBody>
      </p:sp>
      <p:sp>
        <p:nvSpPr>
          <p:cNvPr id="17" name="card_hdr"/>
          <p:cNvSpPr/>
          <p:nvPr/>
        </p:nvSpPr>
        <p:spPr>
          <a:xfrm>
            <a:off x="6310200" y="20025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18" name="card_sub"/>
          <p:cNvSpPr/>
          <p:nvPr/>
        </p:nvSpPr>
        <p:spPr>
          <a:xfrm>
            <a:off x="6310200" y="23682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klucza w pliku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na serwerze Cloudflare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Opcja zaawansowana</a:t>
            </a:r>
            <a:endParaRPr lang="en-US" sz="900" dirty="0"/>
          </a:p>
        </p:txBody>
      </p:sp>
      <p:sp>
        <p:nvSpPr>
          <p:cNvPr id="19" name="tag_bg"/>
          <p:cNvSpPr/>
          <p:nvPr/>
        </p:nvSpPr>
        <p:spPr>
          <a:xfrm>
            <a:off x="6904560" y="3008376"/>
            <a:ext cx="1371600" cy="228600"/>
          </a:xfrm>
          <a:prstGeom prst="roundRect">
            <a:avLst>
              <a:gd name="adj" fmla="val 25000"/>
            </a:avLst>
          </a:prstGeom>
          <a:solidFill>
            <a:srgbClr val="1E7A4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OPCJA ZAAWANSOWANA</a:t>
            </a:r>
          </a:p>
        </p:txBody>
      </p:sp>
      <p:sp>
        <p:nvSpPr>
          <p:cNvPr id="20" name="dot"/>
          <p:cNvSpPr/>
          <p:nvPr/>
        </p:nvSpPr>
        <p:spPr>
          <a:xfrm>
            <a:off x="319200" y="3767328"/>
            <a:ext cx="146304" cy="146304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btxt"/>
          <p:cNvSpPr/>
          <p:nvPr/>
        </p:nvSpPr>
        <p:spPr>
          <a:xfrm>
            <a:off x="566088" y="3730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Obfuskator JS konwertuje czytelny kod w nieczytelny zapis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szesnastkowy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wyciągnięcie klucza wymaga zaawansowanej inżynierii wstecznej</a:t>
            </a:r>
          </a:p>
        </p:txBody>
      </p:sp>
      <p:sp>
        <p:nvSpPr>
          <p:cNvPr id="22" name="dot"/>
          <p:cNvSpPr/>
          <p:nvPr/>
        </p:nvSpPr>
        <p:spPr>
          <a:xfrm>
            <a:off x="319200" y="413308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btxt"/>
          <p:cNvSpPr/>
          <p:nvPr/>
        </p:nvSpPr>
        <p:spPr>
          <a:xfrm>
            <a:off x="566088" y="40965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 (build.py) automatycznie generuje wszystkie 3 wersje z jednego pliku źródłowego jedną komendą</a:t>
            </a:r>
          </a:p>
        </p:txBody>
      </p:sp>
      <p:sp>
        <p:nvSpPr>
          <p:cNvPr id="24" name="dot"/>
          <p:cNvSpPr/>
          <p:nvPr/>
        </p:nvSpPr>
        <p:spPr>
          <a:xfrm>
            <a:off x="319200" y="4498848"/>
            <a:ext cx="146304" cy="146304"/>
          </a:xfrm>
          <a:prstGeom prst="ellipse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btxt"/>
          <p:cNvSpPr/>
          <p:nvPr/>
        </p:nvSpPr>
        <p:spPr>
          <a:xfrm>
            <a:off x="566088" y="44622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Wersja PROXY 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klucz nigdy nie opuszcza serwera Cloudflare Worker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p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HTML można udostępniać bez ryzyka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wycieku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klucza</a:t>
            </a:r>
            <a:endParaRPr lang="en-US" sz="1200" dirty="0">
              <a:solidFill>
                <a:srgbClr val="1A191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ec"/>
          <p:cNvSpPr/>
          <p:nvPr/>
        </p:nvSpPr>
        <p:spPr>
          <a:xfrm>
            <a:off x="320040" y="73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 DOSTĘPU</a:t>
            </a:r>
            <a:endParaRPr lang="en-US" sz="1100" dirty="0"/>
          </a:p>
        </p:txBody>
      </p:sp>
      <p:sp>
        <p:nvSpPr>
          <p:cNvPr id="4" name="ttl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Device fingerprint i watermark użytkownika</a:t>
            </a:r>
            <a:endParaRPr lang="en-US" sz="2400" dirty="0"/>
          </a:p>
        </p:txBody>
      </p:sp>
      <p:sp>
        <p:nvSpPr>
          <p:cNvPr id="100" name="lhdr"/>
          <p:cNvSpPr/>
          <p:nvPr/>
        </p:nvSpPr>
        <p:spPr>
          <a:xfrm>
            <a:off x="173880" y="1462248"/>
            <a:ext cx="434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🔐  Device Fingerprint </a:t>
            </a:r>
            <a:r>
              <a:rPr lang="pl-PL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blokada urządzenia</a:t>
            </a:r>
            <a:endParaRPr lang="en-US" sz="1200" dirty="0"/>
          </a:p>
        </p:txBody>
      </p:sp>
      <p:sp>
        <p:nvSpPr>
          <p:cNvPr id="10" name="sb"/>
          <p:cNvSpPr/>
          <p:nvPr/>
        </p:nvSpPr>
        <p:spPr>
          <a:xfrm>
            <a:off x="173880" y="1824140"/>
            <a:ext cx="4343040" cy="349096"/>
          </a:xfrm>
          <a:prstGeom prst="rect">
            <a:avLst/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num"/>
          <p:cNvSpPr/>
          <p:nvPr/>
        </p:nvSpPr>
        <p:spPr>
          <a:xfrm>
            <a:off x="247032" y="19211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stxt"/>
          <p:cNvSpPr/>
          <p:nvPr/>
        </p:nvSpPr>
        <p:spPr>
          <a:xfrm>
            <a:off x="539640" y="1912020"/>
            <a:ext cx="392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Pierwsze uruchomienie → fingerprint</a:t>
            </a:r>
            <a:r>
              <a:rPr lang="pl-PL" sz="1000" dirty="0"/>
              <a:t xml:space="preserve"> </a:t>
            </a:r>
            <a:r>
              <a:rPr lang="en-US" sz="10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zbierany</a:t>
            </a: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 zapisywany w localStorage</a:t>
            </a:r>
            <a:endParaRPr lang="en-US" sz="1000" dirty="0"/>
          </a:p>
        </p:txBody>
      </p:sp>
      <p:sp>
        <p:nvSpPr>
          <p:cNvPr id="13" name="sb"/>
          <p:cNvSpPr/>
          <p:nvPr/>
        </p:nvSpPr>
        <p:spPr>
          <a:xfrm>
            <a:off x="173880" y="2203115"/>
            <a:ext cx="4343040" cy="256032"/>
          </a:xfrm>
          <a:prstGeom prst="rect">
            <a:avLst/>
          </a:prstGeom>
          <a:solidFill>
            <a:srgbClr val="F0FDF4"/>
          </a:solidFill>
          <a:ln w="889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num"/>
          <p:cNvSpPr/>
          <p:nvPr/>
        </p:nvSpPr>
        <p:spPr>
          <a:xfrm>
            <a:off x="247032" y="2248835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CB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stxt"/>
          <p:cNvSpPr/>
          <p:nvPr/>
        </p:nvSpPr>
        <p:spPr>
          <a:xfrm>
            <a:off x="539640" y="2239691"/>
            <a:ext cx="392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Każde kolejne </a:t>
            </a:r>
            <a:r>
              <a:rPr lang="en-US" sz="10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uruchomienie</a:t>
            </a: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→</a:t>
            </a:r>
            <a:r>
              <a:rPr lang="pl-PL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porównywany z zapisanym</a:t>
            </a:r>
            <a:endParaRPr lang="en-US" sz="1000" dirty="0"/>
          </a:p>
        </p:txBody>
      </p:sp>
      <p:sp>
        <p:nvSpPr>
          <p:cNvPr id="16" name="sb"/>
          <p:cNvSpPr/>
          <p:nvPr/>
        </p:nvSpPr>
        <p:spPr>
          <a:xfrm>
            <a:off x="173880" y="2486075"/>
            <a:ext cx="4343040" cy="256032"/>
          </a:xfrm>
          <a:prstGeom prst="rect">
            <a:avLst/>
          </a:prstGeom>
          <a:solidFill>
            <a:srgbClr val="FEF2F2"/>
          </a:solidFill>
          <a:ln w="889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num"/>
          <p:cNvSpPr/>
          <p:nvPr/>
        </p:nvSpPr>
        <p:spPr>
          <a:xfrm>
            <a:off x="247032" y="2531795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stxt"/>
          <p:cNvSpPr/>
          <p:nvPr/>
        </p:nvSpPr>
        <p:spPr>
          <a:xfrm>
            <a:off x="539640" y="2522651"/>
            <a:ext cx="392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Niezgodność → modal </a:t>
            </a:r>
            <a:r>
              <a:rPr lang="en-US" sz="10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blokady,generowanie</a:t>
            </a: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niemożliwe</a:t>
            </a:r>
            <a:endParaRPr lang="en-US" sz="1000" dirty="0"/>
          </a:p>
        </p:txBody>
      </p:sp>
      <p:sp>
        <p:nvSpPr>
          <p:cNvPr id="19" name="fn"/>
          <p:cNvSpPr/>
          <p:nvPr/>
        </p:nvSpPr>
        <p:spPr>
          <a:xfrm>
            <a:off x="173880" y="2769035"/>
            <a:ext cx="434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Fingerprint: user agent · rozdzielczość · strefa czasowa · canvas hash</a:t>
            </a:r>
            <a:endParaRPr lang="en-US" sz="900" dirty="0"/>
          </a:p>
        </p:txBody>
      </p:sp>
      <p:sp>
        <p:nvSpPr>
          <p:cNvPr id="20" name="fn2"/>
          <p:cNvSpPr/>
          <p:nvPr/>
        </p:nvSpPr>
        <p:spPr>
          <a:xfrm>
            <a:off x="173880" y="2952035"/>
            <a:ext cx="434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Plik wysłany mailem → blokada przy otwarciu z nowej ścieżki na dysku</a:t>
            </a:r>
            <a:endParaRPr lang="en-US" sz="900" dirty="0"/>
          </a:p>
        </p:txBody>
      </p:sp>
      <p:sp>
        <p:nvSpPr>
          <p:cNvPr id="101" name="rhdr"/>
          <p:cNvSpPr/>
          <p:nvPr/>
        </p:nvSpPr>
        <p:spPr>
          <a:xfrm>
            <a:off x="4609200" y="1462248"/>
            <a:ext cx="434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🏷️  User Watermark </a:t>
            </a:r>
            <a:r>
              <a:rPr lang="pl-PL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identyfikacja w logach</a:t>
            </a:r>
            <a:endParaRPr lang="en-US" sz="1200" dirty="0"/>
          </a:p>
        </p:txBody>
      </p:sp>
      <p:sp>
        <p:nvSpPr>
          <p:cNvPr id="30" name="ib"/>
          <p:cNvSpPr/>
          <p:nvPr/>
        </p:nvSpPr>
        <p:spPr>
          <a:xfrm>
            <a:off x="4609200" y="1824140"/>
            <a:ext cx="2125800" cy="1132560"/>
          </a:xfrm>
          <a:prstGeom prst="rect">
            <a:avLst/>
          </a:prstGeom>
          <a:solidFill>
            <a:srgbClr val="EFF6FF"/>
          </a:solidFill>
          <a:ln w="889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ico"/>
          <p:cNvSpPr/>
          <p:nvPr/>
        </p:nvSpPr>
        <p:spPr>
          <a:xfrm>
            <a:off x="4609200" y="1897292"/>
            <a:ext cx="212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32" name="hdr"/>
          <p:cNvSpPr/>
          <p:nvPr/>
        </p:nvSpPr>
        <p:spPr>
          <a:xfrm>
            <a:off x="4682352" y="2217332"/>
            <a:ext cx="197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w pliku</a:t>
            </a:r>
            <a:endParaRPr lang="en-US" sz="1100" dirty="0"/>
          </a:p>
        </p:txBody>
      </p:sp>
      <p:sp>
        <p:nvSpPr>
          <p:cNvPr id="33" name="bdy"/>
          <p:cNvSpPr/>
          <p:nvPr/>
        </p:nvSpPr>
        <p:spPr>
          <a:xfrm>
            <a:off x="4682352" y="2445932"/>
            <a:ext cx="1979496" cy="4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USER_LABEL = 'u-2207'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wbudowany w plik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przed dystrybucją</a:t>
            </a:r>
            <a:endParaRPr lang="en-US" sz="950" dirty="0"/>
          </a:p>
        </p:txBody>
      </p:sp>
      <p:sp>
        <p:nvSpPr>
          <p:cNvPr id="34" name="ib"/>
          <p:cNvSpPr/>
          <p:nvPr/>
        </p:nvSpPr>
        <p:spPr>
          <a:xfrm>
            <a:off x="6826440" y="1824140"/>
            <a:ext cx="2125800" cy="1132560"/>
          </a:xfrm>
          <a:prstGeom prst="rect">
            <a:avLst/>
          </a:prstGeom>
          <a:solidFill>
            <a:srgbClr val="FEF3C7"/>
          </a:solidFill>
          <a:ln w="889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ico"/>
          <p:cNvSpPr/>
          <p:nvPr/>
        </p:nvSpPr>
        <p:spPr>
          <a:xfrm>
            <a:off x="6826440" y="1897292"/>
            <a:ext cx="212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36" name="hdr"/>
          <p:cNvSpPr/>
          <p:nvPr/>
        </p:nvSpPr>
        <p:spPr>
          <a:xfrm>
            <a:off x="6899592" y="2217332"/>
            <a:ext cx="197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logach Anthropic</a:t>
            </a:r>
            <a:endParaRPr lang="en-US" sz="1100" dirty="0"/>
          </a:p>
        </p:txBody>
      </p:sp>
      <p:sp>
        <p:nvSpPr>
          <p:cNvPr id="37" name="bdy"/>
          <p:cNvSpPr/>
          <p:nvPr/>
        </p:nvSpPr>
        <p:spPr>
          <a:xfrm>
            <a:off x="6899592" y="2445932"/>
            <a:ext cx="1979496" cy="4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Każde zapytanie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zawiera imię użytkownika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widoczne w konsoli admina</a:t>
            </a:r>
            <a:endParaRPr lang="en-US" sz="950" dirty="0"/>
          </a:p>
        </p:txBody>
      </p:sp>
      <p:sp>
        <p:nvSpPr>
          <p:cNvPr id="40" name="dot"/>
          <p:cNvSpPr/>
          <p:nvPr/>
        </p:nvSpPr>
        <p:spPr>
          <a:xfrm>
            <a:off x="173880" y="3427637"/>
            <a:ext cx="146304" cy="146304"/>
          </a:xfrm>
          <a:prstGeom prst="ellipse">
            <a:avLst/>
          </a:prstGeom>
          <a:solidFill>
            <a:srgbClr val="E23244"/>
          </a:solidFill>
          <a:ln w="12700">
            <a:solidFill>
              <a:srgbClr val="E23244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41" name="bt"/>
          <p:cNvSpPr/>
          <p:nvPr/>
        </p:nvSpPr>
        <p:spPr>
          <a:xfrm>
            <a:off x="420768" y="3391061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Fingerprint blokuje plik na obcym </a:t>
            </a:r>
            <a:r>
              <a:rPr lang="en-US" sz="1200" dirty="0" err="1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urządzeniu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pl-PL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watermark ujawnia kto go udostępnił</a:t>
            </a:r>
          </a:p>
        </p:txBody>
      </p:sp>
      <p:sp>
        <p:nvSpPr>
          <p:cNvPr id="42" name="dot"/>
          <p:cNvSpPr/>
          <p:nvPr/>
        </p:nvSpPr>
        <p:spPr>
          <a:xfrm>
            <a:off x="173880" y="3702677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43" name="bt"/>
          <p:cNvSpPr/>
          <p:nvPr/>
        </p:nvSpPr>
        <p:spPr>
          <a:xfrm>
            <a:off x="420768" y="3666101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Dezaktywacja klucza w konsoli Anthropic natychmiast uniemożliwia korzystanie ze wszystkich plików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/>
        </p:spPr>
        <p:txBody>
          <a:bodyPr wrap="square" lIns="0" tIns="0" rIns="0" bIns="0" rtlCol="0" anchor="ctr"/>
          <a:lstStyle/>
          <a:p>
            <a:endParaRPr lang="pl-PL"/>
          </a:p>
        </p:txBody>
      </p:sp>
      <p:sp>
        <p:nvSpPr>
          <p:cNvPr id="3" name="section"/>
          <p:cNvSpPr/>
          <p:nvPr/>
        </p:nvSpPr>
        <p:spPr>
          <a:xfrm>
            <a:off x="320040" y="73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</a:t>
            </a:r>
            <a:endParaRPr lang="en-US" sz="1100" dirty="0"/>
          </a:p>
        </p:txBody>
      </p:sp>
      <p:sp>
        <p:nvSpPr>
          <p:cNvPr id="4" name="title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Warstwy ochrony Content AI</a:t>
            </a:r>
            <a:endParaRPr lang="en-US" sz="2600" dirty="0"/>
          </a:p>
        </p:txBody>
      </p:sp>
      <p:sp>
        <p:nvSpPr>
          <p:cNvPr id="10" name="chdr"/>
          <p:cNvSpPr/>
          <p:nvPr/>
        </p:nvSpPr>
        <p:spPr>
          <a:xfrm>
            <a:off x="228600" y="1453896"/>
            <a:ext cx="1828800" cy="274638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txBody>
          <a:bodyPr wrap="square" lIns="114300" tIns="45720" rIns="11430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Warstwa ochrony</a:t>
            </a:r>
          </a:p>
        </p:txBody>
      </p:sp>
      <p:sp>
        <p:nvSpPr>
          <p:cNvPr id="11" name="chdr"/>
          <p:cNvSpPr/>
          <p:nvPr/>
        </p:nvSpPr>
        <p:spPr>
          <a:xfrm>
            <a:off x="2560080" y="1453896"/>
            <a:ext cx="3200400" cy="274638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txBody>
          <a:bodyPr wrap="square" lIns="114300" tIns="45720" rIns="11430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Mechanizm</a:t>
            </a:r>
          </a:p>
        </p:txBody>
      </p:sp>
      <p:sp>
        <p:nvSpPr>
          <p:cNvPr id="12" name="chdr"/>
          <p:cNvSpPr/>
          <p:nvPr/>
        </p:nvSpPr>
        <p:spPr>
          <a:xfrm>
            <a:off x="5806080" y="1453896"/>
            <a:ext cx="3018960" cy="274638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txBody>
          <a:bodyPr wrap="square" lIns="114300" tIns="45720" rIns="11430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chroni</a:t>
            </a:r>
          </a:p>
        </p:txBody>
      </p:sp>
      <p:sp>
        <p:nvSpPr>
          <p:cNvPr id="20" name="lr_bg"/>
          <p:cNvSpPr/>
          <p:nvPr/>
        </p:nvSpPr>
        <p:spPr>
          <a:xfrm>
            <a:off x="228600" y="1783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icon"/>
          <p:cNvSpPr/>
          <p:nvPr/>
        </p:nvSpPr>
        <p:spPr>
          <a:xfrm>
            <a:off x="320040" y="1783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600" dirty="0"/>
          </a:p>
        </p:txBody>
      </p:sp>
      <p:sp>
        <p:nvSpPr>
          <p:cNvPr id="22" name="lbl"/>
          <p:cNvSpPr/>
          <p:nvPr/>
        </p:nvSpPr>
        <p:spPr>
          <a:xfrm>
            <a:off x="685800" y="1856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Obfuskacja JS</a:t>
            </a:r>
            <a:endParaRPr lang="en-US" sz="1050" dirty="0"/>
          </a:p>
        </p:txBody>
      </p:sp>
      <p:sp>
        <p:nvSpPr>
          <p:cNvPr id="23" name="mech"/>
          <p:cNvSpPr/>
          <p:nvPr/>
        </p:nvSpPr>
        <p:spPr>
          <a:xfrm>
            <a:off x="2560080" y="185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nieczytelny, stringi kodowane, build.py automatyzuje</a:t>
            </a:r>
            <a:endParaRPr lang="en-US" sz="1000" dirty="0"/>
          </a:p>
        </p:txBody>
      </p:sp>
      <p:sp>
        <p:nvSpPr>
          <p:cNvPr id="24" name="eff"/>
          <p:cNvSpPr/>
          <p:nvPr/>
        </p:nvSpPr>
        <p:spPr>
          <a:xfrm>
            <a:off x="5806080" y="1856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Utrudnia wyciągnięcie klucza API z pliku HTML</a:t>
            </a:r>
            <a:endParaRPr lang="en-US" sz="1000" dirty="0"/>
          </a:p>
        </p:txBody>
      </p:sp>
      <p:sp>
        <p:nvSpPr>
          <p:cNvPr id="25" name="lr_bg"/>
          <p:cNvSpPr/>
          <p:nvPr/>
        </p:nvSpPr>
        <p:spPr>
          <a:xfrm>
            <a:off x="228600" y="2185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icon"/>
          <p:cNvSpPr/>
          <p:nvPr/>
        </p:nvSpPr>
        <p:spPr>
          <a:xfrm>
            <a:off x="320040" y="2185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00" dirty="0"/>
          </a:p>
        </p:txBody>
      </p:sp>
      <p:sp>
        <p:nvSpPr>
          <p:cNvPr id="27" name="lbl"/>
          <p:cNvSpPr/>
          <p:nvPr/>
        </p:nvSpPr>
        <p:spPr>
          <a:xfrm>
            <a:off x="685800" y="2258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limit</a:t>
            </a:r>
            <a:endParaRPr lang="en-US" sz="1050" dirty="0"/>
          </a:p>
        </p:txBody>
      </p:sp>
      <p:sp>
        <p:nvSpPr>
          <p:cNvPr id="28" name="mech"/>
          <p:cNvSpPr/>
          <p:nvPr/>
        </p:nvSpPr>
        <p:spPr>
          <a:xfrm>
            <a:off x="2560080" y="2258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limit $ w Anthropic Console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 </a:t>
            </a:r>
            <a:r>
              <a:rPr lang="pl-PL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Platform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+ alert e-mail 80%</a:t>
            </a:r>
            <a:endParaRPr lang="en-US" sz="1000" dirty="0"/>
          </a:p>
        </p:txBody>
      </p:sp>
      <p:sp>
        <p:nvSpPr>
          <p:cNvPr id="29" name="eff"/>
          <p:cNvSpPr/>
          <p:nvPr/>
        </p:nvSpPr>
        <p:spPr>
          <a:xfrm>
            <a:off x="5806080" y="2258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Ogranicza koszt nawet przy wycieku klucza do zewnątrz</a:t>
            </a:r>
            <a:endParaRPr lang="en-US" sz="1000" dirty="0"/>
          </a:p>
        </p:txBody>
      </p:sp>
      <p:sp>
        <p:nvSpPr>
          <p:cNvPr id="30" name="lr_bg"/>
          <p:cNvSpPr/>
          <p:nvPr/>
        </p:nvSpPr>
        <p:spPr>
          <a:xfrm>
            <a:off x="228600" y="2587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icon"/>
          <p:cNvSpPr/>
          <p:nvPr/>
        </p:nvSpPr>
        <p:spPr>
          <a:xfrm>
            <a:off x="320040" y="2587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600" dirty="0"/>
          </a:p>
        </p:txBody>
      </p:sp>
      <p:sp>
        <p:nvSpPr>
          <p:cNvPr id="32" name="lbl"/>
          <p:cNvSpPr/>
          <p:nvPr/>
        </p:nvSpPr>
        <p:spPr>
          <a:xfrm>
            <a:off x="685800" y="2660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fingerprint</a:t>
            </a:r>
            <a:endParaRPr lang="en-US" sz="1050" dirty="0"/>
          </a:p>
        </p:txBody>
      </p:sp>
      <p:sp>
        <p:nvSpPr>
          <p:cNvPr id="33" name="mech"/>
          <p:cNvSpPr/>
          <p:nvPr/>
        </p:nvSpPr>
        <p:spPr>
          <a:xfrm>
            <a:off x="2560080" y="2660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Canvas+UA+TZ hash w localStorage, blokada przy niezgodności</a:t>
            </a:r>
            <a:endParaRPr lang="en-US" sz="1000" dirty="0"/>
          </a:p>
        </p:txBody>
      </p:sp>
      <p:sp>
        <p:nvSpPr>
          <p:cNvPr id="34" name="eff"/>
          <p:cNvSpPr/>
          <p:nvPr/>
        </p:nvSpPr>
        <p:spPr>
          <a:xfrm>
            <a:off x="5806080" y="2660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Blokuje plik na nieautoryzowanym urządzeniu / ścieżce</a:t>
            </a:r>
            <a:endParaRPr lang="en-US" sz="1000" dirty="0"/>
          </a:p>
        </p:txBody>
      </p:sp>
      <p:sp>
        <p:nvSpPr>
          <p:cNvPr id="35" name="lr_bg"/>
          <p:cNvSpPr/>
          <p:nvPr/>
        </p:nvSpPr>
        <p:spPr>
          <a:xfrm>
            <a:off x="228600" y="2989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icon"/>
          <p:cNvSpPr/>
          <p:nvPr/>
        </p:nvSpPr>
        <p:spPr>
          <a:xfrm>
            <a:off x="320040" y="2989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1600" dirty="0"/>
          </a:p>
        </p:txBody>
      </p:sp>
      <p:sp>
        <p:nvSpPr>
          <p:cNvPr id="37" name="lbl"/>
          <p:cNvSpPr/>
          <p:nvPr/>
        </p:nvSpPr>
        <p:spPr>
          <a:xfrm>
            <a:off x="685800" y="3062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watermark</a:t>
            </a:r>
            <a:endParaRPr lang="en-US" sz="1050" dirty="0"/>
          </a:p>
        </p:txBody>
      </p:sp>
      <p:sp>
        <p:nvSpPr>
          <p:cNvPr id="38" name="mech"/>
          <p:cNvSpPr/>
          <p:nvPr/>
        </p:nvSpPr>
        <p:spPr>
          <a:xfrm>
            <a:off x="2560080" y="3062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USER_LABEL wbudowany w system prompt każdego zapytania</a:t>
            </a:r>
            <a:endParaRPr lang="en-US" sz="1000" dirty="0"/>
          </a:p>
        </p:txBody>
      </p:sp>
      <p:sp>
        <p:nvSpPr>
          <p:cNvPr id="39" name="eff"/>
          <p:cNvSpPr/>
          <p:nvPr/>
        </p:nvSpPr>
        <p:spPr>
          <a:xfrm>
            <a:off x="5806080" y="3062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Identyfikuje użytkownika w logach Anthropic (7 dni)</a:t>
            </a:r>
            <a:endParaRPr lang="en-US" sz="1000" dirty="0"/>
          </a:p>
        </p:txBody>
      </p:sp>
      <p:sp>
        <p:nvSpPr>
          <p:cNvPr id="40" name="lr_bg"/>
          <p:cNvSpPr/>
          <p:nvPr/>
        </p:nvSpPr>
        <p:spPr>
          <a:xfrm>
            <a:off x="228600" y="3391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icon"/>
          <p:cNvSpPr/>
          <p:nvPr/>
        </p:nvSpPr>
        <p:spPr>
          <a:xfrm>
            <a:off x="320040" y="3391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1600" dirty="0"/>
          </a:p>
        </p:txBody>
      </p:sp>
      <p:sp>
        <p:nvSpPr>
          <p:cNvPr id="42" name="lbl"/>
          <p:cNvSpPr/>
          <p:nvPr/>
        </p:nvSpPr>
        <p:spPr>
          <a:xfrm>
            <a:off x="685800" y="3464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per osoba</a:t>
            </a:r>
            <a:endParaRPr lang="en-US" sz="1050" dirty="0"/>
          </a:p>
        </p:txBody>
      </p:sp>
      <p:sp>
        <p:nvSpPr>
          <p:cNvPr id="43" name="mech"/>
          <p:cNvSpPr/>
          <p:nvPr/>
        </p:nvSpPr>
        <p:spPr>
          <a:xfrm>
            <a:off x="2560080" y="3464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klucz = jedna osoba, dezaktywacja w 1 klik</a:t>
            </a:r>
            <a:endParaRPr lang="en-US" sz="1000" dirty="0"/>
          </a:p>
        </p:txBody>
      </p:sp>
      <p:sp>
        <p:nvSpPr>
          <p:cNvPr id="44" name="eff"/>
          <p:cNvSpPr/>
          <p:nvPr/>
        </p:nvSpPr>
        <p:spPr>
          <a:xfrm>
            <a:off x="5806080" y="3464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Natychmiastowe odcięcie dostępu przy odejściu / incydencie</a:t>
            </a:r>
            <a:endParaRPr lang="en-US" sz="1000" dirty="0"/>
          </a:p>
        </p:txBody>
      </p:sp>
      <p:sp>
        <p:nvSpPr>
          <p:cNvPr id="45" name="lr_bg"/>
          <p:cNvSpPr/>
          <p:nvPr/>
        </p:nvSpPr>
        <p:spPr>
          <a:xfrm>
            <a:off x="228600" y="3793776"/>
            <a:ext cx="8686800" cy="365760"/>
          </a:xfrm>
          <a:prstGeom prst="rect">
            <a:avLst/>
          </a:prstGeom>
          <a:solidFill>
            <a:srgbClr val="F9FAFB"/>
          </a:solidFill>
          <a:ln w="63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icon"/>
          <p:cNvSpPr/>
          <p:nvPr/>
        </p:nvSpPr>
        <p:spPr>
          <a:xfrm>
            <a:off x="320040" y="37937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600" dirty="0"/>
          </a:p>
        </p:txBody>
      </p:sp>
      <p:sp>
        <p:nvSpPr>
          <p:cNvPr id="47" name="lbl"/>
          <p:cNvSpPr/>
          <p:nvPr/>
        </p:nvSpPr>
        <p:spPr>
          <a:xfrm>
            <a:off x="685800" y="3866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(opcja B)</a:t>
            </a:r>
            <a:endParaRPr lang="en-US" sz="1050" dirty="0"/>
          </a:p>
        </p:txBody>
      </p:sp>
      <p:sp>
        <p:nvSpPr>
          <p:cNvPr id="48" name="mech"/>
          <p:cNvSpPr/>
          <p:nvPr/>
        </p:nvSpPr>
        <p:spPr>
          <a:xfrm>
            <a:off x="2560080" y="38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Cloudflare Worker </a:t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klucz tylko po stronie serwera</a:t>
            </a:r>
            <a:endParaRPr lang="en-US" sz="1000" dirty="0"/>
          </a:p>
        </p:txBody>
      </p:sp>
      <p:sp>
        <p:nvSpPr>
          <p:cNvPr id="49" name="eff"/>
          <p:cNvSpPr/>
          <p:nvPr/>
        </p:nvSpPr>
        <p:spPr>
          <a:xfrm>
            <a:off x="5806080" y="3866928"/>
            <a:ext cx="301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Klucz nigdy nie pojawia się w pliku HTML </a:t>
            </a:r>
            <a:r>
              <a:rPr lang="pl-PL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00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zerowe ryzyko wycieku</a:t>
            </a:r>
            <a:endParaRPr lang="en-US" sz="1000" dirty="0"/>
          </a:p>
        </p:txBody>
      </p:sp>
      <p:sp>
        <p:nvSpPr>
          <p:cNvPr id="50" name="note"/>
          <p:cNvSpPr/>
          <p:nvPr/>
        </p:nvSpPr>
        <p:spPr>
          <a:xfrm>
            <a:off x="228600" y="423309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Wdrożone </a:t>
            </a:r>
            <a:r>
              <a:rPr lang="en-US" sz="95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warstwy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1</a:t>
            </a:r>
            <a:r>
              <a:rPr lang="pl-PL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5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pokrywają typowe scenariusze ryzyka przy dystrybucji pliku wewnętrznego. Opcja Proxy eliminuje ryzyko wycieku klucza całkowicie.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dr">
            <a:extLst>
              <a:ext uri="{FF2B5EF4-FFF2-40B4-BE49-F238E27FC236}">
                <a16:creationId xmlns:a16="http://schemas.microsoft.com/office/drawing/2014/main" id="{2ED4C74D-8BBD-ED3C-0879-311988FE5838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/>
        </p:spPr>
        <p:txBody>
          <a:bodyPr wrap="square" lIns="0" tIns="0" rIns="0" bIns="0" rtlCol="0" anchor="ctr"/>
          <a:lstStyle/>
          <a:p>
            <a:endParaRPr lang="pl-PL"/>
          </a:p>
        </p:txBody>
      </p:sp>
      <p:sp>
        <p:nvSpPr>
          <p:cNvPr id="3" name="Title"/>
          <p:cNvSpPr/>
          <p:nvPr/>
        </p:nvSpPr>
        <p:spPr>
          <a:xfrm>
            <a:off x="365760" y="7502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A1916"/>
                </a:solidFill>
                <a:latin typeface="Arial Black" pitchFamily="34" charset="0"/>
              </a:rPr>
              <a:t xml:space="preserve">Azure </a:t>
            </a:r>
            <a:r>
              <a:rPr lang="pl-PL" sz="2800" b="1" dirty="0" err="1">
                <a:solidFill>
                  <a:srgbClr val="1A1916"/>
                </a:solidFill>
                <a:latin typeface="Arial Black" pitchFamily="34" charset="0"/>
              </a:rPr>
              <a:t>OpenAI</a:t>
            </a:r>
            <a:r>
              <a:rPr lang="pl-PL" sz="2800" b="1" dirty="0">
                <a:solidFill>
                  <a:srgbClr val="1A1916"/>
                </a:solidFill>
                <a:latin typeface="Arial Black" pitchFamily="34" charset="0"/>
              </a:rPr>
              <a:t xml:space="preserve"> - dane w infrastrukturze Content AI</a:t>
            </a:r>
          </a:p>
        </p:txBody>
      </p:sp>
      <p:sp>
        <p:nvSpPr>
          <p:cNvPr id="15" name="section">
            <a:extLst>
              <a:ext uri="{FF2B5EF4-FFF2-40B4-BE49-F238E27FC236}">
                <a16:creationId xmlns:a16="http://schemas.microsoft.com/office/drawing/2014/main" id="{A097FA46-B8EB-6CE4-E575-4FACFE05BE72}"/>
              </a:ext>
            </a:extLst>
          </p:cNvPr>
          <p:cNvSpPr/>
          <p:nvPr/>
        </p:nvSpPr>
        <p:spPr>
          <a:xfrm>
            <a:off x="320040" y="731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BEZPIECZENSTW</a:t>
            </a:r>
            <a:r>
              <a:rPr lang="pl-PL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- A</a:t>
            </a:r>
            <a:r>
              <a:rPr lang="en-US" sz="1100" b="1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RCHITEKTURA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206D909F-416F-DA66-306A-E62C414C9B4E}"/>
              </a:ext>
            </a:extLst>
          </p:cNvPr>
          <p:cNvSpPr/>
          <p:nvPr/>
        </p:nvSpPr>
        <p:spPr>
          <a:xfrm>
            <a:off x="365760" y="1485900"/>
            <a:ext cx="8412480" cy="228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Now">
            <a:extLst>
              <a:ext uri="{FF2B5EF4-FFF2-40B4-BE49-F238E27FC236}">
                <a16:creationId xmlns:a16="http://schemas.microsoft.com/office/drawing/2014/main" id="{B6AEEF9A-A830-3C87-56F0-61932C1EEEF6}"/>
              </a:ext>
            </a:extLst>
          </p:cNvPr>
          <p:cNvSpPr/>
          <p:nvPr/>
        </p:nvSpPr>
        <p:spPr>
          <a:xfrm>
            <a:off x="365760" y="157734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🤖  Teraz: Anthropic Claude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claude-sonnet-4-6 przez Anthropic API.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Dane trafiają do serwera Anthropic (USA).</a:t>
            </a:r>
          </a:p>
        </p:txBody>
      </p:sp>
      <p:sp>
        <p:nvSpPr>
          <p:cNvPr id="19" name="Plan">
            <a:extLst>
              <a:ext uri="{FF2B5EF4-FFF2-40B4-BE49-F238E27FC236}">
                <a16:creationId xmlns:a16="http://schemas.microsoft.com/office/drawing/2014/main" id="{5FC9B30C-A291-B637-B04B-BEA50C5D91F6}"/>
              </a:ext>
            </a:extLst>
          </p:cNvPr>
          <p:cNvSpPr/>
          <p:nvPr/>
        </p:nvSpPr>
        <p:spPr>
          <a:xfrm>
            <a:off x="365760" y="2583180"/>
            <a:ext cx="3840480" cy="91440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⚙️  Model selector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Wybór silnika w ustawieniach aplikacji: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Anthropic / Azure OpenAI / OpenAI</a:t>
            </a:r>
          </a:p>
        </p:txBody>
      </p:sp>
      <p:sp>
        <p:nvSpPr>
          <p:cNvPr id="20" name="Change">
            <a:extLst>
              <a:ext uri="{FF2B5EF4-FFF2-40B4-BE49-F238E27FC236}">
                <a16:creationId xmlns:a16="http://schemas.microsoft.com/office/drawing/2014/main" id="{E994204B-06DF-899C-2FB3-7801BA997B84}"/>
              </a:ext>
            </a:extLst>
          </p:cNvPr>
          <p:cNvSpPr/>
          <p:nvPr/>
        </p:nvSpPr>
        <p:spPr>
          <a:xfrm>
            <a:off x="365760" y="3589020"/>
            <a:ext cx="3840480" cy="1005840"/>
          </a:xfrm>
          <a:prstGeom prst="rect">
            <a:avLst/>
          </a:prstGeom>
          <a:solidFill>
            <a:srgbClr val="F8F8F8"/>
          </a:solidFill>
          <a:ln>
            <a:solidFill>
              <a:srgbClr val="E0E0E0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pl-PL" sz="1400" b="1" dirty="0">
                <a:solidFill>
                  <a:srgbClr val="1A1916"/>
                </a:solidFill>
                <a:latin typeface="Arial" pitchFamily="34" charset="0"/>
              </a:rPr>
              <a:t>🔧  Co wymaga zmiany w kodzie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~30 linii kodu: inny format request,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inny endpoint, wybor modelu w UI.</a:t>
            </a:r>
          </a:p>
        </p:txBody>
      </p:sp>
      <p:sp>
        <p:nvSpPr>
          <p:cNvPr id="21" name="Azure">
            <a:extLst>
              <a:ext uri="{FF2B5EF4-FFF2-40B4-BE49-F238E27FC236}">
                <a16:creationId xmlns:a16="http://schemas.microsoft.com/office/drawing/2014/main" id="{F5103BBA-5644-F4AA-81F1-41C174B59D80}"/>
              </a:ext>
            </a:extLst>
          </p:cNvPr>
          <p:cNvSpPr/>
          <p:nvPr/>
        </p:nvSpPr>
        <p:spPr>
          <a:xfrm>
            <a:off x="4389120" y="1577340"/>
            <a:ext cx="4389120" cy="3017520"/>
          </a:xfrm>
          <a:prstGeom prst="rect">
            <a:avLst/>
          </a:prstGeom>
          <a:solidFill>
            <a:srgbClr val="F0F7FF"/>
          </a:solidFill>
          <a:ln>
            <a:solidFill>
              <a:srgbClr val="0078D4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buNone/>
            </a:pPr>
            <a:r>
              <a:rPr lang="pl-PL" sz="1500" b="1" dirty="0">
                <a:solidFill>
                  <a:srgbClr val="0078D4"/>
                </a:solidFill>
                <a:latin typeface="Arial Black" pitchFamily="34" charset="0"/>
              </a:rPr>
              <a:t>☁️  Dlaczego Azure OpenAI?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🔒  Dane w Naszej infrastrukturze</a:t>
            </a:r>
          </a:p>
          <a:p>
            <a:pPr marL="0" indent="0">
              <a:buNone/>
            </a:pPr>
            <a:r>
              <a:rPr lang="pl-PL" sz="1200" dirty="0" err="1">
                <a:solidFill>
                  <a:srgbClr val="555555"/>
                </a:solidFill>
                <a:latin typeface="Calibri" pitchFamily="34" charset="0"/>
              </a:rPr>
              <a:t>Azure</a:t>
            </a: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 xml:space="preserve"> Content AI, nie serwer Anthropic. Pełna kontrola compliance i GDPR.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📊  Istniejąca subskrypcja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Content AI korzysta z Azure. Wdrożenie w ramach obecnego kontraktu.</a:t>
            </a:r>
          </a:p>
          <a:p>
            <a:pPr>
              <a:buNone/>
            </a:pPr>
            <a:endParaRPr lang="pl-PL" sz="1200" dirty="0"/>
          </a:p>
          <a:p>
            <a:pPr marL="0" indent="0">
              <a:buNone/>
            </a:pPr>
            <a:r>
              <a:rPr lang="pl-PL" sz="1300" b="1" dirty="0">
                <a:solidFill>
                  <a:srgbClr val="1A1916"/>
                </a:solidFill>
                <a:latin typeface="Calibri" pitchFamily="34" charset="0"/>
              </a:rPr>
              <a:t>🤖  Te same modele GPT-4o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555555"/>
                </a:solidFill>
                <a:latin typeface="Calibri" pitchFamily="34" charset="0"/>
              </a:rPr>
              <a:t>GPT-4o, GPT-4 Turbo - te same modele co OpenAI, ale hostowane u Nas.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Dziękuję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uwagę i czas.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286000" cy="4572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 i dalsze informacje: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Marcin Przybylski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Digital Marketing Expert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MODUŁY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Widoczność, raport i gotowość pod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77696"/>
            <a:ext cx="402336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28600" y="1377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NOWE ZAPYTANIA WYCHODZĄCE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770888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7472" y="1789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Nazwa marki i zapytania kontrolne (Widoczność)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2255520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" y="22738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Wyszukiwanie w sieci po stronie Anthropic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2740152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47472" y="2758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Opis marki do oceny narracji (Narracja)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3224784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47472" y="3243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Lista konkurentów do porównania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709416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47472" y="3727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Zapytania o markę, nie o klientów Content 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377696"/>
            <a:ext cx="4023360" cy="34747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892040" y="1377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ZOSTAJE LOKALNIE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770888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010912" y="1789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Konfiguracja encji (cai-llms)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255520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5010912" y="22738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Konfiguracja widoczności (cai-vis)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2740152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010912" y="27584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Snapshoty pomiarów, do 20 (cai-vis-runs)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224784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010912" y="32430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Pliki llms.txt, robots.txt, linki UTM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3709416"/>
            <a:ext cx="4023360" cy="420624"/>
          </a:xfrm>
          <a:prstGeom prst="rect">
            <a:avLst/>
          </a:prstGeom>
          <a:solidFill>
            <a:srgbClr val="D6F0E0"/>
          </a:solidFill>
          <a:ln w="5080">
            <a:solidFill>
              <a:srgbClr val="7ECB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5010912" y="37277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Raporty generowane lokalnie (DOCX/PDF)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274320" y="4855464"/>
            <a:ext cx="8595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Widoczność i raport używają wyszukiwania w sieci realizowanego po stronie Anthropic. Pomiar na żądanie, nie ciągły. </a:t>
            </a:r>
            <a:endParaRPr lang="pl-PL" sz="1000" dirty="0">
              <a:solidFill>
                <a:srgbClr val="5A58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Zapytania dotyczą marki i konkurencji, nie danych osobowych klientów Content AI.</a:t>
            </a:r>
            <a:r>
              <a:rPr lang="en-US" sz="1000" dirty="0" err="1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pl-PL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000" dirty="0">
                <a:solidFill>
                  <a:srgbClr val="5A5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8A3398F-F8F5-C782-8AB4-8F26A0FB14E7}"/>
              </a:ext>
            </a:extLst>
          </p:cNvPr>
          <p:cNvSpPr/>
          <p:nvPr/>
        </p:nvSpPr>
        <p:spPr>
          <a:xfrm>
            <a:off x="228600" y="4194048"/>
            <a:ext cx="402336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912FE61-DFE5-AAF6-7136-7F19B830C0F3}"/>
              </a:ext>
            </a:extLst>
          </p:cNvPr>
          <p:cNvSpPr/>
          <p:nvPr/>
        </p:nvSpPr>
        <p:spPr>
          <a:xfrm>
            <a:off x="347472" y="42123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⚠  </a:t>
            </a:r>
            <a:r>
              <a:rPr lang="pl-PL" sz="1150" dirty="0" err="1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Tryb GPT</a:t>
            </a: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/Azure: wyszukiwanie </a:t>
            </a:r>
            <a:r>
              <a:rPr lang="pl-PL" sz="1150" dirty="0" err="1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niedostępne</a:t>
            </a:r>
            <a:r>
              <a:rPr lang="pl-PL" sz="1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1654</Words>
  <Application>Microsoft Office PowerPoint</Application>
  <PresentationFormat>Pokaz na ekranie (16:9)</PresentationFormat>
  <Paragraphs>296</Paragraphs>
  <Slides>13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Marcin Przybylski (Content AI eCom PL)</cp:lastModifiedBy>
  <cp:revision>9</cp:revision>
  <dcterms:created xsi:type="dcterms:W3CDTF">2026-05-14T09:47:43Z</dcterms:created>
  <dcterms:modified xsi:type="dcterms:W3CDTF">2026-05-25T09:24:56Z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FOR INTERNAL USE</vt:lpwstr>
  </property>
</Properties>
</file>