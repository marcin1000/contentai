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9" r:id="rId27"/>
    <p:sldId id="261" r:id="rId7"/>
    <p:sldId id="272" r:id="rId8"/>
    <p:sldId id="278" r:id="rId26"/>
    <p:sldId id="274" r:id="rId9"/>
    <p:sldId id="275" r:id="rId10"/>
    <p:sldId id="276" r:id="rId11"/>
    <p:sldId id="270" r:id="rId12"/>
    <p:sldId id="271" r:id="rId13"/>
    <p:sldId id="262" r:id="rId14"/>
    <p:sldId id="263" r:id="rId15"/>
    <p:sldId id="264" r:id="rId16"/>
    <p:sldId id="268" r:id="rId17"/>
    <p:sldId id="269" r:id="rId18"/>
    <p:sldId id="277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A58"/>
    <a:srgbClr val="4861A6"/>
    <a:srgbClr val="6F6D68"/>
    <a:srgbClr val="F5A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587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7EFF1BDD-D095-030C-F6DB-E99E293BC34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l-PL" sz="1000">
                <a:solidFill>
                  <a:srgbClr val="747474">
                    <a:alpha val="50000"/>
                  </a:srgbClr>
                </a:solidFill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FOR INTERNAL USE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?>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?>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?>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A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749040" y="129159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749040" y="2486209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treści SEO i AIO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74720" y="4480560"/>
            <a:ext cx="5669280" cy="66294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4E1C86CF-DF91-EEEE-0C1F-1212FBBCE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22" y="227110"/>
            <a:ext cx="2973275" cy="9877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KONTEKST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Tworzenie treści SEO zajmuje czas i zasoby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502920" cy="502920"/>
          </a:xfrm>
          <a:prstGeom prst="ellipse">
            <a:avLst/>
          </a:prstGeom>
          <a:solidFill>
            <a:srgbClr val="FDEAEA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801368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737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Każdy artykuł pisany od </a:t>
            </a:r>
            <a:r>
              <a:rPr lang="en-US" sz="15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zera</a:t>
            </a:r>
            <a:r>
              <a:rPr lang="en-US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bez spójności z ofertą firmy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040" y="2350008"/>
            <a:ext cx="850392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6"/>
          <p:cNvSpPr/>
          <p:nvPr/>
        </p:nvSpPr>
        <p:spPr>
          <a:xfrm>
            <a:off x="320040" y="2542032"/>
            <a:ext cx="502920" cy="502920"/>
          </a:xfrm>
          <a:prstGeom prst="ellipse">
            <a:avLst/>
          </a:prstGeom>
          <a:solidFill>
            <a:srgbClr val="FDEAEA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2606040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542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Treści generowane przez zewnętrzne AI nie znają specyfiki Content AI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20040" y="3154680"/>
            <a:ext cx="850392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9"/>
          <p:cNvSpPr/>
          <p:nvPr/>
        </p:nvSpPr>
        <p:spPr>
          <a:xfrm>
            <a:off x="320040" y="3346704"/>
            <a:ext cx="502920" cy="502920"/>
          </a:xfrm>
          <a:prstGeom prst="ellipse">
            <a:avLst/>
          </a:prstGeom>
          <a:solidFill>
            <a:srgbClr val="FDEAEA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3410712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334670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narzędzia do szybkiego tworzenia treści pod SEO i AIO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320040" y="3959352"/>
            <a:ext cx="850392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2"/>
          <p:cNvSpPr/>
          <p:nvPr/>
        </p:nvSpPr>
        <p:spPr>
          <a:xfrm>
            <a:off x="320040" y="4151376"/>
            <a:ext cx="502920" cy="502920"/>
          </a:xfrm>
          <a:prstGeom prst="ellipse">
            <a:avLst/>
          </a:prstGeom>
          <a:solidFill>
            <a:srgbClr val="FDEAEA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421538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415137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Copywriter lub agencja = wysokie koszty i długi czas realizacji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5"/>
          <p:cNvSpPr/>
          <p:nvPr/>
        </p:nvSpPr>
        <p:spPr>
          <a:xfrm>
            <a:off x="365760" y="483717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r>
              <a:rPr lang="pl-PL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AI rozwiązuje te </a:t>
            </a: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problemy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automatycznie, tanio i bezpiecznie.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TO DZIAŁA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kroki do gotowego, zoptymalizowanego artykułu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1572768"/>
            <a:ext cx="2029968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201168" y="1572768"/>
            <a:ext cx="2029968" cy="64008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329184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847088" y="1764792"/>
            <a:ext cx="237744" cy="237744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29184" y="23317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Wgraj wiedzę firmową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" y="2862072"/>
            <a:ext cx="1773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Dodaj pliki (PDF, Word, Excel), wklej linki do stron Content AI </a:t>
            </a:r>
            <a:r>
              <a:rPr lang="pl-PL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aplikacja sama odczytuje ich treść </a:t>
            </a:r>
            <a:r>
              <a:rPr lang="en-US" sz="10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przez</a:t>
            </a: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</a:t>
            </a:r>
            <a:r>
              <a:rPr lang="pl-PL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0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lub</a:t>
            </a: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wpisz tekst ręcznie. Zaznacz które źródła użyć do konkretnego artykułu.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85416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2414016" y="1572768"/>
            <a:ext cx="2029968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2414016" y="1572768"/>
            <a:ext cx="2029968" cy="64008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2542032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4059936" y="1764792"/>
            <a:ext cx="237744" cy="237744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2542032" y="23317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Ustaw parametry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42032" y="2862072"/>
            <a:ext cx="1773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Wybierz typ treści (SEO, AIO, Hybryda SEO+AIO, FAQ, landing, strona kierunkowa, informacja prasowa), długość (własna liczba słów), słowa kluczowe, ton i język. Użyj szablonów dla powtarzalnych zadań.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98264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626864" y="1572768"/>
            <a:ext cx="2029968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4626864" y="1572768"/>
            <a:ext cx="2029968" cy="64008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754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6272784" y="1764792"/>
            <a:ext cx="237744" cy="237744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4754880" y="23317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Generuj treść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2862072"/>
            <a:ext cx="1773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AI tworzy artykuł na podstawie bazy wiedzy. Automatyczna ocena SEO i AIO </a:t>
            </a:r>
            <a:r>
              <a:rPr lang="pl-PL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jeśli wynik &lt; 70, artykuł jest poprawiany. Porównaj warianty: oryginał i poprawiony.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11112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839712" y="1572768"/>
            <a:ext cx="2029968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7" name="Shape 25"/>
          <p:cNvSpPr/>
          <p:nvPr/>
        </p:nvSpPr>
        <p:spPr>
          <a:xfrm>
            <a:off x="6839712" y="1572768"/>
            <a:ext cx="2029968" cy="64008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696772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8485632" y="1764792"/>
            <a:ext cx="237744" cy="237744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6967728" y="23317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Oceń, edytuj, pobierz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67728" y="2862072"/>
            <a:ext cx="1773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Sprawdź wyniki Oceń SEO i Oceń AIO. Edytuj artykuł inline bez wychodzenia z aplikacji. Pobierz jako .docx</a:t>
            </a:r>
            <a:r>
              <a:rPr lang="pl-PL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.pdf</a:t>
            </a: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lub .txt, skopiuj do schowka.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365760" y="483717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Czas generowania: 15-60 sek. (w tym auto-ocena SEO i AIO). Eksport do .docx</a:t>
            </a:r>
            <a:r>
              <a:rPr lang="pl-PL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, .pdf </a:t>
            </a:r>
            <a:r>
              <a:rPr lang="en-US" sz="1100" b="1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.txt.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BAZA WIEDZY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sposoby na dostarczenie wiedzy firmowej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1344168" y="1783080"/>
            <a:ext cx="694944" cy="694944"/>
          </a:xfrm>
          <a:prstGeom prst="ellipse">
            <a:avLst/>
          </a:prstGeom>
          <a:solidFill>
            <a:srgbClr val="D8F3DC"/>
          </a:solidFill>
          <a:ln w="9525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184" y="190195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Pliki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29992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Word, Excel, PPTX, TXT, CSV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3447288"/>
            <a:ext cx="219456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502920" y="353872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Wgraj dokumenty </a:t>
            </a:r>
            <a:r>
              <a:rPr lang="en-US" sz="110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firmowe</a:t>
            </a: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oferty, prezentacje, cenniki, regulaminy. Aplikacja odczytuje tekst automatycznie bezpośrednio w przeglądarce.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600200"/>
            <a:ext cx="2651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0"/>
          <p:cNvSpPr/>
          <p:nvPr/>
        </p:nvSpPr>
        <p:spPr>
          <a:xfrm>
            <a:off x="3840480" y="1353312"/>
            <a:ext cx="155448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1"/>
          <p:cNvSpPr/>
          <p:nvPr/>
        </p:nvSpPr>
        <p:spPr>
          <a:xfrm>
            <a:off x="3840480" y="13533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PRODUKCJA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270248" y="1783080"/>
            <a:ext cx="694944" cy="694944"/>
          </a:xfrm>
          <a:prstGeom prst="ellipse">
            <a:avLst/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1901952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2900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Strony WWW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429000" y="29992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5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Dowolny URL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520440" y="3447288"/>
            <a:ext cx="219456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6"/>
          <p:cNvSpPr/>
          <p:nvPr/>
        </p:nvSpPr>
        <p:spPr>
          <a:xfrm>
            <a:off x="3429000" y="353872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Wklej link do strony Content AI. Claude AI automatycznie wchodzi na stronę, odczytuje jej treść i zapisuje do bazy. Działa z każdą publiczną stroną.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217920" y="1600200"/>
            <a:ext cx="2651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2" name="Shape 18"/>
          <p:cNvSpPr/>
          <p:nvPr/>
        </p:nvSpPr>
        <p:spPr>
          <a:xfrm>
            <a:off x="7196328" y="1783080"/>
            <a:ext cx="694944" cy="694944"/>
          </a:xfrm>
          <a:prstGeom prst="ellipse">
            <a:avLst/>
          </a:prstGeom>
          <a:solidFill>
            <a:srgbClr val="FFF8CC"/>
          </a:solidFill>
          <a:ln w="9525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1901952"/>
            <a:ext cx="438912" cy="4389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5508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Tekst ręczny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355080" y="29992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Dowolna treść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446520" y="3447288"/>
            <a:ext cx="219456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2"/>
          <p:cNvSpPr/>
          <p:nvPr/>
        </p:nvSpPr>
        <p:spPr>
          <a:xfrm>
            <a:off x="6355080" y="353872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Wpisz lub wklej tekst </a:t>
            </a:r>
            <a:r>
              <a:rPr lang="en-US" sz="110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bezpośrednio</a:t>
            </a: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notatki, briefy, opisy produktów, FAQ, dane których nie ma online.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365760" y="489204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Wszystkie 3 źródła można łączyć jednocześnie · Checkboxy do wyboru aktywnych źródeł · Stan bazy zapisywany między sesjami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 zyskuje firma?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373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Szybkość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207568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Artykuł gotowy w 15-60 sek. wraz z auto-oceną i poprawą.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60020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3291840" y="160020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7373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Bezpieczeństwo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886200" y="207568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pisze tylko z Twoich danych. Pliki przetwarzane lokalnie.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60020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2"/>
          <p:cNvSpPr/>
          <p:nvPr/>
        </p:nvSpPr>
        <p:spPr>
          <a:xfrm>
            <a:off x="6217920" y="160020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73736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Hybryda SEO+AIO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812280" y="207568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Dedykowany typ treści zoptymalizowany pod Google i AI Overview jednocześnie.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315468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Shape 16"/>
          <p:cNvSpPr/>
          <p:nvPr/>
        </p:nvSpPr>
        <p:spPr>
          <a:xfrm>
            <a:off x="365760" y="315468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29184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Auto-ocena jakości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60120" y="363016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Automatyczny loop SEO </a:t>
            </a:r>
            <a:r>
              <a:rPr lang="en-US" sz="11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AIO</a:t>
            </a:r>
            <a:r>
              <a:rPr lang="pl-PL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- </a:t>
            </a:r>
            <a:r>
              <a:rPr lang="en-US" sz="11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artykuł</a:t>
            </a: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poprawia się sam jeśli wynik &lt; 70/100.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91840" y="315468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6" name="Shape 20"/>
          <p:cNvSpPr/>
          <p:nvPr/>
        </p:nvSpPr>
        <p:spPr>
          <a:xfrm>
            <a:off x="3291840" y="315468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29184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86200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Skalowalność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886200" y="363016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 zespół obsłuży wielokrotnie więcej treści bez wzrostu kosztów.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17920" y="315468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1" name="Shape 24"/>
          <p:cNvSpPr/>
          <p:nvPr/>
        </p:nvSpPr>
        <p:spPr>
          <a:xfrm>
            <a:off x="6217920" y="315468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29184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12280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i szablony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812280" y="363016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Wszystkie artykuły zapisane z podglądem. Szablony dla powtarzalnych zadań.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NOWE FUNKCJE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Zaawansowane możliwości wdrożonej wersji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572768"/>
            <a:ext cx="2011680" cy="141732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228600" y="1572768"/>
            <a:ext cx="2011680" cy="54864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320040" y="1682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38328" y="2103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Hybryda SEO + AIO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24323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Dedykowany typ </a:t>
            </a:r>
            <a:r>
              <a:rPr lang="en-US" sz="9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treści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jeden artykuł spełnia wymagania Google SEO i AI Overview jednocześnie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572768"/>
            <a:ext cx="2011680" cy="141732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2423160" y="1572768"/>
            <a:ext cx="2011680" cy="54864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2514600" y="1682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32888" y="2103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Auto-ocena z loopem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32888" y="24323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Auto-ocena SEO i AIO. Poprawianie jeśli wynik &lt; 70/100. Tryb Premium do 82/100.</a:t>
            </a:r>
          </a:p>
        </p:txBody>
      </p:sp>
      <p:sp>
        <p:nvSpPr>
          <p:cNvPr id="15" name="Shape 13"/>
          <p:cNvSpPr/>
          <p:nvPr/>
        </p:nvSpPr>
        <p:spPr>
          <a:xfrm>
            <a:off x="4617720" y="1572768"/>
            <a:ext cx="2011680" cy="141732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4617720" y="1572768"/>
            <a:ext cx="2011680" cy="54864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4709160" y="1682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27448" y="2103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Odczyt URL przez AI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27448" y="24323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Claude wchodzi na wskazaną stronę i wyciąga treść do </a:t>
            </a:r>
            <a:r>
              <a:rPr lang="en-US" sz="9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bazy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9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wiedzy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żadnego backendu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1572768"/>
            <a:ext cx="2011680" cy="141732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6812280" y="1572768"/>
            <a:ext cx="2011680" cy="54864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6903720" y="1682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22008" y="2103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Edycja inline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22008" y="24323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Edytuj artykuł bezpośrednio w aplikacji, bez kopiowania do zewnętrznego edytora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3127248"/>
            <a:ext cx="2011680" cy="141732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6" name="Shape 24"/>
          <p:cNvSpPr/>
          <p:nvPr/>
        </p:nvSpPr>
        <p:spPr>
          <a:xfrm>
            <a:off x="228600" y="3127248"/>
            <a:ext cx="2011680" cy="54864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32004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38328" y="3657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Szablony tematów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" y="39867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Zapisuj powtarzalne konfiguracje (temat, typ, długość, ton) i uruchamiaj jednym kliknięciem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23160" y="3127248"/>
            <a:ext cx="2011680" cy="141732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1" name="Shape 29"/>
          <p:cNvSpPr/>
          <p:nvPr/>
        </p:nvSpPr>
        <p:spPr>
          <a:xfrm>
            <a:off x="2423160" y="3127248"/>
            <a:ext cx="2011680" cy="54864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251460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532888" y="3657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z podglądem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32888" y="39867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Wszystkie wygenerowane artykuły zapisane w przeglądarce z pełną treścią do wglądu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3127248"/>
            <a:ext cx="2011680" cy="141732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6" name="Shape 34"/>
          <p:cNvSpPr/>
          <p:nvPr/>
        </p:nvSpPr>
        <p:spPr>
          <a:xfrm>
            <a:off x="4617720" y="3127248"/>
            <a:ext cx="2011680" cy="54864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470916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727448" y="3657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Wersjonowanie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27448" y="39867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Porównaj oryginał i poprawioną wersję obok siebie, przełączaj się jednym kliknięciem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12280" y="3127248"/>
            <a:ext cx="2011680" cy="141732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1" name="Shape 39"/>
          <p:cNvSpPr/>
          <p:nvPr/>
        </p:nvSpPr>
        <p:spPr>
          <a:xfrm>
            <a:off x="6812280" y="3127248"/>
            <a:ext cx="2011680" cy="54864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1D13E78F-3CAA-EB9A-42C7-75E3F89BBABC}"/>
              </a:ext>
            </a:extLst>
          </p:cNvPr>
          <p:cNvSpPr/>
          <p:nvPr/>
        </p:nvSpPr>
        <p:spPr>
          <a:xfrm>
            <a:off x="690372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DCFC48D3-FA1A-C488-2219-91D193A7BF96}"/>
              </a:ext>
            </a:extLst>
          </p:cNvPr>
          <p:cNvSpPr/>
          <p:nvPr/>
        </p:nvSpPr>
        <p:spPr>
          <a:xfrm>
            <a:off x="6922008" y="3657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grafik</a:t>
            </a:r>
            <a:endParaRPr lang="en-US" sz="1200" dirty="0"/>
          </a:p>
        </p:txBody>
      </p:sp>
      <p:sp>
        <p:nvSpPr>
          <p:cNvPr id="47" name="Text 37">
            <a:extLst>
              <a:ext uri="{FF2B5EF4-FFF2-40B4-BE49-F238E27FC236}">
                <a16:creationId xmlns:a16="http://schemas.microsoft.com/office/drawing/2014/main" id="{9E1839AB-E60D-E45E-667B-F762ED0CEC2D}"/>
              </a:ext>
            </a:extLst>
          </p:cNvPr>
          <p:cNvSpPr/>
          <p:nvPr/>
        </p:nvSpPr>
        <p:spPr>
          <a:xfrm>
            <a:off x="6922008" y="39867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Generuj profesjonalne grafiki Content AI na podstawie artykułu oraz możliwością wgrania grafiki referencyjnej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8046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7 </a:t>
            </a:r>
            <a:r>
              <a:rPr lang="en-US" sz="2400" b="1" dirty="0" err="1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zaawansowanych</a:t>
            </a:r>
            <a:r>
              <a:rPr lang="en-US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</a:t>
            </a:r>
            <a:r>
              <a:rPr lang="en-US" sz="2400" b="1" dirty="0" err="1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funkcji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64592" y="1572768"/>
            <a:ext cx="2816352" cy="1033272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164592" y="1572768"/>
            <a:ext cx="2816352" cy="457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256032" y="167665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723729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66420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+ Drupal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56032" y="2002536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Publikuj artykuły bezpośrednio z aplikacji. Szkic lub publikacja jednym kliknięciem. Konfiguracja przez bezpieczne Application Password.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99816" y="1572768"/>
            <a:ext cx="2816352" cy="1033272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Shape 9"/>
          <p:cNvSpPr/>
          <p:nvPr/>
        </p:nvSpPr>
        <p:spPr>
          <a:xfrm>
            <a:off x="3099816" y="1572768"/>
            <a:ext cx="2816352" cy="45720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0"/>
          <p:cNvSpPr/>
          <p:nvPr/>
        </p:nvSpPr>
        <p:spPr>
          <a:xfrm>
            <a:off x="3191256" y="167665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723729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93592" y="166420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briefów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35040" y="1572768"/>
            <a:ext cx="2816352" cy="1033272"/>
          </a:xfrm>
          <a:prstGeom prst="rect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Shape 14"/>
          <p:cNvSpPr/>
          <p:nvPr/>
        </p:nvSpPr>
        <p:spPr>
          <a:xfrm>
            <a:off x="6035040" y="1572768"/>
            <a:ext cx="2816352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Shape 15"/>
          <p:cNvSpPr/>
          <p:nvPr/>
        </p:nvSpPr>
        <p:spPr>
          <a:xfrm>
            <a:off x="6126480" y="167665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725422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28816" y="166420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Voice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126480" y="2002536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Wklej 3-5 artykułów Content AI. </a:t>
            </a:r>
            <a:r>
              <a:rPr lang="pl-PL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Aplikacja</a:t>
            </a: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wyciąga profil stylu i stosuje go do ka</a:t>
            </a:r>
            <a:r>
              <a:rPr lang="pl-PL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</a:t>
            </a:r>
            <a:r>
              <a:rPr lang="en-US" sz="100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dego</a:t>
            </a: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kolejnego generowania automatycznie.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099816" y="2651760"/>
            <a:ext cx="2816352" cy="896112"/>
          </a:xfrm>
          <a:prstGeom prst="rect">
            <a:avLst/>
          </a:prstGeom>
          <a:solidFill>
            <a:srgbClr val="FDEAEA"/>
          </a:solidFill>
          <a:ln w="6350">
            <a:solidFill>
              <a:srgbClr val="F5C0B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0" name="Shape 24"/>
          <p:cNvSpPr/>
          <p:nvPr/>
        </p:nvSpPr>
        <p:spPr>
          <a:xfrm>
            <a:off x="3099816" y="2651760"/>
            <a:ext cx="2816352" cy="45720"/>
          </a:xfrm>
          <a:prstGeom prst="rect">
            <a:avLst/>
          </a:prstGeom>
          <a:solidFill>
            <a:srgbClr val="F5C0BE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Shape 25"/>
          <p:cNvSpPr/>
          <p:nvPr/>
        </p:nvSpPr>
        <p:spPr>
          <a:xfrm>
            <a:off x="3191256" y="275564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2806954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593592" y="274320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Generowanie grupowe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191256" y="3081528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10 tematów - aplikacja generuje wszystkie artykuły po kolei z paskiem postępu. Wyniki trafiają do historii.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035040" y="2651760"/>
            <a:ext cx="2816352" cy="1060196"/>
          </a:xfrm>
          <a:prstGeom prst="rect">
            <a:avLst/>
          </a:prstGeom>
          <a:solidFill>
            <a:srgbClr val="F5F4F1"/>
          </a:solidFill>
          <a:ln w="6350">
            <a:solidFill>
              <a:srgbClr val="CBC6B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6" name="Shape 29"/>
          <p:cNvSpPr/>
          <p:nvPr/>
        </p:nvSpPr>
        <p:spPr>
          <a:xfrm>
            <a:off x="6035040" y="2651760"/>
            <a:ext cx="2816352" cy="45720"/>
          </a:xfrm>
          <a:prstGeom prst="rect">
            <a:avLst/>
          </a:prstGeom>
          <a:solidFill>
            <a:srgbClr val="CBC6BC"/>
          </a:solidFill>
          <a:ln w="12700">
            <a:solidFill>
              <a:srgbClr val="CBC6B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Shape 30"/>
          <p:cNvSpPr/>
          <p:nvPr/>
        </p:nvSpPr>
        <p:spPr>
          <a:xfrm>
            <a:off x="6126480" y="275564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C6B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344" y="2814405"/>
            <a:ext cx="201168" cy="20116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528816" y="274320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Poprawa istniejacych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126480" y="3081528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Wklej stary artykul ze strony Content AI. </a:t>
            </a:r>
            <a:r>
              <a:rPr lang="pl-PL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Aplikacja</a:t>
            </a: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00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przepisuje</a:t>
            </a:r>
            <a:r>
              <a:rPr lang="pl-PL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go</a:t>
            </a: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pod SEO+AIO zachowując fakty i dane z bazy wiedzy.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3099816" y="3588004"/>
            <a:ext cx="2816352" cy="1060196"/>
          </a:xfrm>
          <a:prstGeom prst="rect">
            <a:avLst/>
          </a:prstGeom>
          <a:solidFill>
            <a:srgbClr val="D1FAE5"/>
          </a:solidFill>
          <a:ln w="6350">
            <a:solidFill>
              <a:srgbClr val="6EE7B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2" name="Shape 34"/>
          <p:cNvSpPr/>
          <p:nvPr/>
        </p:nvSpPr>
        <p:spPr>
          <a:xfrm>
            <a:off x="3099816" y="3588004"/>
            <a:ext cx="2816352" cy="4572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Shape 35"/>
          <p:cNvSpPr/>
          <p:nvPr/>
        </p:nvSpPr>
        <p:spPr>
          <a:xfrm>
            <a:off x="3191256" y="369189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6120" y="3746754"/>
            <a:ext cx="201168" cy="20116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3593592" y="367944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 FAQ JSON-LD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3191256" y="4017772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Automatycznie generuje kod JSON-LD dla artykułów FAQ. Gotowy do wklejenia w WordPress lub Drupal - rich snippets w Google.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39"/>
          <p:cNvSpPr/>
          <p:nvPr/>
        </p:nvSpPr>
        <p:spPr>
          <a:xfrm>
            <a:off x="365760" y="48371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Wszystkie 7 funkcji działa w tym samym pliku HTML - bez instalacji, bez backendu, bez dodatkowych subskrypcji.</a:t>
            </a:r>
            <a:endParaRPr lang="en-US" sz="1100" dirty="0"/>
          </a:p>
        </p:txBody>
      </p:sp>
      <p:sp>
        <p:nvSpPr>
          <p:cNvPr id="49" name="Shape 0">
            <a:extLst>
              <a:ext uri="{FF2B5EF4-FFF2-40B4-BE49-F238E27FC236}">
                <a16:creationId xmlns:a16="http://schemas.microsoft.com/office/drawing/2014/main" id="{A86F5B49-1B6D-FD66-7925-AB6C5B8A33A9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C31409DC-C1F5-C08B-E72F-4424153005D8}"/>
              </a:ext>
            </a:extLst>
          </p:cNvPr>
          <p:cNvSpPr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NOWE FUNKCJE</a:t>
            </a:r>
            <a:endParaRPr lang="en-US" sz="1100" dirty="0"/>
          </a:p>
        </p:txBody>
      </p:sp>
      <p:sp>
        <p:nvSpPr>
          <p:cNvPr id="2" name="Text 12">
            <a:extLst>
              <a:ext uri="{FF2B5EF4-FFF2-40B4-BE49-F238E27FC236}">
                <a16:creationId xmlns:a16="http://schemas.microsoft.com/office/drawing/2014/main" id="{7DF40588-19BC-1AC6-1BCA-07BBB500C2B2}"/>
              </a:ext>
            </a:extLst>
          </p:cNvPr>
          <p:cNvSpPr/>
          <p:nvPr/>
        </p:nvSpPr>
        <p:spPr>
          <a:xfrm>
            <a:off x="3191256" y="2002536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Przed pisaniem: sugestia H2, s</a:t>
            </a:r>
            <a:r>
              <a:rPr lang="pl-PL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ł</a:t>
            </a: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 kluczowych i content gap. S</a:t>
            </a:r>
            <a:r>
              <a:rPr lang="pl-PL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ł</a:t>
            </a:r>
            <a:r>
              <a:rPr lang="en-US" sz="100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</a:t>
            </a: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kluczowe są klikalne i po dodaniu wizualnie oznaczane </a:t>
            </a:r>
            <a:r>
              <a:rPr lang="en-US" sz="100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jako</a:t>
            </a: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u</a:t>
            </a:r>
            <a:r>
              <a:rPr lang="pl-PL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</a:t>
            </a:r>
            <a:r>
              <a:rPr lang="en-US" sz="100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yte</a:t>
            </a: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3" name="Shape 18">
            <a:extLst>
              <a:ext uri="{FF2B5EF4-FFF2-40B4-BE49-F238E27FC236}">
                <a16:creationId xmlns:a16="http://schemas.microsoft.com/office/drawing/2014/main" id="{852FCAB8-6ADD-14B9-EBC2-E6121AF26F0A}"/>
              </a:ext>
            </a:extLst>
          </p:cNvPr>
          <p:cNvSpPr/>
          <p:nvPr/>
        </p:nvSpPr>
        <p:spPr>
          <a:xfrm>
            <a:off x="164592" y="2651760"/>
            <a:ext cx="2816352" cy="1060196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FCD73E1F-C31F-3DB3-F376-9E4330AF7C65}"/>
              </a:ext>
            </a:extLst>
          </p:cNvPr>
          <p:cNvSpPr/>
          <p:nvPr/>
        </p:nvSpPr>
        <p:spPr>
          <a:xfrm>
            <a:off x="164592" y="2651760"/>
            <a:ext cx="2816352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D9BACF4C-F759-E22D-1EA9-F8A44B07ABCC}"/>
              </a:ext>
            </a:extLst>
          </p:cNvPr>
          <p:cNvSpPr/>
          <p:nvPr/>
        </p:nvSpPr>
        <p:spPr>
          <a:xfrm>
            <a:off x="256032" y="275564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88056747-9B72-0FBB-C6BF-E732748C70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896" y="2811018"/>
            <a:ext cx="201168" cy="201168"/>
          </a:xfrm>
          <a:prstGeom prst="rect">
            <a:avLst/>
          </a:prstGeom>
        </p:spPr>
      </p:pic>
      <p:sp>
        <p:nvSpPr>
          <p:cNvPr id="54" name="Text 21">
            <a:extLst>
              <a:ext uri="{FF2B5EF4-FFF2-40B4-BE49-F238E27FC236}">
                <a16:creationId xmlns:a16="http://schemas.microsoft.com/office/drawing/2014/main" id="{CC861DE9-E161-08E5-6361-E34D3A56BA2C}"/>
              </a:ext>
            </a:extLst>
          </p:cNvPr>
          <p:cNvSpPr/>
          <p:nvPr/>
        </p:nvSpPr>
        <p:spPr>
          <a:xfrm>
            <a:off x="658368" y="274320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grafik</a:t>
            </a:r>
            <a:endParaRPr lang="en-US" sz="1200" dirty="0"/>
          </a:p>
        </p:txBody>
      </p:sp>
      <p:sp>
        <p:nvSpPr>
          <p:cNvPr id="55" name="Text 22">
            <a:extLst>
              <a:ext uri="{FF2B5EF4-FFF2-40B4-BE49-F238E27FC236}">
                <a16:creationId xmlns:a16="http://schemas.microsoft.com/office/drawing/2014/main" id="{603F9566-B429-BEB4-019B-AC9C49B8FC23}"/>
              </a:ext>
            </a:extLst>
          </p:cNvPr>
          <p:cNvSpPr/>
          <p:nvPr/>
        </p:nvSpPr>
        <p:spPr>
          <a:xfrm>
            <a:off x="256032" y="3081528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F6D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Claude projektuje prompt wizualny, GPT Image generuje grafikę. Grafika referencyjna pozwala zachować </a:t>
            </a: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same postacie lub styl w nowej scenie.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>
            <a:extLst>
              <a:ext uri="{FF2B5EF4-FFF2-40B4-BE49-F238E27FC236}">
                <a16:creationId xmlns:a16="http://schemas.microsoft.com/office/drawing/2014/main" id="{E2F8681D-CA7C-2114-1B1B-9AA8E92287DD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Rectangle 4"/>
          <p:cNvSpPr/>
          <p:nvPr/>
        </p:nvSpPr>
        <p:spPr>
          <a:xfrm>
            <a:off x="228600" y="1485721"/>
            <a:ext cx="4080000" cy="242000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8600" y="1575721"/>
            <a:ext cx="38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1E40AF"/>
                </a:solidFill>
              </a:rPr>
              <a:t xml:space="preserve">🔍  </a:t>
            </a:r>
            <a:r>
              <a:rPr sz="1200" b="1" dirty="0">
                <a:solidFill>
                  <a:srgbClr val="1E40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Analiza SERP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600" y="1885721"/>
            <a:ext cx="384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 err="1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Strukturalne</a:t>
            </a:r>
            <a:r>
              <a:rPr sz="1000" b="1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1000" b="1" dirty="0" err="1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dane</a:t>
            </a:r>
            <a:r>
              <a:rPr sz="1000" b="1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z top </a:t>
            </a:r>
            <a:r>
              <a:rPr sz="1000" b="1" dirty="0" err="1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wyników</a:t>
            </a:r>
            <a:r>
              <a:rPr sz="1000" b="1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Google: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600" y="2245721"/>
            <a:ext cx="3840000" cy="160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• </a:t>
            </a:r>
            <a:r>
              <a:rPr sz="10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Średnia</a:t>
            </a:r>
            <a:r>
              <a:rPr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10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liczba</a:t>
            </a:r>
            <a:r>
              <a:rPr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10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słów</a:t>
            </a:r>
            <a:r>
              <a:rPr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np. 1 400</a:t>
            </a:r>
            <a:endParaRPr lang="pl-PL" sz="1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pl-PL" sz="1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Średnia liczba sekcji H2: np. 8</a:t>
            </a:r>
          </a:p>
          <a:p>
            <a:endParaRPr lang="pl-PL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8 tematów z top wyników</a:t>
            </a:r>
          </a:p>
          <a:p>
            <a:endParaRPr lang="pl-PL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10 fraz kluczowych</a:t>
            </a:r>
          </a:p>
          <a:p>
            <a:endParaRPr lang="pl-PL" sz="950" dirty="0">
              <a:solidFill>
                <a:srgbClr val="1A1916"/>
              </a:solidFill>
            </a:endParaRPr>
          </a:p>
          <a:p>
            <a:endParaRPr lang="pl-PL" sz="950" dirty="0">
              <a:solidFill>
                <a:srgbClr val="1A1916"/>
              </a:solidFill>
            </a:endParaRPr>
          </a:p>
          <a:p>
            <a:pPr algn="l"/>
            <a:endParaRPr sz="950" b="0" dirty="0">
              <a:solidFill>
                <a:srgbClr val="1A1916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35400" y="1485721"/>
            <a:ext cx="4080000" cy="242000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5400" y="1575721"/>
            <a:ext cx="38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166534"/>
                </a:solidFill>
              </a:rPr>
              <a:t xml:space="preserve">🧩  </a:t>
            </a:r>
            <a:r>
              <a:rPr sz="1200" b="1" dirty="0">
                <a:solidFill>
                  <a:srgbClr val="1665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Luki </a:t>
            </a:r>
            <a:r>
              <a:rPr sz="1200" b="1" dirty="0" err="1">
                <a:solidFill>
                  <a:srgbClr val="1665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semantyczne</a:t>
            </a:r>
            <a:endParaRPr sz="1200" b="1" dirty="0">
              <a:solidFill>
                <a:srgbClr val="1665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55400" y="1885721"/>
            <a:ext cx="3840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 err="1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Porównanie</a:t>
            </a:r>
            <a:r>
              <a:rPr sz="1000" b="1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1000" b="1" dirty="0" err="1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artykułu</a:t>
            </a:r>
            <a:r>
              <a:rPr sz="1000" b="1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z </a:t>
            </a:r>
            <a:r>
              <a:rPr sz="1000" b="1" dirty="0" err="1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danymi</a:t>
            </a:r>
            <a:r>
              <a:rPr sz="1000" b="1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SERP: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5400" y="2245721"/>
            <a:ext cx="3840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• </a:t>
            </a:r>
            <a:r>
              <a:rPr sz="10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Wynik</a:t>
            </a:r>
            <a:r>
              <a:rPr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10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pokrycia</a:t>
            </a:r>
            <a:r>
              <a:rPr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52 → 78 pkt (+26)</a:t>
            </a:r>
            <a:endParaRPr lang="pl-PL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pl-PL" sz="1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l-PL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• </a:t>
            </a:r>
            <a:r>
              <a:rPr lang="pl-PL" sz="10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Checkboxy</a:t>
            </a:r>
            <a:r>
              <a:rPr lang="pl-PL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do wyboru tematów</a:t>
            </a:r>
          </a:p>
          <a:p>
            <a:pPr algn="l"/>
            <a:endParaRPr lang="pl-PL" sz="1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l-PL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Poprawa pod wybrane tematy - 1 klik</a:t>
            </a:r>
          </a:p>
          <a:p>
            <a:pPr algn="l"/>
            <a:endParaRPr lang="pl-PL" sz="10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l-PL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Kumulatywne śledzenie postępu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4005721"/>
            <a:ext cx="8686800" cy="430000"/>
          </a:xfrm>
          <a:prstGeom prst="rect">
            <a:avLst/>
          </a:prstGeom>
          <a:solidFill>
            <a:srgbClr val="1A1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000" y="3989530"/>
            <a:ext cx="240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Przed</a:t>
            </a:r>
            <a:r>
              <a:rPr sz="800" b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800" b="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poprawką</a:t>
            </a:r>
            <a:endParaRPr sz="800" b="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7000" y="4111442"/>
            <a:ext cx="24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52 / 100 pkt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5400" y="4041397"/>
            <a:ext cx="7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5A300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27002" y="3989530"/>
            <a:ext cx="240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Po </a:t>
            </a:r>
            <a:r>
              <a:rPr sz="800" b="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poprawce</a:t>
            </a:r>
            <a:endParaRPr sz="800" b="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27002" y="4111442"/>
            <a:ext cx="24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78 / 100 pkt (+26)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4485721"/>
            <a:ext cx="86868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Tematy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wybrane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przez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użytkownika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oznaczane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autorytatywnie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jako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pokryte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.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Wynik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AI po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każdej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poprawce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6" name="sec">
            <a:extLst>
              <a:ext uri="{FF2B5EF4-FFF2-40B4-BE49-F238E27FC236}">
                <a16:creationId xmlns:a16="http://schemas.microsoft.com/office/drawing/2014/main" id="{50BDC86F-029C-BCE5-85B9-92B0708085D4}"/>
              </a:ext>
            </a:extLst>
          </p:cNvPr>
          <p:cNvSpPr/>
          <p:nvPr/>
        </p:nvSpPr>
        <p:spPr>
          <a:xfrm>
            <a:off x="355400" y="155681"/>
            <a:ext cx="50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spc="50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ANALIZA SEO</a:t>
            </a:r>
            <a:endParaRPr lang="pl-PL" sz="11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C883B24C-0E0A-CC79-3193-4D93CA0A48DD}"/>
              </a:ext>
            </a:extLst>
          </p:cNvPr>
          <p:cNvSpPr/>
          <p:nvPr/>
        </p:nvSpPr>
        <p:spPr>
          <a:xfrm>
            <a:off x="365760" y="80467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SERP i Luki semantyczne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4C816085-64B0-C479-8C93-37E3951CB392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desc"/>
          <p:cNvSpPr/>
          <p:nvPr/>
        </p:nvSpPr>
        <p:spPr>
          <a:xfrm>
            <a:off x="228600" y="140360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Opcjonalny tryb głębokiej samokorekcji. Artykuł jest generowany, oceniany i poprawiany w jednej sesji.</a:t>
            </a:r>
            <a:endParaRPr lang="pl-PL" sz="1100" dirty="0"/>
          </a:p>
        </p:txBody>
      </p:sp>
      <p:sp>
        <p:nvSpPr>
          <p:cNvPr id="20" name="step_bg"/>
          <p:cNvSpPr/>
          <p:nvPr/>
        </p:nvSpPr>
        <p:spPr>
          <a:xfrm>
            <a:off x="228600" y="1723284"/>
            <a:ext cx="8686800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21" name="num"/>
          <p:cNvSpPr/>
          <p:nvPr/>
        </p:nvSpPr>
        <p:spPr>
          <a:xfrm>
            <a:off x="301752" y="176900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600" b="1" dirty="0">
                <a:solidFill>
                  <a:srgbClr val="1E40AF"/>
                </a:solidFill>
                <a:latin typeface="Arial" pitchFamily="34" charset="0"/>
                <a:ea typeface="Arial"/>
                <a:cs typeface="Arial"/>
              </a:rPr>
              <a:t>1</a:t>
            </a:r>
            <a:endParaRPr lang="pl-PL" sz="1600" dirty="0"/>
          </a:p>
        </p:txBody>
      </p:sp>
      <p:sp>
        <p:nvSpPr>
          <p:cNvPr id="22" name="stxt"/>
          <p:cNvSpPr/>
          <p:nvPr/>
        </p:nvSpPr>
        <p:spPr>
          <a:xfrm>
            <a:off x="594360" y="1759860"/>
            <a:ext cx="826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05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Generowanie artykułu na podstawie bazy wiedzy i danych SERP</a:t>
            </a:r>
            <a:endParaRPr lang="pl-PL" sz="1050" dirty="0"/>
          </a:p>
        </p:txBody>
      </p:sp>
      <p:sp>
        <p:nvSpPr>
          <p:cNvPr id="23" name="step_bg"/>
          <p:cNvSpPr/>
          <p:nvPr/>
        </p:nvSpPr>
        <p:spPr>
          <a:xfrm>
            <a:off x="228600" y="2180484"/>
            <a:ext cx="8686800" cy="411480"/>
          </a:xfrm>
          <a:prstGeom prst="rect">
            <a:avLst/>
          </a:prstGeom>
          <a:solidFill>
            <a:srgbClr val="FFFBEB"/>
          </a:solidFill>
          <a:ln w="10160">
            <a:solidFill>
              <a:srgbClr val="D97706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24" name="num"/>
          <p:cNvSpPr/>
          <p:nvPr/>
        </p:nvSpPr>
        <p:spPr>
          <a:xfrm>
            <a:off x="301752" y="222620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600" b="1" dirty="0">
                <a:solidFill>
                  <a:srgbClr val="B45309"/>
                </a:solidFill>
                <a:latin typeface="Arial" pitchFamily="34" charset="0"/>
                <a:ea typeface="Arial"/>
                <a:cs typeface="Arial"/>
              </a:rPr>
              <a:t>2</a:t>
            </a:r>
            <a:endParaRPr lang="pl-PL" sz="1600" dirty="0"/>
          </a:p>
        </p:txBody>
      </p:sp>
      <p:sp>
        <p:nvSpPr>
          <p:cNvPr id="25" name="stxt"/>
          <p:cNvSpPr/>
          <p:nvPr/>
        </p:nvSpPr>
        <p:spPr>
          <a:xfrm>
            <a:off x="594360" y="2217060"/>
            <a:ext cx="826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05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Ocena artykułu: sprawdzanie wymagań SEO i AIO, wynik 0-100 pkt</a:t>
            </a:r>
            <a:endParaRPr lang="pl-PL" sz="1050" dirty="0"/>
          </a:p>
        </p:txBody>
      </p:sp>
      <p:sp>
        <p:nvSpPr>
          <p:cNvPr id="26" name="step_bg"/>
          <p:cNvSpPr/>
          <p:nvPr/>
        </p:nvSpPr>
        <p:spPr>
          <a:xfrm>
            <a:off x="228600" y="2637684"/>
            <a:ext cx="8686800" cy="411480"/>
          </a:xfrm>
          <a:prstGeom prst="rect">
            <a:avLst/>
          </a:prstGeom>
          <a:solidFill>
            <a:srgbClr val="FEF2F2"/>
          </a:solidFill>
          <a:ln w="10160">
            <a:solidFill>
              <a:srgbClr val="DC2626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27" name="num"/>
          <p:cNvSpPr/>
          <p:nvPr/>
        </p:nvSpPr>
        <p:spPr>
          <a:xfrm>
            <a:off x="301752" y="268340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600" b="1" dirty="0">
                <a:solidFill>
                  <a:srgbClr val="B91C1C"/>
                </a:solidFill>
                <a:latin typeface="Arial" pitchFamily="34" charset="0"/>
                <a:ea typeface="Arial"/>
                <a:cs typeface="Arial"/>
              </a:rPr>
              <a:t>3</a:t>
            </a:r>
            <a:endParaRPr lang="pl-PL" sz="1600" dirty="0"/>
          </a:p>
        </p:txBody>
      </p:sp>
      <p:sp>
        <p:nvSpPr>
          <p:cNvPr id="28" name="stxt"/>
          <p:cNvSpPr/>
          <p:nvPr/>
        </p:nvSpPr>
        <p:spPr>
          <a:xfrm>
            <a:off x="594360" y="2674260"/>
            <a:ext cx="826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05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Jeśli wynik poniżej 82 pkt: automatyczna poprawa z listą konkretnych problemów</a:t>
            </a:r>
            <a:endParaRPr lang="pl-PL" sz="1050" dirty="0"/>
          </a:p>
        </p:txBody>
      </p:sp>
      <p:sp>
        <p:nvSpPr>
          <p:cNvPr id="29" name="step_bg"/>
          <p:cNvSpPr/>
          <p:nvPr/>
        </p:nvSpPr>
        <p:spPr>
          <a:xfrm>
            <a:off x="228600" y="3094884"/>
            <a:ext cx="8686800" cy="411480"/>
          </a:xfrm>
          <a:prstGeom prst="rect">
            <a:avLst/>
          </a:prstGeom>
          <a:solidFill>
            <a:srgbClr val="F0FDF4"/>
          </a:solidFill>
          <a:ln w="10160">
            <a:solidFill>
              <a:srgbClr val="16A34A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30" name="num"/>
          <p:cNvSpPr/>
          <p:nvPr/>
        </p:nvSpPr>
        <p:spPr>
          <a:xfrm>
            <a:off x="301752" y="314060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600" b="1" dirty="0">
                <a:solidFill>
                  <a:srgbClr val="166534"/>
                </a:solidFill>
                <a:latin typeface="Arial" pitchFamily="34" charset="0"/>
                <a:ea typeface="Arial"/>
                <a:cs typeface="Arial"/>
              </a:rPr>
              <a:t>4</a:t>
            </a:r>
            <a:endParaRPr lang="pl-PL" sz="1600" dirty="0"/>
          </a:p>
        </p:txBody>
      </p:sp>
      <p:sp>
        <p:nvSpPr>
          <p:cNvPr id="31" name="stxt"/>
          <p:cNvSpPr/>
          <p:nvPr/>
        </p:nvSpPr>
        <p:spPr>
          <a:xfrm>
            <a:off x="594360" y="3131460"/>
            <a:ext cx="826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05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Obie wersje artykułu dostępne do porównania w systemie wersjonowania</a:t>
            </a:r>
            <a:endParaRPr lang="pl-PL" sz="1050" dirty="0"/>
          </a:p>
        </p:txBody>
      </p:sp>
      <p:sp>
        <p:nvSpPr>
          <p:cNvPr id="40" name="cmp"/>
          <p:cNvSpPr/>
          <p:nvPr/>
        </p:nvSpPr>
        <p:spPr>
          <a:xfrm>
            <a:off x="228600" y="3671343"/>
            <a:ext cx="868680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000" dirty="0">
                <a:solidFill>
                  <a:srgbClr val="9CA3AF"/>
                </a:solidFill>
                <a:latin typeface="Arial" pitchFamily="34" charset="0"/>
                <a:ea typeface="Arial"/>
                <a:cs typeface="Arial"/>
              </a:rPr>
              <a:t>Standardowy: 1 wywołanie API - ok. 35 sek.     |     Premium: 2-3 wywołania API - ok. 90-110 sek.</a:t>
            </a:r>
            <a:endParaRPr lang="pl-PL" sz="1000" dirty="0"/>
          </a:p>
        </p:txBody>
      </p:sp>
      <p:sp>
        <p:nvSpPr>
          <p:cNvPr id="41" name="note"/>
          <p:cNvSpPr/>
          <p:nvPr/>
        </p:nvSpPr>
        <p:spPr>
          <a:xfrm>
            <a:off x="228600" y="3945981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000" dirty="0">
                <a:solidFill>
                  <a:srgbClr val="6B7280"/>
                </a:solidFill>
                <a:latin typeface="Arial" pitchFamily="34" charset="0"/>
                <a:ea typeface="Arial"/>
                <a:cs typeface="Arial"/>
              </a:rPr>
              <a:t>Przycisk "Jakość Premium" aktywuje tryb przed generowaniem lub uruchamia korektę po wygenerowaniu.</a:t>
            </a:r>
            <a:endParaRPr lang="pl-PL" sz="10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3318B31-90AD-BF2E-143E-C2FB76BD56BB}"/>
              </a:ext>
            </a:extLst>
          </p:cNvPr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kern="0" spc="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JAKOŚĆ GENEROWANIA</a:t>
            </a:r>
            <a:endParaRPr lang="en-US" sz="11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1A9E54D-C743-307C-FA54-D03903E23246}"/>
              </a:ext>
            </a:extLst>
          </p:cNvPr>
          <p:cNvSpPr/>
          <p:nvPr/>
        </p:nvSpPr>
        <p:spPr>
          <a:xfrm>
            <a:off x="365760" y="80467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Tryb Jakość Premium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l_hdr"/>
          <p:cNvSpPr/>
          <p:nvPr/>
        </p:nvSpPr>
        <p:spPr>
          <a:xfrm>
            <a:off x="228600" y="1434441"/>
            <a:ext cx="8686800" cy="274638"/>
          </a:xfrm>
          <a:prstGeom prst="rect">
            <a:avLst/>
          </a:prstGeom>
          <a:solidFill>
            <a:srgbClr val="1A1916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" name="ch1"/>
          <p:cNvSpPr/>
          <p:nvPr/>
        </p:nvSpPr>
        <p:spPr>
          <a:xfrm>
            <a:off x="320040" y="1097280"/>
            <a:ext cx="228600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000" b="1" dirty="0">
                <a:solidFill>
                  <a:srgbClr val="FFFFFF"/>
                </a:solidFill>
                <a:latin typeface="Arial" pitchFamily="34" charset="0"/>
                <a:ea typeface="Arial"/>
                <a:cs typeface="Arial"/>
              </a:rPr>
              <a:t>Narzędzie</a:t>
            </a:r>
            <a:endParaRPr lang="pl-PL" sz="1000" dirty="0"/>
          </a:p>
        </p:txBody>
      </p:sp>
      <p:sp>
        <p:nvSpPr>
          <p:cNvPr id="12" name="ch2"/>
          <p:cNvSpPr/>
          <p:nvPr/>
        </p:nvSpPr>
        <p:spPr>
          <a:xfrm>
            <a:off x="2606040" y="1097280"/>
            <a:ext cx="137160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000" b="1" dirty="0">
                <a:solidFill>
                  <a:srgbClr val="FFFFFF"/>
                </a:solidFill>
                <a:latin typeface="Arial" pitchFamily="34" charset="0"/>
                <a:ea typeface="Arial"/>
                <a:cs typeface="Arial"/>
              </a:rPr>
              <a:t>Pozycja</a:t>
            </a:r>
            <a:endParaRPr lang="pl-PL" sz="1000" dirty="0"/>
          </a:p>
        </p:txBody>
      </p:sp>
      <p:sp>
        <p:nvSpPr>
          <p:cNvPr id="13" name="ch3"/>
          <p:cNvSpPr/>
          <p:nvPr/>
        </p:nvSpPr>
        <p:spPr>
          <a:xfrm>
            <a:off x="3977640" y="1097280"/>
            <a:ext cx="54864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pl-PL" sz="1000" dirty="0"/>
          </a:p>
        </p:txBody>
      </p:sp>
      <p:sp>
        <p:nvSpPr>
          <p:cNvPr id="14" name="ch4"/>
          <p:cNvSpPr/>
          <p:nvPr/>
        </p:nvSpPr>
        <p:spPr>
          <a:xfrm>
            <a:off x="4526280" y="1097280"/>
            <a:ext cx="438912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000" b="1" dirty="0">
                <a:solidFill>
                  <a:srgbClr val="FFFFFF"/>
                </a:solidFill>
                <a:latin typeface="Arial" pitchFamily="34" charset="0"/>
                <a:ea typeface="Arial"/>
                <a:cs typeface="Arial"/>
              </a:rPr>
              <a:t>Komentarz</a:t>
            </a:r>
            <a:endParaRPr lang="pl-PL" sz="1000" dirty="0"/>
          </a:p>
        </p:txBody>
      </p:sp>
      <p:sp>
        <p:nvSpPr>
          <p:cNvPr id="5" name="row_bg"/>
          <p:cNvSpPr/>
          <p:nvPr/>
        </p:nvSpPr>
        <p:spPr>
          <a:xfrm>
            <a:off x="228600" y="1525881"/>
            <a:ext cx="8686800" cy="383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6" name="tool"/>
          <p:cNvSpPr/>
          <p:nvPr/>
        </p:nvSpPr>
        <p:spPr>
          <a:xfrm>
            <a:off x="320040" y="1525881"/>
            <a:ext cx="22860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Frase.io ($15-115/mies.)</a:t>
            </a:r>
            <a:endParaRPr lang="pl-PL" sz="1100" dirty="0"/>
          </a:p>
        </p:txBody>
      </p:sp>
      <p:sp>
        <p:nvSpPr>
          <p:cNvPr id="7" name="score"/>
          <p:cNvSpPr/>
          <p:nvPr/>
        </p:nvSpPr>
        <p:spPr>
          <a:xfrm>
            <a:off x="2606040" y="1525881"/>
            <a:ext cx="13716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100" b="1" dirty="0">
                <a:solidFill>
                  <a:srgbClr val="4861A6"/>
                </a:solidFill>
                <a:latin typeface="Arial" pitchFamily="34" charset="0"/>
                <a:ea typeface="Arial"/>
                <a:cs typeface="Arial"/>
              </a:rPr>
              <a:t>PODOBNY</a:t>
            </a:r>
            <a:endParaRPr lang="pl-PL" sz="1100" dirty="0">
              <a:solidFill>
                <a:srgbClr val="4861A6"/>
              </a:solidFill>
            </a:endParaRPr>
          </a:p>
        </p:txBody>
      </p:sp>
      <p:sp>
        <p:nvSpPr>
          <p:cNvPr id="8" name="arrow"/>
          <p:cNvSpPr/>
          <p:nvPr/>
        </p:nvSpPr>
        <p:spPr>
          <a:xfrm>
            <a:off x="3977640" y="1525881"/>
            <a:ext cx="54864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80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=</a:t>
            </a:r>
            <a:endParaRPr lang="pl-PL" sz="1800" dirty="0"/>
          </a:p>
        </p:txBody>
      </p:sp>
      <p:sp>
        <p:nvSpPr>
          <p:cNvPr id="9" name="desc"/>
          <p:cNvSpPr/>
          <p:nvPr/>
        </p:nvSpPr>
        <p:spPr>
          <a:xfrm>
            <a:off x="4526280" y="1525881"/>
            <a:ext cx="438912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 xml:space="preserve">Porównywalna analiza SERP, semantic gap AI vs. NLP. </a:t>
            </a:r>
            <a:r>
              <a:rPr lang="pl-PL" sz="950" b="1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Content AI wygrywa bazą wiedzy firmowej, AIO, kosztem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.</a:t>
            </a:r>
            <a:endParaRPr lang="pl-PL" sz="950" dirty="0"/>
          </a:p>
        </p:txBody>
      </p:sp>
      <p:sp>
        <p:nvSpPr>
          <p:cNvPr id="15" name="row_bg"/>
          <p:cNvSpPr/>
          <p:nvPr/>
        </p:nvSpPr>
        <p:spPr>
          <a:xfrm>
            <a:off x="228600" y="1954641"/>
            <a:ext cx="8686800" cy="383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6" name="tool"/>
          <p:cNvSpPr/>
          <p:nvPr/>
        </p:nvSpPr>
        <p:spPr>
          <a:xfrm>
            <a:off x="320040" y="1954641"/>
            <a:ext cx="22860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NeuronWriter ($19-97/mies.)</a:t>
            </a:r>
            <a:endParaRPr lang="pl-PL" sz="1100" dirty="0"/>
          </a:p>
        </p:txBody>
      </p:sp>
      <p:sp>
        <p:nvSpPr>
          <p:cNvPr id="17" name="score"/>
          <p:cNvSpPr/>
          <p:nvPr/>
        </p:nvSpPr>
        <p:spPr>
          <a:xfrm>
            <a:off x="2606040" y="1954641"/>
            <a:ext cx="13716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100" b="1" dirty="0">
                <a:solidFill>
                  <a:srgbClr val="4861A6"/>
                </a:solidFill>
                <a:latin typeface="Arial" pitchFamily="34" charset="0"/>
                <a:ea typeface="Arial"/>
                <a:cs typeface="Arial"/>
              </a:rPr>
              <a:t>PODOBNY</a:t>
            </a:r>
            <a:endParaRPr lang="pl-PL" sz="1100" dirty="0">
              <a:solidFill>
                <a:srgbClr val="4861A6"/>
              </a:solidFill>
            </a:endParaRPr>
          </a:p>
        </p:txBody>
      </p:sp>
      <p:sp>
        <p:nvSpPr>
          <p:cNvPr id="18" name="arrow"/>
          <p:cNvSpPr/>
          <p:nvPr/>
        </p:nvSpPr>
        <p:spPr>
          <a:xfrm>
            <a:off x="3977640" y="1954641"/>
            <a:ext cx="54864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80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~</a:t>
            </a:r>
            <a:endParaRPr lang="pl-PL" sz="1800" dirty="0"/>
          </a:p>
        </p:txBody>
      </p:sp>
      <p:sp>
        <p:nvSpPr>
          <p:cNvPr id="19" name="desc"/>
          <p:cNvSpPr/>
          <p:nvPr/>
        </p:nvSpPr>
        <p:spPr>
          <a:xfrm>
            <a:off x="4526280" y="1954641"/>
            <a:ext cx="438912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950" dirty="0" err="1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NeuronWriter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 xml:space="preserve"> lepszy w NLP term scoring. </a:t>
            </a:r>
            <a:r>
              <a:rPr lang="pl-PL" sz="950" b="1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Content AI  jest lepszy w wiedzy i AIO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.</a:t>
            </a:r>
            <a:endParaRPr lang="pl-PL" sz="950" dirty="0"/>
          </a:p>
        </p:txBody>
      </p:sp>
      <p:sp>
        <p:nvSpPr>
          <p:cNvPr id="20" name="row_bg"/>
          <p:cNvSpPr/>
          <p:nvPr/>
        </p:nvSpPr>
        <p:spPr>
          <a:xfrm>
            <a:off x="228600" y="2383401"/>
            <a:ext cx="8686800" cy="383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21" name="tool"/>
          <p:cNvSpPr/>
          <p:nvPr/>
        </p:nvSpPr>
        <p:spPr>
          <a:xfrm>
            <a:off x="320040" y="2383401"/>
            <a:ext cx="22860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Surfer SEO ($89-219/mies.)</a:t>
            </a:r>
            <a:endParaRPr lang="pl-PL" sz="1100" dirty="0"/>
          </a:p>
        </p:txBody>
      </p:sp>
      <p:sp>
        <p:nvSpPr>
          <p:cNvPr id="22" name="score"/>
          <p:cNvSpPr/>
          <p:nvPr/>
        </p:nvSpPr>
        <p:spPr>
          <a:xfrm>
            <a:off x="2606040" y="2383401"/>
            <a:ext cx="13716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100" b="1" dirty="0">
                <a:solidFill>
                  <a:schemeClr val="accent2"/>
                </a:solidFill>
                <a:latin typeface="Arial" pitchFamily="34" charset="0"/>
                <a:ea typeface="Arial"/>
                <a:cs typeface="Arial"/>
              </a:rPr>
              <a:t>LEPSZY</a:t>
            </a:r>
            <a:endParaRPr lang="pl-PL" sz="1100" dirty="0">
              <a:solidFill>
                <a:schemeClr val="accent2"/>
              </a:solidFill>
            </a:endParaRPr>
          </a:p>
        </p:txBody>
      </p:sp>
      <p:sp>
        <p:nvSpPr>
          <p:cNvPr id="23" name="arrow"/>
          <p:cNvSpPr/>
          <p:nvPr/>
        </p:nvSpPr>
        <p:spPr>
          <a:xfrm>
            <a:off x="3977640" y="2383401"/>
            <a:ext cx="54864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80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↗</a:t>
            </a:r>
            <a:endParaRPr lang="pl-PL" sz="1800" dirty="0"/>
          </a:p>
        </p:txBody>
      </p:sp>
      <p:sp>
        <p:nvSpPr>
          <p:cNvPr id="24" name="desc"/>
          <p:cNvSpPr/>
          <p:nvPr/>
        </p:nvSpPr>
        <p:spPr>
          <a:xfrm>
            <a:off x="4526280" y="2383401"/>
            <a:ext cx="438912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 xml:space="preserve">Surfer wygrywa live danymi Google (volume, NLP). </a:t>
            </a:r>
            <a:r>
              <a:rPr lang="pl-PL" sz="950" b="1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Content AI blisko w funkcjach SEO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.</a:t>
            </a:r>
            <a:endParaRPr lang="pl-PL" sz="950" dirty="0"/>
          </a:p>
        </p:txBody>
      </p:sp>
      <p:sp>
        <p:nvSpPr>
          <p:cNvPr id="25" name="row_bg"/>
          <p:cNvSpPr/>
          <p:nvPr/>
        </p:nvSpPr>
        <p:spPr>
          <a:xfrm>
            <a:off x="228600" y="2812161"/>
            <a:ext cx="8686800" cy="383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26" name="tool"/>
          <p:cNvSpPr/>
          <p:nvPr/>
        </p:nvSpPr>
        <p:spPr>
          <a:xfrm>
            <a:off x="320040" y="2812161"/>
            <a:ext cx="22860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Jasper AI ($49-125/seat)</a:t>
            </a:r>
            <a:endParaRPr lang="pl-PL" sz="1100" dirty="0"/>
          </a:p>
        </p:txBody>
      </p:sp>
      <p:sp>
        <p:nvSpPr>
          <p:cNvPr id="27" name="score"/>
          <p:cNvSpPr/>
          <p:nvPr/>
        </p:nvSpPr>
        <p:spPr>
          <a:xfrm>
            <a:off x="2606040" y="2812161"/>
            <a:ext cx="13716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100" b="1" dirty="0">
                <a:solidFill>
                  <a:srgbClr val="447A58"/>
                </a:solidFill>
                <a:latin typeface="Arial" pitchFamily="34" charset="0"/>
                <a:cs typeface="Arial"/>
              </a:rPr>
              <a:t>GORSZY</a:t>
            </a:r>
            <a:endParaRPr lang="pl-PL" sz="1100" dirty="0">
              <a:solidFill>
                <a:srgbClr val="447A58"/>
              </a:solidFill>
            </a:endParaRPr>
          </a:p>
        </p:txBody>
      </p:sp>
      <p:sp>
        <p:nvSpPr>
          <p:cNvPr id="28" name="arrow"/>
          <p:cNvSpPr/>
          <p:nvPr/>
        </p:nvSpPr>
        <p:spPr>
          <a:xfrm>
            <a:off x="3977640" y="2812161"/>
            <a:ext cx="54864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80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↑</a:t>
            </a:r>
            <a:endParaRPr lang="pl-PL" sz="1800" dirty="0"/>
          </a:p>
        </p:txBody>
      </p:sp>
      <p:sp>
        <p:nvSpPr>
          <p:cNvPr id="29" name="desc"/>
          <p:cNvSpPr/>
          <p:nvPr/>
        </p:nvSpPr>
        <p:spPr>
          <a:xfrm>
            <a:off x="4526280" y="2812161"/>
            <a:ext cx="438912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 xml:space="preserve">Jasper to ogólne pisanie. </a:t>
            </a:r>
            <a:r>
              <a:rPr lang="pl-PL" sz="950" b="1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Content AI lepszy: SERP, KD, FOG, AIO, baza wiedzy, semantic gap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.</a:t>
            </a:r>
            <a:endParaRPr lang="pl-PL" sz="950" dirty="0"/>
          </a:p>
        </p:txBody>
      </p:sp>
      <p:sp>
        <p:nvSpPr>
          <p:cNvPr id="30" name="row_bg"/>
          <p:cNvSpPr/>
          <p:nvPr/>
        </p:nvSpPr>
        <p:spPr>
          <a:xfrm>
            <a:off x="228600" y="3240921"/>
            <a:ext cx="8686800" cy="383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31" name="tool"/>
          <p:cNvSpPr/>
          <p:nvPr/>
        </p:nvSpPr>
        <p:spPr>
          <a:xfrm>
            <a:off x="320040" y="3240921"/>
            <a:ext cx="22860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Writesonic / Copy.ai ($16-99)</a:t>
            </a:r>
            <a:endParaRPr lang="pl-PL" sz="1100" dirty="0"/>
          </a:p>
        </p:txBody>
      </p:sp>
      <p:sp>
        <p:nvSpPr>
          <p:cNvPr id="32" name="score"/>
          <p:cNvSpPr/>
          <p:nvPr/>
        </p:nvSpPr>
        <p:spPr>
          <a:xfrm>
            <a:off x="2606040" y="3240921"/>
            <a:ext cx="13716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100" b="1" dirty="0">
                <a:solidFill>
                  <a:srgbClr val="447A58"/>
                </a:solidFill>
                <a:latin typeface="Arial" pitchFamily="34" charset="0"/>
                <a:ea typeface="Arial"/>
                <a:cs typeface="Arial"/>
              </a:rPr>
              <a:t xml:space="preserve">WYRAŹNIE </a:t>
            </a:r>
            <a:br>
              <a:rPr lang="pl-PL" sz="1100" b="1" dirty="0">
                <a:solidFill>
                  <a:srgbClr val="447A58"/>
                </a:solidFill>
                <a:latin typeface="Arial" pitchFamily="34" charset="0"/>
                <a:ea typeface="Arial"/>
                <a:cs typeface="Arial"/>
              </a:rPr>
            </a:br>
            <a:r>
              <a:rPr lang="pl-PL" sz="1100" b="1" dirty="0">
                <a:solidFill>
                  <a:srgbClr val="447A58"/>
                </a:solidFill>
                <a:latin typeface="Arial" pitchFamily="34" charset="0"/>
                <a:ea typeface="Arial"/>
                <a:cs typeface="Arial"/>
              </a:rPr>
              <a:t>GORSZY</a:t>
            </a:r>
            <a:endParaRPr lang="pl-PL" sz="1100" dirty="0">
              <a:solidFill>
                <a:srgbClr val="447A58"/>
              </a:solidFill>
            </a:endParaRPr>
          </a:p>
        </p:txBody>
      </p:sp>
      <p:sp>
        <p:nvSpPr>
          <p:cNvPr id="33" name="arrow"/>
          <p:cNvSpPr/>
          <p:nvPr/>
        </p:nvSpPr>
        <p:spPr>
          <a:xfrm>
            <a:off x="3977640" y="3240921"/>
            <a:ext cx="54864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80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↑↑</a:t>
            </a:r>
            <a:endParaRPr lang="pl-PL" sz="1800" dirty="0"/>
          </a:p>
        </p:txBody>
      </p:sp>
      <p:sp>
        <p:nvSpPr>
          <p:cNvPr id="34" name="desc"/>
          <p:cNvSpPr/>
          <p:nvPr/>
        </p:nvSpPr>
        <p:spPr>
          <a:xfrm>
            <a:off x="4526280" y="3240921"/>
            <a:ext cx="438912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 xml:space="preserve">Brak SEO analysis, brak AIO, brak bazy wiedzy. </a:t>
            </a:r>
            <a:r>
              <a:rPr lang="pl-PL" sz="950" b="1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Content AI ma pełną przewagę funkcjonalną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.</a:t>
            </a:r>
            <a:endParaRPr lang="pl-PL" sz="950" dirty="0"/>
          </a:p>
        </p:txBody>
      </p:sp>
      <p:sp>
        <p:nvSpPr>
          <p:cNvPr id="90" name="note"/>
          <p:cNvSpPr/>
          <p:nvPr/>
        </p:nvSpPr>
        <p:spPr>
          <a:xfrm>
            <a:off x="228600" y="3715401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950" dirty="0">
                <a:solidFill>
                  <a:srgbClr val="9CA3AF"/>
                </a:solidFill>
                <a:latin typeface="Arial" pitchFamily="34" charset="0"/>
                <a:ea typeface="Arial"/>
                <a:cs typeface="Arial"/>
              </a:rPr>
              <a:t>Główna luka vs. Surfer/NeuronWriter: brak live danych z Google (search volume, NLP term scoring). Wymaga płatnego zewnętrznego API.</a:t>
            </a:r>
            <a:endParaRPr lang="pl-PL" sz="950" dirty="0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FBACC9DE-A7B5-3717-65B1-96D0A9A19F6D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DB79CE8F-7160-060F-12CF-5158F74976C4}"/>
              </a:ext>
            </a:extLst>
          </p:cNvPr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kern="0" spc="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OCENA RYNKOWA</a:t>
            </a:r>
            <a:endParaRPr lang="en-US" sz="1100" dirty="0"/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D302D062-D0A9-CB30-78A9-637236099567}"/>
              </a:ext>
            </a:extLst>
          </p:cNvPr>
          <p:cNvSpPr/>
          <p:nvPr/>
        </p:nvSpPr>
        <p:spPr>
          <a:xfrm>
            <a:off x="365760" y="80467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AI Content</a:t>
            </a:r>
            <a:r>
              <a:rPr lang="pl-PL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</a:t>
            </a:r>
            <a:r>
              <a:rPr lang="it-IT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AI vs. </a:t>
            </a:r>
            <a:r>
              <a:rPr lang="it-IT" sz="2400" b="1" dirty="0" err="1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rynek</a:t>
            </a:r>
            <a:r>
              <a:rPr lang="it-IT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 8.7 / 10</a:t>
            </a:r>
          </a:p>
        </p:txBody>
      </p:sp>
      <p:sp>
        <p:nvSpPr>
          <p:cNvPr id="2" name="note">
            <a:extLst>
              <a:ext uri="{FF2B5EF4-FFF2-40B4-BE49-F238E27FC236}">
                <a16:creationId xmlns:a16="http://schemas.microsoft.com/office/drawing/2014/main" id="{58B5943F-F051-0D25-F2BB-9CC3E9B9A335}"/>
              </a:ext>
            </a:extLst>
          </p:cNvPr>
          <p:cNvSpPr/>
          <p:nvPr/>
        </p:nvSpPr>
        <p:spPr>
          <a:xfrm>
            <a:off x="228600" y="402923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950" dirty="0">
                <a:solidFill>
                  <a:srgbClr val="447A58"/>
                </a:solidFill>
                <a:latin typeface="Arial" pitchFamily="34" charset="0"/>
                <a:cs typeface="Arial"/>
              </a:rPr>
              <a:t>Żadna z wymienionych firm nie posiada funkcjonalności generowania grafik.</a:t>
            </a:r>
            <a:endParaRPr lang="pl-PL" dirty="0">
              <a:solidFill>
                <a:srgbClr val="447A5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OCENA SEO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 jakiej zasadzie działa ocena SEO?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52360" y="749808"/>
            <a:ext cx="1463040" cy="64008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452360" y="777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r>
              <a:rPr lang="pl-PL" sz="13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</a:t>
            </a:r>
            <a:r>
              <a:rPr lang="en-US" sz="13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 pkt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52360" y="10789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wynik SEO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38251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jest oceniane: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793994"/>
            <a:ext cx="4160520" cy="484632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347472" y="189457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945903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808" y="183057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Słowa kluczowe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" y="202259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 słowa kluczowe z pola formularza pojawiają się naturalnie w H1, H2 i treści artykułu?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2333490"/>
            <a:ext cx="4160520" cy="484632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5" name="Shape 12"/>
          <p:cNvSpPr/>
          <p:nvPr/>
        </p:nvSpPr>
        <p:spPr>
          <a:xfrm>
            <a:off x="347472" y="243407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2489233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9807" y="2370066"/>
            <a:ext cx="2232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Struktura nagłówków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49808" y="256209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 H1 jest jeden i jasny? Czy H2 dzielą temat na logiczne sekcje?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74320" y="2872986"/>
            <a:ext cx="4160520" cy="484632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Shape 16"/>
          <p:cNvSpPr/>
          <p:nvPr/>
        </p:nvSpPr>
        <p:spPr>
          <a:xfrm>
            <a:off x="347472" y="297357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3026664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9807" y="2909562"/>
            <a:ext cx="20860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Kompletność artykułu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49808" y="310158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 artykuł ma wstęp, rozbudowane sekcje i podsumowanie? Brak urwanych zdań.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74320" y="3412482"/>
            <a:ext cx="4160520" cy="484632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5" name="Shape 20"/>
          <p:cNvSpPr/>
          <p:nvPr/>
        </p:nvSpPr>
        <p:spPr>
          <a:xfrm>
            <a:off x="347472" y="351306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66" y="3577074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9808" y="344905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description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49808" y="364108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 meta opis ma 150-160 znaków i zawiera główne słowo kluczowe?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274320" y="3951978"/>
            <a:ext cx="4160520" cy="484632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0" name="Shape 24"/>
          <p:cNvSpPr/>
          <p:nvPr/>
        </p:nvSpPr>
        <p:spPr>
          <a:xfrm>
            <a:off x="347472" y="405256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" y="4103591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49807" y="3988554"/>
            <a:ext cx="23310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Głębokość i konkrety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749808" y="418057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 treść zawiera liczby, wymiary, terminy? Czy omawia temat wyczerpująco?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4709160" y="138251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Czego ocena NIE penalizuje: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4709160" y="1793994"/>
            <a:ext cx="4160520" cy="365760"/>
          </a:xfrm>
          <a:prstGeom prst="rect">
            <a:avLst/>
          </a:prstGeom>
          <a:solidFill>
            <a:srgbClr val="FFF8CC"/>
          </a:solidFill>
          <a:ln w="63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29"/>
          <p:cNvSpPr/>
          <p:nvPr/>
        </p:nvSpPr>
        <p:spPr>
          <a:xfrm>
            <a:off x="4773168" y="179399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5084064" y="179399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linków wewnętrznych i zewnętrznych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4709160" y="2214618"/>
            <a:ext cx="4160520" cy="365760"/>
          </a:xfrm>
          <a:prstGeom prst="rect">
            <a:avLst/>
          </a:prstGeom>
          <a:solidFill>
            <a:srgbClr val="FFF8CC"/>
          </a:solidFill>
          <a:ln w="63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2"/>
          <p:cNvSpPr/>
          <p:nvPr/>
        </p:nvSpPr>
        <p:spPr>
          <a:xfrm>
            <a:off x="4773168" y="221461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5084064" y="221461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Optymalizacja techniczna strony (SEO techniczne)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4709160" y="2635242"/>
            <a:ext cx="4160520" cy="365760"/>
          </a:xfrm>
          <a:prstGeom prst="rect">
            <a:avLst/>
          </a:prstGeom>
          <a:solidFill>
            <a:srgbClr val="FFF8CC"/>
          </a:solidFill>
          <a:ln w="63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35"/>
          <p:cNvSpPr/>
          <p:nvPr/>
        </p:nvSpPr>
        <p:spPr>
          <a:xfrm>
            <a:off x="4773168" y="263524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5084064" y="263524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Brak cen, case studies, danych z </a:t>
            </a:r>
            <a:r>
              <a:rPr lang="en-US" sz="1050" dirty="0" err="1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rynku</a:t>
            </a:r>
            <a:r>
              <a:rPr lang="en-US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jeśli nie ma ich w bazie wiedzy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4709160" y="3055866"/>
            <a:ext cx="4160520" cy="365760"/>
          </a:xfrm>
          <a:prstGeom prst="rect">
            <a:avLst/>
          </a:prstGeom>
          <a:solidFill>
            <a:srgbClr val="FFF8CC"/>
          </a:solidFill>
          <a:ln w="63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Text 38"/>
          <p:cNvSpPr/>
          <p:nvPr/>
        </p:nvSpPr>
        <p:spPr>
          <a:xfrm>
            <a:off x="4773168" y="305586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46" name="Text 39"/>
          <p:cNvSpPr/>
          <p:nvPr/>
        </p:nvSpPr>
        <p:spPr>
          <a:xfrm>
            <a:off x="5084064" y="305586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Tytuł strony (meta title) </a:t>
            </a:r>
            <a:r>
              <a:rPr lang="pl-PL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to ustawienie CMS, nie treść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4709160" y="3476490"/>
            <a:ext cx="4160520" cy="365760"/>
          </a:xfrm>
          <a:prstGeom prst="rect">
            <a:avLst/>
          </a:prstGeom>
          <a:solidFill>
            <a:srgbClr val="FFF8CC"/>
          </a:solidFill>
          <a:ln w="63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41"/>
          <p:cNvSpPr/>
          <p:nvPr/>
        </p:nvSpPr>
        <p:spPr>
          <a:xfrm>
            <a:off x="4773168" y="347649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5084064" y="347649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Backlinki i Domain Authority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4709160" y="3915402"/>
            <a:ext cx="4160520" cy="802902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1" name="Text 44"/>
          <p:cNvSpPr/>
          <p:nvPr/>
        </p:nvSpPr>
        <p:spPr>
          <a:xfrm>
            <a:off x="4828032" y="3926021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to działa technicznie:</a:t>
            </a:r>
            <a:endParaRPr lang="en-US" sz="1100" dirty="0"/>
          </a:p>
        </p:txBody>
      </p:sp>
      <p:sp>
        <p:nvSpPr>
          <p:cNvPr id="52" name="Text 45"/>
          <p:cNvSpPr/>
          <p:nvPr/>
        </p:nvSpPr>
        <p:spPr>
          <a:xfrm>
            <a:off x="4828032" y="420801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Claude Sonnet 4.6 analizuje pełny tekst artykułu wraz z meta description. Wynik jest deterministyczny (temperature: 0) i </a:t>
            </a:r>
            <a:r>
              <a:rPr lang="en-US" sz="9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cachowany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ten sam artykuł zawsze daje ten sam wynik. Cache czyści się po edycji lub nowym generowaniu.</a:t>
            </a:r>
            <a:endParaRPr lang="en-US" sz="950" dirty="0"/>
          </a:p>
        </p:txBody>
      </p:sp>
      <p:sp>
        <p:nvSpPr>
          <p:cNvPr id="53" name="Shape 4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4" name="Text 47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Wynik &lt; 70 pkt </a:t>
            </a:r>
            <a:r>
              <a:rPr lang="pl-PL" sz="1100" b="1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b="1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auto-poprawa artykułu. Wynik ≥ 70 pkt </a:t>
            </a:r>
            <a:r>
              <a:rPr lang="pl-PL" sz="1100" b="1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b="1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artykuł uznany za poprawny, poprawa nie jest wywoływana.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OCENA AIO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 jakiej zasadzie działa ocena AIO?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52360" y="749808"/>
            <a:ext cx="1463040" cy="64008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452360" y="777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r>
              <a:rPr lang="pl-PL" sz="13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</a:t>
            </a:r>
            <a:r>
              <a:rPr lang="en-US" sz="13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 pkt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52360" y="10789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wynik AIO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8595360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5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AIO (AI Overview Optimization) </a:t>
            </a:r>
            <a:r>
              <a:rPr lang="pl-PL" sz="1050" dirty="0">
                <a:solidFill>
                  <a:srgbClr val="1E5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dirty="0">
                <a:solidFill>
                  <a:srgbClr val="1E5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ocenia, na ile artykuł nadaje się do cytowania przez Google AI Overviews, ChatGPT, Perplexity i podobne. To inny wymiar niż klasyczne SEO.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95681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kryteriów oceny AIO: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274320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27432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365760" y="245059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505456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9808" y="24505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Bezpośrednia odpowiedź na wstępie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65760" y="280720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 pierwszy akapit od razu odpowiada na pytanie/temat? AI Overview cytuje właśnie ten fragment jako definicję.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182112" y="2331720"/>
            <a:ext cx="274320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Shape 15"/>
          <p:cNvSpPr/>
          <p:nvPr/>
        </p:nvSpPr>
        <p:spPr>
          <a:xfrm>
            <a:off x="3182112" y="2331720"/>
            <a:ext cx="27432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Shape 16"/>
          <p:cNvSpPr/>
          <p:nvPr/>
        </p:nvSpPr>
        <p:spPr>
          <a:xfrm>
            <a:off x="3273552" y="245059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2501326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57600" y="24505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Cytowalne, samodzielne fragmenty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273552" y="280720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 każdy akapit (3-5 zdań) ma sens jako osobna wypowiedź? AI musi móc wyciąć fragment bez utraty sensu.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089904" y="2331720"/>
            <a:ext cx="274320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4" name="Shape 20"/>
          <p:cNvSpPr/>
          <p:nvPr/>
        </p:nvSpPr>
        <p:spPr>
          <a:xfrm>
            <a:off x="6089904" y="2331720"/>
            <a:ext cx="27432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1"/>
          <p:cNvSpPr/>
          <p:nvPr/>
        </p:nvSpPr>
        <p:spPr>
          <a:xfrm>
            <a:off x="6181344" y="245059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2501326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565392" y="24505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Definicje encji i pojęć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181344" y="280720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Czy produkty, usługi i pojęcia są wyjaśnione przy pierwszym </a:t>
            </a:r>
            <a:r>
              <a:rPr lang="en-US" sz="9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użyciu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Dodanie podsumowania na końcu każdego artykułu. 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274320" y="3429000"/>
            <a:ext cx="274320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0" name="Shape 25"/>
          <p:cNvSpPr/>
          <p:nvPr/>
        </p:nvSpPr>
        <p:spPr>
          <a:xfrm>
            <a:off x="274320" y="3429000"/>
            <a:ext cx="27432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Shape 26"/>
          <p:cNvSpPr/>
          <p:nvPr/>
        </p:nvSpPr>
        <p:spPr>
          <a:xfrm>
            <a:off x="365760" y="354787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595141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9808" y="354787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Pełne pokrycie tematu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365760" y="390448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 artykuł odpowiada na wszystkie logiczne pytania powiązane z tematem, bazując na dostępnej wiedzy?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3182112" y="3429000"/>
            <a:ext cx="274320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6" name="Shape 30"/>
          <p:cNvSpPr/>
          <p:nvPr/>
        </p:nvSpPr>
        <p:spPr>
          <a:xfrm>
            <a:off x="3182112" y="3429000"/>
            <a:ext cx="27432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Shape 31"/>
          <p:cNvSpPr/>
          <p:nvPr/>
        </p:nvSpPr>
        <p:spPr>
          <a:xfrm>
            <a:off x="3273552" y="354787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416" y="3597132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3657600" y="354787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zbędnego wypełniacza (fluff)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3273552" y="390448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 każde zdanie dodaje fakty lub wartość? AI systemy obniżają ranking treści z ogólnikowymi stwierdzeniami.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6089904" y="3429000"/>
            <a:ext cx="274320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2" name="Shape 35"/>
          <p:cNvSpPr/>
          <p:nvPr/>
        </p:nvSpPr>
        <p:spPr>
          <a:xfrm>
            <a:off x="6089904" y="3429000"/>
            <a:ext cx="27432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Shape 36"/>
          <p:cNvSpPr/>
          <p:nvPr/>
        </p:nvSpPr>
        <p:spPr>
          <a:xfrm>
            <a:off x="6181344" y="354787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3597132"/>
            <a:ext cx="182880" cy="18288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565392" y="354787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Naturalny język dla człowieka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6181344" y="390448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 tekst brzmi naturalnie, nie jak upychane słowa kluczowe? AIO premiuje treści pisane dla ludzi.</a:t>
            </a:r>
            <a:endParaRPr lang="en-US" sz="950" dirty="0"/>
          </a:p>
        </p:txBody>
      </p:sp>
      <p:sp>
        <p:nvSpPr>
          <p:cNvPr id="47" name="Shape 39"/>
          <p:cNvSpPr/>
          <p:nvPr/>
        </p:nvSpPr>
        <p:spPr>
          <a:xfrm>
            <a:off x="0" y="4768449"/>
            <a:ext cx="9144000" cy="375051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40"/>
          <p:cNvSpPr/>
          <p:nvPr/>
        </p:nvSpPr>
        <p:spPr>
          <a:xfrm>
            <a:off x="365760" y="4811219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Ocena SEO i AIO są </a:t>
            </a: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niezależne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artykuł może mieć 85 SEO i 72 AIO jednocześnie. </a:t>
            </a:r>
            <a:endParaRPr lang="pl-PL" sz="110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Hybryda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SEO+AIO celuje w oba wyniki powyżej 70.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KOSZTORYS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3 warianty </a:t>
            </a:r>
            <a:r>
              <a:rPr lang="en-US" sz="2000" b="1" dirty="0" err="1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budżetowe</a:t>
            </a:r>
            <a:r>
              <a:rPr lang="en-US" sz="20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</a:t>
            </a:r>
            <a:r>
              <a:rPr lang="pl-PL" sz="20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</a:t>
            </a:r>
            <a:r>
              <a:rPr lang="en-US" sz="20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bez subskrypcji, bez ukrytych opłat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490472"/>
            <a:ext cx="2743200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758952" y="1362456"/>
            <a:ext cx="1737360" cy="301752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58952" y="136245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start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7465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" y="211226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93192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80 zł  ·  jednorazowo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3118104"/>
            <a:ext cx="237744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93192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ok. 650</a:t>
            </a:r>
            <a:r>
              <a:rPr lang="en-US" sz="12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artykułów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538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kilka miesięcy przy 3 art./dzień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3840480"/>
            <a:ext cx="237744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420624" y="388162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Pełna funkcjonalność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" y="408279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Wszystkie typy treści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0624" y="4283964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Odczyt URL przez AI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" y="4485132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Idealny na testy i wdrożenie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45536" y="1362456"/>
            <a:ext cx="2852928" cy="3493008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3200400" y="1399032"/>
            <a:ext cx="2743200" cy="3401568"/>
          </a:xfrm>
          <a:prstGeom prst="rect">
            <a:avLst/>
          </a:prstGeom>
          <a:solidFill>
            <a:srgbClr val="FFFFFF"/>
          </a:solidFill>
          <a:ln w="25400">
            <a:solidFill>
              <a:srgbClr val="E232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3703320" y="1271016"/>
            <a:ext cx="1737360" cy="301752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3703320" y="127101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Rekomendowany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16550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Optymalny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37560" y="202082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232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3337560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200 zł  ·  jednorazowo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3026664"/>
            <a:ext cx="237744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333756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ok. 1 600</a:t>
            </a:r>
            <a:r>
              <a:rPr lang="en-US" sz="12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artykułów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447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rok+ przy 5 art./dzień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3749040"/>
            <a:ext cx="237744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3364992" y="3849624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Pełna funkcjonalność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64992" y="4050792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Wszystkie typy treści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64992" y="4251960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Odczyt URL przez AI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64992" y="445312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Komfortowy bufor na cały rok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44768" y="1490472"/>
            <a:ext cx="2743200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5" name="Shape 33"/>
          <p:cNvSpPr/>
          <p:nvPr/>
        </p:nvSpPr>
        <p:spPr>
          <a:xfrm>
            <a:off x="6647688" y="1362456"/>
            <a:ext cx="1737360" cy="301752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6647688" y="136702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 zespołu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81928" y="17465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Zaawansowany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281928" y="211226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$100</a:t>
            </a:r>
            <a:endParaRPr lang="en-US" sz="4400" dirty="0"/>
          </a:p>
        </p:txBody>
      </p:sp>
      <p:sp>
        <p:nvSpPr>
          <p:cNvPr id="39" name="Text 37"/>
          <p:cNvSpPr/>
          <p:nvPr/>
        </p:nvSpPr>
        <p:spPr>
          <a:xfrm>
            <a:off x="6281928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400 zł  ·  jednorazowo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27648" y="3118104"/>
            <a:ext cx="237744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Text 39"/>
          <p:cNvSpPr/>
          <p:nvPr/>
        </p:nvSpPr>
        <p:spPr>
          <a:xfrm>
            <a:off x="6281928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ok. 3 200</a:t>
            </a:r>
            <a:r>
              <a:rPr lang="en-US" sz="12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artykułów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81928" y="3538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lata+ przy 5 art./dzień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27648" y="3840480"/>
            <a:ext cx="237744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4" name="Text 42"/>
          <p:cNvSpPr/>
          <p:nvPr/>
        </p:nvSpPr>
        <p:spPr>
          <a:xfrm>
            <a:off x="6309360" y="3877057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Pełna funkcjonalność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09360" y="4078225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Wszystkie typy treści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09360" y="4279393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Odczyt URL przez AI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09360" y="4480561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Długoterminowy spokój i zapas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" y="48737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Model: Claude Sonnet 4.6 ($3/$15 na milion tokenów). Szacunek ~$0.03-0.05 za </a:t>
            </a:r>
            <a:r>
              <a:rPr lang="en-US" sz="950" i="1" dirty="0" err="1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artyku</a:t>
            </a:r>
            <a:r>
              <a:rPr lang="pl-PL" sz="95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ł</a:t>
            </a:r>
            <a:r>
              <a:rPr lang="en-US" sz="95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95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tekstowy. Grafiki: ~$0.05-0.12 (wymaga osobnego klucza </a:t>
            </a:r>
            <a:r>
              <a:rPr lang="pl-PL" sz="950" i="1" dirty="0" err="1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r>
              <a:rPr lang="pl-PL" sz="95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Audio: synteza ok. $0.015 za minutę, transkrypcja $0.006 za minutę (OpenAI).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OSZCZĘDNOŚCI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Ile kosztuje alternatywa?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572768"/>
            <a:ext cx="2926080" cy="512064"/>
          </a:xfrm>
          <a:prstGeom prst="rect">
            <a:avLst/>
          </a:prstGeom>
          <a:solidFill>
            <a:srgbClr val="1A1916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20040" y="157276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572768"/>
            <a:ext cx="1783080" cy="512064"/>
          </a:xfrm>
          <a:prstGeom prst="rect">
            <a:avLst/>
          </a:prstGeom>
          <a:solidFill>
            <a:srgbClr val="1A1916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337560" y="157276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Copywriter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(freelance)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74920" y="1572768"/>
            <a:ext cx="1783080" cy="512064"/>
          </a:xfrm>
          <a:prstGeom prst="rect">
            <a:avLst/>
          </a:prstGeom>
          <a:solidFill>
            <a:srgbClr val="1A1916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5166360" y="157276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Agencja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marketingowa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03720" y="1572768"/>
            <a:ext cx="2011680" cy="512064"/>
          </a:xfrm>
          <a:prstGeom prst="rect">
            <a:avLst/>
          </a:prstGeom>
          <a:solidFill>
            <a:srgbClr val="1A1916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6995160" y="157276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(wariant $50)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084832"/>
            <a:ext cx="2926080" cy="512064"/>
          </a:xfrm>
          <a:prstGeom prst="rect">
            <a:avLst/>
          </a:prstGeom>
          <a:solidFill>
            <a:srgbClr val="EEEBE5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320040" y="208483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 1 artykułu (ok. 800 słów)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2084832"/>
            <a:ext cx="178308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3337560" y="2084832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150-400 zł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74920" y="2084832"/>
            <a:ext cx="178308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5166360" y="2084832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300-800 zł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2084832"/>
            <a:ext cx="2011680" cy="512064"/>
          </a:xfrm>
          <a:prstGeom prst="rect">
            <a:avLst/>
          </a:prstGeom>
          <a:solidFill>
            <a:srgbClr val="FFF8CC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6995160" y="208483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0,15 zł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28600" y="2596896"/>
            <a:ext cx="2926080" cy="512064"/>
          </a:xfrm>
          <a:prstGeom prst="rect">
            <a:avLst/>
          </a:prstGeom>
          <a:solidFill>
            <a:srgbClr val="EEEBE5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320040" y="259689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Czas realizacji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596896"/>
            <a:ext cx="1783080" cy="512064"/>
          </a:xfrm>
          <a:prstGeom prst="rect">
            <a:avLst/>
          </a:prstGeom>
          <a:solidFill>
            <a:srgbClr val="FAFAF8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3337560" y="259689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 dni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74920" y="2596896"/>
            <a:ext cx="1783080" cy="512064"/>
          </a:xfrm>
          <a:prstGeom prst="rect">
            <a:avLst/>
          </a:prstGeom>
          <a:solidFill>
            <a:srgbClr val="FAFAF8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5166360" y="259689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3-7 dni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03720" y="2596896"/>
            <a:ext cx="2011680" cy="512064"/>
          </a:xfrm>
          <a:prstGeom prst="rect">
            <a:avLst/>
          </a:prstGeom>
          <a:solidFill>
            <a:srgbClr val="FFF8CC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6995160" y="259689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15-60 sekund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28600" y="3108960"/>
            <a:ext cx="2926080" cy="512064"/>
          </a:xfrm>
          <a:prstGeom prst="rect">
            <a:avLst/>
          </a:prstGeom>
          <a:solidFill>
            <a:srgbClr val="EEEBE5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320040" y="310896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Znajomość oferty Content AI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3108960"/>
            <a:ext cx="178308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3337560" y="310896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Wymaga briefu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74920" y="3108960"/>
            <a:ext cx="178308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5166360" y="310896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Wymaga briefu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903720" y="3108960"/>
            <a:ext cx="2011680" cy="512064"/>
          </a:xfrm>
          <a:prstGeom prst="rect">
            <a:avLst/>
          </a:prstGeom>
          <a:solidFill>
            <a:srgbClr val="FFF8CC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6995160" y="310896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Wbudowana w bazę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28600" y="3621024"/>
            <a:ext cx="2926080" cy="512064"/>
          </a:xfrm>
          <a:prstGeom prst="rect">
            <a:avLst/>
          </a:prstGeom>
          <a:solidFill>
            <a:srgbClr val="EEEBE5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Text 36"/>
          <p:cNvSpPr/>
          <p:nvPr/>
        </p:nvSpPr>
        <p:spPr>
          <a:xfrm>
            <a:off x="320040" y="362102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 100 artykułów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46120" y="3621024"/>
            <a:ext cx="1783080" cy="512064"/>
          </a:xfrm>
          <a:prstGeom prst="rect">
            <a:avLst/>
          </a:prstGeom>
          <a:solidFill>
            <a:srgbClr val="FAFAF8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0" name="Text 38"/>
          <p:cNvSpPr/>
          <p:nvPr/>
        </p:nvSpPr>
        <p:spPr>
          <a:xfrm>
            <a:off x="3337560" y="362102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15 000-40 000 zł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74920" y="3621024"/>
            <a:ext cx="1783080" cy="512064"/>
          </a:xfrm>
          <a:prstGeom prst="rect">
            <a:avLst/>
          </a:prstGeom>
          <a:solidFill>
            <a:srgbClr val="FAFAF8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5166360" y="362102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30 000-80 000 zł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903720" y="3621024"/>
            <a:ext cx="2011680" cy="512064"/>
          </a:xfrm>
          <a:prstGeom prst="rect">
            <a:avLst/>
          </a:prstGeom>
          <a:solidFill>
            <a:srgbClr val="FFF8CC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4" name="Text 42"/>
          <p:cNvSpPr/>
          <p:nvPr/>
        </p:nvSpPr>
        <p:spPr>
          <a:xfrm>
            <a:off x="6995160" y="362102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ok. 15 zł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228600" y="4133088"/>
            <a:ext cx="2926080" cy="512064"/>
          </a:xfrm>
          <a:prstGeom prst="rect">
            <a:avLst/>
          </a:prstGeom>
          <a:solidFill>
            <a:srgbClr val="EEEBE5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6" name="Text 44"/>
          <p:cNvSpPr/>
          <p:nvPr/>
        </p:nvSpPr>
        <p:spPr>
          <a:xfrm>
            <a:off x="320040" y="413308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Skalowalność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46120" y="4133088"/>
            <a:ext cx="178308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46"/>
          <p:cNvSpPr/>
          <p:nvPr/>
        </p:nvSpPr>
        <p:spPr>
          <a:xfrm>
            <a:off x="3337560" y="413308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Ograniczona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074920" y="4133088"/>
            <a:ext cx="178308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0" name="Text 48"/>
          <p:cNvSpPr/>
          <p:nvPr/>
        </p:nvSpPr>
        <p:spPr>
          <a:xfrm>
            <a:off x="5166360" y="413308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Ograniczona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903720" y="4133088"/>
            <a:ext cx="2011680" cy="512064"/>
          </a:xfrm>
          <a:prstGeom prst="rect">
            <a:avLst/>
          </a:prstGeom>
          <a:solidFill>
            <a:srgbClr val="FFF8CC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2" name="Text 50"/>
          <p:cNvSpPr/>
          <p:nvPr/>
        </p:nvSpPr>
        <p:spPr>
          <a:xfrm>
            <a:off x="6995160" y="413308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Nieograniczona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4" name="Text 52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 $50 inwestycji ROI wynosi ponad 99% już przy pierwszych 10 artykułach.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BEZPIECZEŃSTWO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Dane firmowe są bezpieczne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4160520" cy="150876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502920" y="2002536"/>
            <a:ext cx="585216" cy="585216"/>
          </a:xfrm>
          <a:prstGeom prst="ellipse">
            <a:avLst/>
          </a:prstGeom>
          <a:solidFill>
            <a:srgbClr val="FDEAEA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1214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52728" y="173736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Pliki przetwarzane lokalnie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52728" y="2103120"/>
            <a:ext cx="3090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Word, Excel i inne dokumenty są odczytywane bezpośrednio w przeglądarce. Żaden plik nie jest wysyłany na zewnętrzny serwer ani zapisywany w chmurze.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1600200"/>
            <a:ext cx="4160520" cy="150876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4983480" y="2002536"/>
            <a:ext cx="585216" cy="585216"/>
          </a:xfrm>
          <a:prstGeom prst="ellipse">
            <a:avLst/>
          </a:prstGeom>
          <a:solidFill>
            <a:srgbClr val="FDEAEA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21214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33288" y="173736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Tylko treść do AI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733288" y="2103120"/>
            <a:ext cx="3090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modelu AI trafia jedynie tekst jako część zapytania. Anthropic usuwa logi API po 7 dniach i nie używa danych do trenowania.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20040" y="3264408"/>
            <a:ext cx="4160520" cy="150876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2"/>
          <p:cNvSpPr/>
          <p:nvPr/>
        </p:nvSpPr>
        <p:spPr>
          <a:xfrm>
            <a:off x="502920" y="3666744"/>
            <a:ext cx="585216" cy="585216"/>
          </a:xfrm>
          <a:prstGeom prst="ellipse">
            <a:avLst/>
          </a:prstGeom>
          <a:solidFill>
            <a:srgbClr val="FDEAEA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378561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52728" y="340156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Własny klucz API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52728" y="3767328"/>
            <a:ext cx="3090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Aplikacja działa na kluczu API należącym do firmy. Pełna </a:t>
            </a:r>
            <a:r>
              <a:rPr lang="en-US" sz="10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kontrola</a:t>
            </a: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możliwość natychmiastowego wyłączenia w panelu Anthropic Console.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800600" y="3264408"/>
            <a:ext cx="4160520" cy="150876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Shape 16"/>
          <p:cNvSpPr/>
          <p:nvPr/>
        </p:nvSpPr>
        <p:spPr>
          <a:xfrm>
            <a:off x="4983480" y="3666744"/>
            <a:ext cx="585216" cy="585216"/>
          </a:xfrm>
          <a:prstGeom prst="ellipse">
            <a:avLst/>
          </a:prstGeom>
          <a:solidFill>
            <a:srgbClr val="FDEAEA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1496" y="378561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33288" y="340156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Dostęp tylko dla uprawnionych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733288" y="3767328"/>
            <a:ext cx="3090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Plik aplikacji </a:t>
            </a:r>
            <a:r>
              <a:rPr lang="en-US" sz="10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dystrybuowany</a:t>
            </a: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0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ręcznie</a:t>
            </a:r>
            <a:r>
              <a:rPr lang="pl-PL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-</a:t>
            </a: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trafia tylko do wskazanych osób. Brak publicznego linku, logowania ani rejestracji.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WDROŻENIE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Jak udostępnić aplikację </a:t>
            </a:r>
            <a:r>
              <a:rPr lang="en-US" sz="2600" b="1" dirty="0" err="1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zespołowi</a:t>
            </a: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</a:t>
            </a:r>
            <a:r>
              <a:rPr lang="pl-PL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</a:t>
            </a: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5 minut</a:t>
            </a:r>
            <a:endParaRPr lang="en-US" sz="2600" dirty="0"/>
          </a:p>
        </p:txBody>
      </p:sp>
      <p:sp>
        <p:nvSpPr>
          <p:cNvPr id="26" name="Shape 23"/>
          <p:cNvSpPr/>
          <p:nvPr/>
        </p:nvSpPr>
        <p:spPr>
          <a:xfrm>
            <a:off x="4754880" y="1508760"/>
            <a:ext cx="4114800" cy="315468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7" name="Shape 24"/>
          <p:cNvSpPr/>
          <p:nvPr/>
        </p:nvSpPr>
        <p:spPr>
          <a:xfrm>
            <a:off x="4754880" y="1508760"/>
            <a:ext cx="4114800" cy="54864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645920"/>
            <a:ext cx="320040" cy="32004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21808" y="16459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 API (console.anthropic.com)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4892040" y="21945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7"/>
          <p:cNvSpPr/>
          <p:nvPr/>
        </p:nvSpPr>
        <p:spPr>
          <a:xfrm>
            <a:off x="489204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285232" y="21854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Zaloguj się na console.anthropic.com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4892040" y="26517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0"/>
          <p:cNvSpPr/>
          <p:nvPr/>
        </p:nvSpPr>
        <p:spPr>
          <a:xfrm>
            <a:off x="489204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5285232" y="26426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 → Create Key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4892040" y="31089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3"/>
          <p:cNvSpPr/>
          <p:nvPr/>
        </p:nvSpPr>
        <p:spPr>
          <a:xfrm>
            <a:off x="489204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5285232" y="30998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Skopiuj klucz (pokazywany tylko raz!)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4892040" y="35661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0" name="Text 36"/>
          <p:cNvSpPr/>
          <p:nvPr/>
        </p:nvSpPr>
        <p:spPr>
          <a:xfrm>
            <a:off x="489204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285232" y="35570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Otwórz HTML w edytorze tekstowym (np. Notepad)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4892040" y="40233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39"/>
          <p:cNvSpPr/>
          <p:nvPr/>
        </p:nvSpPr>
        <p:spPr>
          <a:xfrm>
            <a:off x="489204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5285232" y="40142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Wstaw klucz w odpowiednim miejscu w kodzie</a:t>
            </a:r>
          </a:p>
        </p:txBody>
      </p:sp>
      <p:sp>
        <p:nvSpPr>
          <p:cNvPr id="45" name="Shape 41"/>
          <p:cNvSpPr/>
          <p:nvPr/>
        </p:nvSpPr>
        <p:spPr>
          <a:xfrm>
            <a:off x="4892040" y="4407408"/>
            <a:ext cx="3840480" cy="201168"/>
          </a:xfrm>
          <a:prstGeom prst="rect">
            <a:avLst/>
          </a:prstGeom>
          <a:solidFill>
            <a:srgbClr val="FDEAEA"/>
          </a:solidFill>
          <a:ln w="635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6" name="Text 42"/>
          <p:cNvSpPr/>
          <p:nvPr/>
        </p:nvSpPr>
        <p:spPr>
          <a:xfrm>
            <a:off x="4937760" y="44074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⚠  Klucz w pliku HTML </a:t>
            </a:r>
            <a:r>
              <a:rPr lang="pl-PL" sz="95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95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nie udostępniaj pliku publicznie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9" name="Shape 3">
            <a:extLst>
              <a:ext uri="{FF2B5EF4-FFF2-40B4-BE49-F238E27FC236}">
                <a16:creationId xmlns:a16="http://schemas.microsoft.com/office/drawing/2014/main" id="{84FBBB35-42DB-638A-7B73-ED6CDC47E475}"/>
              </a:ext>
            </a:extLst>
          </p:cNvPr>
          <p:cNvSpPr/>
          <p:nvPr/>
        </p:nvSpPr>
        <p:spPr>
          <a:xfrm>
            <a:off x="274320" y="1508760"/>
            <a:ext cx="4114800" cy="315468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26326E2A-B941-B4EC-1B99-B6126E46F0EA}"/>
              </a:ext>
            </a:extLst>
          </p:cNvPr>
          <p:cNvSpPr/>
          <p:nvPr/>
        </p:nvSpPr>
        <p:spPr>
          <a:xfrm>
            <a:off x="274320" y="1508760"/>
            <a:ext cx="4114800" cy="54864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51" name="Image 0" descr="preencoded.png">
            <a:extLst>
              <a:ext uri="{FF2B5EF4-FFF2-40B4-BE49-F238E27FC236}">
                <a16:creationId xmlns:a16="http://schemas.microsoft.com/office/drawing/2014/main" id="{BB74D629-31C3-A007-2217-346FF4BD9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645920"/>
            <a:ext cx="320040" cy="320040"/>
          </a:xfrm>
          <a:prstGeom prst="rect">
            <a:avLst/>
          </a:prstGeom>
        </p:spPr>
      </p:pic>
      <p:sp>
        <p:nvSpPr>
          <p:cNvPr id="52" name="Text 5">
            <a:extLst>
              <a:ext uri="{FF2B5EF4-FFF2-40B4-BE49-F238E27FC236}">
                <a16:creationId xmlns:a16="http://schemas.microsoft.com/office/drawing/2014/main" id="{CEC60DE1-6A14-1E0A-8586-733B9ACFC709}"/>
              </a:ext>
            </a:extLst>
          </p:cNvPr>
          <p:cNvSpPr/>
          <p:nvPr/>
        </p:nvSpPr>
        <p:spPr>
          <a:xfrm>
            <a:off x="841248" y="16459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Dystrybucja w pilotażu przez Teams / OneDrive</a:t>
            </a:r>
            <a:endParaRPr lang="en-US" sz="1400" dirty="0"/>
          </a:p>
        </p:txBody>
      </p:sp>
      <p:sp>
        <p:nvSpPr>
          <p:cNvPr id="53" name="Shape 6">
            <a:extLst>
              <a:ext uri="{FF2B5EF4-FFF2-40B4-BE49-F238E27FC236}">
                <a16:creationId xmlns:a16="http://schemas.microsoft.com/office/drawing/2014/main" id="{47F99A56-0B1F-9094-A5CF-B892ECE433CC}"/>
              </a:ext>
            </a:extLst>
          </p:cNvPr>
          <p:cNvSpPr/>
          <p:nvPr/>
        </p:nvSpPr>
        <p:spPr>
          <a:xfrm>
            <a:off x="411480" y="21945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9F14D264-1069-54AA-5D61-3D5B4AAE6046}"/>
              </a:ext>
            </a:extLst>
          </p:cNvPr>
          <p:cNvSpPr/>
          <p:nvPr/>
        </p:nvSpPr>
        <p:spPr>
          <a:xfrm>
            <a:off x="41148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5" name="Text 8">
            <a:extLst>
              <a:ext uri="{FF2B5EF4-FFF2-40B4-BE49-F238E27FC236}">
                <a16:creationId xmlns:a16="http://schemas.microsoft.com/office/drawing/2014/main" id="{3AA6561C-3885-8423-697C-8F3B0E325DCD}"/>
              </a:ext>
            </a:extLst>
          </p:cNvPr>
          <p:cNvSpPr/>
          <p:nvPr/>
        </p:nvSpPr>
        <p:spPr>
          <a:xfrm>
            <a:off x="804672" y="21854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Otwórz plik DEV w edytorze tekstowym</a:t>
            </a:r>
            <a:endParaRPr lang="en-US" sz="1200" dirty="0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D93119A9-FD14-97BD-7725-D0A5F1A31DDC}"/>
              </a:ext>
            </a:extLst>
          </p:cNvPr>
          <p:cNvSpPr/>
          <p:nvPr/>
        </p:nvSpPr>
        <p:spPr>
          <a:xfrm>
            <a:off x="411480" y="26517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5BD0DC40-CD68-702B-CA4F-FC41D6C91046}"/>
              </a:ext>
            </a:extLst>
          </p:cNvPr>
          <p:cNvSpPr/>
          <p:nvPr/>
        </p:nvSpPr>
        <p:spPr>
          <a:xfrm>
            <a:off x="41148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50B2C514-2732-A680-9917-E1A999B87D15}"/>
              </a:ext>
            </a:extLst>
          </p:cNvPr>
          <p:cNvSpPr/>
          <p:nvPr/>
        </p:nvSpPr>
        <p:spPr>
          <a:xfrm>
            <a:off x="804672" y="26426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Wpisz imię użytkownika w USER_LABEL</a:t>
            </a:r>
            <a:endParaRPr lang="en-US" sz="1200" dirty="0"/>
          </a:p>
        </p:txBody>
      </p:sp>
      <p:sp>
        <p:nvSpPr>
          <p:cNvPr id="59" name="Shape 12">
            <a:extLst>
              <a:ext uri="{FF2B5EF4-FFF2-40B4-BE49-F238E27FC236}">
                <a16:creationId xmlns:a16="http://schemas.microsoft.com/office/drawing/2014/main" id="{5BBD544D-8541-FAE4-F15C-A63323E2BE6A}"/>
              </a:ext>
            </a:extLst>
          </p:cNvPr>
          <p:cNvSpPr/>
          <p:nvPr/>
        </p:nvSpPr>
        <p:spPr>
          <a:xfrm>
            <a:off x="411480" y="31089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7098EF77-FACA-FC31-9937-7939652F6C2B}"/>
              </a:ext>
            </a:extLst>
          </p:cNvPr>
          <p:cNvSpPr/>
          <p:nvPr/>
        </p:nvSpPr>
        <p:spPr>
          <a:xfrm>
            <a:off x="41148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4081A4B4-A8BF-BF9A-E4CC-18BA4A6D1A43}"/>
              </a:ext>
            </a:extLst>
          </p:cNvPr>
          <p:cNvSpPr/>
          <p:nvPr/>
        </p:nvSpPr>
        <p:spPr>
          <a:xfrm>
            <a:off x="804672" y="30998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Uruchom python3 build.py</a:t>
            </a:r>
            <a:endParaRPr lang="en-US" sz="1200" dirty="0"/>
          </a:p>
        </p:txBody>
      </p:sp>
      <p:sp>
        <p:nvSpPr>
          <p:cNvPr id="62" name="Shape 15">
            <a:extLst>
              <a:ext uri="{FF2B5EF4-FFF2-40B4-BE49-F238E27FC236}">
                <a16:creationId xmlns:a16="http://schemas.microsoft.com/office/drawing/2014/main" id="{36AFA830-E90E-F43C-A832-7DF9058B7F85}"/>
              </a:ext>
            </a:extLst>
          </p:cNvPr>
          <p:cNvSpPr/>
          <p:nvPr/>
        </p:nvSpPr>
        <p:spPr>
          <a:xfrm>
            <a:off x="411480" y="35661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78D80755-B367-C601-B777-A58CDF69CBFC}"/>
              </a:ext>
            </a:extLst>
          </p:cNvPr>
          <p:cNvSpPr/>
          <p:nvPr/>
        </p:nvSpPr>
        <p:spPr>
          <a:xfrm>
            <a:off x="41148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64" name="Text 17">
            <a:extLst>
              <a:ext uri="{FF2B5EF4-FFF2-40B4-BE49-F238E27FC236}">
                <a16:creationId xmlns:a16="http://schemas.microsoft.com/office/drawing/2014/main" id="{5CE07523-4B32-209B-5ECE-93862774918A}"/>
              </a:ext>
            </a:extLst>
          </p:cNvPr>
          <p:cNvSpPr/>
          <p:nvPr/>
        </p:nvSpPr>
        <p:spPr>
          <a:xfrm>
            <a:off x="804672" y="35570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Wyślij plik INTERNAL przez Teams</a:t>
            </a:r>
            <a:endParaRPr lang="en-US" sz="1200" dirty="0"/>
          </a:p>
        </p:txBody>
      </p:sp>
      <p:sp>
        <p:nvSpPr>
          <p:cNvPr id="65" name="Shape 18">
            <a:extLst>
              <a:ext uri="{FF2B5EF4-FFF2-40B4-BE49-F238E27FC236}">
                <a16:creationId xmlns:a16="http://schemas.microsoft.com/office/drawing/2014/main" id="{4137F38D-24E3-37C2-0613-9D09B358E02D}"/>
              </a:ext>
            </a:extLst>
          </p:cNvPr>
          <p:cNvSpPr/>
          <p:nvPr/>
        </p:nvSpPr>
        <p:spPr>
          <a:xfrm>
            <a:off x="411480" y="40233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E572B8D9-B1CD-B9D3-4907-3A8DC3A54914}"/>
              </a:ext>
            </a:extLst>
          </p:cNvPr>
          <p:cNvSpPr/>
          <p:nvPr/>
        </p:nvSpPr>
        <p:spPr>
          <a:xfrm>
            <a:off x="41148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897C675-C1D6-4373-476E-549B17FD23FB}"/>
              </a:ext>
            </a:extLst>
          </p:cNvPr>
          <p:cNvSpPr/>
          <p:nvPr/>
        </p:nvSpPr>
        <p:spPr>
          <a:xfrm>
            <a:off x="804672" y="40142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Każda osoba otwiera z tego samego miejsca na dysku</a:t>
            </a:r>
            <a:endParaRPr lang="en-US" sz="1200" dirty="0"/>
          </a:p>
        </p:txBody>
      </p:sp>
      <p:sp>
        <p:nvSpPr>
          <p:cNvPr id="68" name="Shape 21">
            <a:extLst>
              <a:ext uri="{FF2B5EF4-FFF2-40B4-BE49-F238E27FC236}">
                <a16:creationId xmlns:a16="http://schemas.microsoft.com/office/drawing/2014/main" id="{276B9B32-50C4-3CF1-7EB4-2C35289FB8FB}"/>
              </a:ext>
            </a:extLst>
          </p:cNvPr>
          <p:cNvSpPr/>
          <p:nvPr/>
        </p:nvSpPr>
        <p:spPr>
          <a:xfrm>
            <a:off x="411480" y="4407408"/>
            <a:ext cx="3840480" cy="201168"/>
          </a:xfrm>
          <a:prstGeom prst="rect">
            <a:avLst/>
          </a:prstGeom>
          <a:solidFill>
            <a:srgbClr val="FFF8CC"/>
          </a:solidFill>
          <a:ln w="635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9" name="Text 22">
            <a:extLst>
              <a:ext uri="{FF2B5EF4-FFF2-40B4-BE49-F238E27FC236}">
                <a16:creationId xmlns:a16="http://schemas.microsoft.com/office/drawing/2014/main" id="{81E2ED8A-7B12-8182-6497-4BFBAF787E7C}"/>
              </a:ext>
            </a:extLst>
          </p:cNvPr>
          <p:cNvSpPr/>
          <p:nvPr/>
        </p:nvSpPr>
        <p:spPr>
          <a:xfrm>
            <a:off x="457200" y="44074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✓  Plik zarejestruje urządzenie </a:t>
            </a:r>
            <a:r>
              <a:rPr lang="en-US" sz="950" b="1" dirty="0" err="1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</a:t>
            </a:r>
            <a:r>
              <a:rPr lang="en-US" sz="950" b="1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950" b="1" dirty="0" err="1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pierwszym</a:t>
            </a:r>
            <a:r>
              <a:rPr lang="en-US" sz="950" b="1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950" b="1" dirty="0" err="1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otwarciu</a:t>
            </a:r>
            <a:endParaRPr lang="en-US" sz="950" dirty="0"/>
          </a:p>
        </p:txBody>
      </p:sp>
      <p:sp>
        <p:nvSpPr>
          <p:cNvPr id="70" name="Text 44">
            <a:extLst>
              <a:ext uri="{FF2B5EF4-FFF2-40B4-BE49-F238E27FC236}">
                <a16:creationId xmlns:a16="http://schemas.microsoft.com/office/drawing/2014/main" id="{73EF6C41-A167-8BE9-BF92-7D150099656A}"/>
              </a:ext>
            </a:extLst>
          </p:cNvPr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Docelowy hosting to Azure Static Web Apps w tenancie Content AI. Device fingerprint blokuje plik. </a:t>
            </a:r>
            <a:r>
              <a:rPr lang="en-US" sz="1050" dirty="0" err="1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Watermark USER_LABEL identyfikuje</a:t>
            </a:r>
            <a:r>
              <a:rPr lang="en-US" sz="105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05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użytkownika w logach API.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ROZLICZENIE FIRMOWE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API vs </a:t>
            </a:r>
            <a:r>
              <a:rPr lang="en-US" sz="2600" b="1" dirty="0" err="1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subskrypcja</a:t>
            </a: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</a:t>
            </a:r>
            <a:r>
              <a:rPr lang="pl-PL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</a:t>
            </a: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ważne rozróżnienie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44168"/>
            <a:ext cx="8595360" cy="457200"/>
          </a:xfrm>
          <a:prstGeom prst="rect">
            <a:avLst/>
          </a:prstGeom>
          <a:solidFill>
            <a:srgbClr val="FFF8CC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Aplikacja Content AI używa API </a:t>
            </a:r>
            <a:r>
              <a:rPr lang="pl-PL" sz="110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to zupełnie inne rozliczenie niż subskrypcja Claude.ai dla pracowników. Nie potrzebujemy subskrypcji, żeby korzystać z aplikacji.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938528"/>
            <a:ext cx="4069080" cy="2606040"/>
          </a:xfrm>
          <a:prstGeom prst="rect">
            <a:avLst/>
          </a:prstGeom>
          <a:solidFill>
            <a:srgbClr val="D8F3DC"/>
          </a:solidFill>
          <a:ln w="19050">
            <a:solidFill>
              <a:srgbClr val="95D5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274320" y="1938528"/>
            <a:ext cx="406908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✓  Anthropic API </a:t>
            </a:r>
            <a:r>
              <a:rPr lang="pl-PL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to co potrzebujemy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Opłata miesięczna: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12848" y="2377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BRAK </a:t>
            </a:r>
            <a:r>
              <a:rPr lang="pl-PL" sz="11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zero fixed costs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743200"/>
            <a:ext cx="3749040" cy="0"/>
          </a:xfrm>
          <a:prstGeom prst="line">
            <a:avLst/>
          </a:prstGeom>
          <a:noFill/>
          <a:ln w="508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11480" y="2788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Płacisz za: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12848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Faktycznie zużyte tokeny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154680"/>
            <a:ext cx="3749040" cy="0"/>
          </a:xfrm>
          <a:prstGeom prst="line">
            <a:avLst/>
          </a:prstGeom>
          <a:noFill/>
          <a:ln w="508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411480" y="3200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Konto firmowe: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12848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console.anthropic.com → Organization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566160"/>
            <a:ext cx="3749040" cy="0"/>
          </a:xfrm>
          <a:prstGeom prst="line">
            <a:avLst/>
          </a:prstGeom>
          <a:noFill/>
          <a:ln w="508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41148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Faktura: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12848" y="3611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od Anthropic PBC (jak AWS, GCP)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977640"/>
            <a:ext cx="3749040" cy="0"/>
          </a:xfrm>
          <a:prstGeom prst="line">
            <a:avLst/>
          </a:prstGeom>
          <a:noFill/>
          <a:ln w="508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411480" y="4023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 aplikacji: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12848" y="4023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$20-100 na kilka miesięcy / rok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1938528"/>
            <a:ext cx="4069080" cy="2606040"/>
          </a:xfrm>
          <a:prstGeom prst="rect">
            <a:avLst/>
          </a:prstGeom>
          <a:solidFill>
            <a:srgbClr val="F9F9F9"/>
          </a:solidFill>
          <a:ln w="10160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4800600" y="1938528"/>
            <a:ext cx="4069080" cy="34747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4937760" y="19659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Claude.ai Teams </a:t>
            </a:r>
            <a:r>
              <a:rPr lang="pl-PL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do chatu, nie do aplikacji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2377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Opłata miesięczna: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9984" y="2377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$20/osoba (min. 5 osób = $100+)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2743200"/>
            <a:ext cx="374904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4937760" y="2788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czego: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29984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 chat dla pracowników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3154680"/>
            <a:ext cx="374904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4937760" y="3200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 potrzebne?: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29984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NIE </a:t>
            </a:r>
            <a:r>
              <a:rPr lang="pl-PL" sz="11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do Content AI nie jest wymagane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3566160"/>
            <a:ext cx="374904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4937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Kiedy rozważyć: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29984" y="3611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Gdy cały zespół chce korzystać z chatu Claude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37760" y="3977640"/>
            <a:ext cx="374904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7"/>
          <p:cNvSpPr/>
          <p:nvPr/>
        </p:nvSpPr>
        <p:spPr>
          <a:xfrm>
            <a:off x="4937760" y="4023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29984" y="4023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50 osób, cena negocjowana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4320" y="4574655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ustawić rozliczenie firmowe na API: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" y="495604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console.anthropic.com  →  Settings  →  Organization  →  Add company billing  →  dodaj kartę firmową lub dane do przelewu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4" name="Text 42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console.anthropic.com  →  Settings  →  Organization  →  Billing  →  karta firmowa lub przelew  →  gotowe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>
            <a:extLst>
              <a:ext uri="{FF2B5EF4-FFF2-40B4-BE49-F238E27FC236}">
                <a16:creationId xmlns:a16="http://schemas.microsoft.com/office/drawing/2014/main" id="{436AB2B0-6870-9CED-5EC3-8E6C51BA817A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" name="Label"/>
          <p:cNvSpPr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kern="0" spc="500" dirty="0">
                <a:solidFill>
                  <a:srgbClr val="F5A300"/>
                </a:solidFill>
                <a:latin typeface="Arial" pitchFamily="34" charset="0"/>
              </a:rPr>
              <a:t>PLANY ROZWOJU</a:t>
            </a:r>
          </a:p>
        </p:txBody>
      </p:sp>
      <p:sp>
        <p:nvSpPr>
          <p:cNvPr id="3" name="Title"/>
          <p:cNvSpPr/>
          <p:nvPr/>
        </p:nvSpPr>
        <p:spPr>
          <a:xfrm>
            <a:off x="365760" y="76885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b="1" dirty="0">
                <a:solidFill>
                  <a:srgbClr val="1A1916"/>
                </a:solidFill>
                <a:latin typeface="Arial Black" pitchFamily="34" charset="0"/>
              </a:rPr>
              <a:t>Wymiana silnika AI - Azure OpenAI</a:t>
            </a:r>
          </a:p>
        </p:txBody>
      </p:sp>
      <p:sp>
        <p:nvSpPr>
          <p:cNvPr id="4" name="Line"/>
          <p:cNvSpPr/>
          <p:nvPr/>
        </p:nvSpPr>
        <p:spPr>
          <a:xfrm>
            <a:off x="365760" y="1485900"/>
            <a:ext cx="8412480" cy="2286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Now"/>
          <p:cNvSpPr/>
          <p:nvPr/>
        </p:nvSpPr>
        <p:spPr>
          <a:xfrm>
            <a:off x="365760" y="1577340"/>
            <a:ext cx="3840480" cy="914400"/>
          </a:xfrm>
          <a:prstGeom prst="rect">
            <a:avLst/>
          </a:prstGeom>
          <a:solidFill>
            <a:srgbClr val="F8F8F8"/>
          </a:solidFill>
          <a:ln>
            <a:solidFill>
              <a:srgbClr val="E0E0E0"/>
            </a:solidFill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pl-PL" sz="1400" b="1" dirty="0">
                <a:solidFill>
                  <a:srgbClr val="1A1916"/>
                </a:solidFill>
                <a:latin typeface="Arial" pitchFamily="34" charset="0"/>
              </a:rPr>
              <a:t>🤖  Teraz: Anthropic Claude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claude-sonnet-4-6 przez Anthropic API.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Dane trafiają do serwera Anthropic (USA).</a:t>
            </a:r>
          </a:p>
        </p:txBody>
      </p:sp>
      <p:sp>
        <p:nvSpPr>
          <p:cNvPr id="6" name="Plan"/>
          <p:cNvSpPr/>
          <p:nvPr/>
        </p:nvSpPr>
        <p:spPr>
          <a:xfrm>
            <a:off x="365760" y="2583180"/>
            <a:ext cx="3840480" cy="914400"/>
          </a:xfrm>
          <a:prstGeom prst="rect">
            <a:avLst/>
          </a:prstGeom>
          <a:solidFill>
            <a:srgbClr val="F8F8F8"/>
          </a:solidFill>
          <a:ln>
            <a:solidFill>
              <a:srgbClr val="E0E0E0"/>
            </a:solidFill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pl-PL" sz="1400" b="1" dirty="0">
                <a:solidFill>
                  <a:srgbClr val="1A1916"/>
                </a:solidFill>
                <a:latin typeface="Arial" pitchFamily="34" charset="0"/>
              </a:rPr>
              <a:t>⚙️  Model selector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Wybór silnika w ustawieniach aplikacji: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Anthropic / Azure OpenAI / OpenAI</a:t>
            </a:r>
          </a:p>
        </p:txBody>
      </p:sp>
      <p:sp>
        <p:nvSpPr>
          <p:cNvPr id="7" name="Change"/>
          <p:cNvSpPr/>
          <p:nvPr/>
        </p:nvSpPr>
        <p:spPr>
          <a:xfrm>
            <a:off x="365760" y="3589020"/>
            <a:ext cx="3840480" cy="1005840"/>
          </a:xfrm>
          <a:prstGeom prst="rect">
            <a:avLst/>
          </a:prstGeom>
          <a:solidFill>
            <a:srgbClr val="F8F8F8"/>
          </a:solidFill>
          <a:ln>
            <a:solidFill>
              <a:srgbClr val="E0E0E0"/>
            </a:solidFill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pl-PL" sz="1400" b="1" dirty="0">
                <a:solidFill>
                  <a:srgbClr val="1A1916"/>
                </a:solidFill>
                <a:latin typeface="Arial" pitchFamily="34" charset="0"/>
              </a:rPr>
              <a:t>🔧  Co wymaga zmiany w kodzie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~30 linii kodu: inny format request,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inny endpoint, wybór modelu w UI.</a:t>
            </a:r>
          </a:p>
        </p:txBody>
      </p:sp>
      <p:sp>
        <p:nvSpPr>
          <p:cNvPr id="8" name="Azure"/>
          <p:cNvSpPr/>
          <p:nvPr/>
        </p:nvSpPr>
        <p:spPr>
          <a:xfrm>
            <a:off x="4389120" y="1577340"/>
            <a:ext cx="4389120" cy="3017520"/>
          </a:xfrm>
          <a:prstGeom prst="rect">
            <a:avLst/>
          </a:prstGeom>
          <a:solidFill>
            <a:srgbClr val="F0F7FF"/>
          </a:solidFill>
          <a:ln>
            <a:solidFill>
              <a:srgbClr val="0078D4"/>
            </a:solidFill>
          </a:ln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pl-PL" sz="1500" b="1" dirty="0">
                <a:solidFill>
                  <a:srgbClr val="0078D4"/>
                </a:solidFill>
                <a:latin typeface="Arial Black" pitchFamily="34" charset="0"/>
              </a:rPr>
              <a:t>☁️  Dlaczego Azure OpenAI?</a:t>
            </a:r>
          </a:p>
          <a:p>
            <a:pPr>
              <a:buNone/>
            </a:pPr>
            <a:endParaRPr lang="pl-PL" sz="1200" dirty="0"/>
          </a:p>
          <a:p>
            <a:pPr marL="0" indent="0">
              <a:buNone/>
            </a:pPr>
            <a:r>
              <a:rPr lang="pl-PL" sz="1300" b="1" dirty="0">
                <a:solidFill>
                  <a:srgbClr val="1A1916"/>
                </a:solidFill>
                <a:latin typeface="Calibri" pitchFamily="34" charset="0"/>
              </a:rPr>
              <a:t>🔒  Dane w Naszej infrastrukturze</a:t>
            </a:r>
          </a:p>
          <a:p>
            <a:pPr marL="0" indent="0">
              <a:buNone/>
            </a:pPr>
            <a:r>
              <a:rPr lang="pl-PL" sz="1200" dirty="0" err="1">
                <a:solidFill>
                  <a:srgbClr val="555555"/>
                </a:solidFill>
                <a:latin typeface="Calibri" pitchFamily="34" charset="0"/>
              </a:rPr>
              <a:t>Azure</a:t>
            </a: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 xml:space="preserve"> Content AI, nie serwer Anthropic. Pełna kontrola compliance i GDPR.</a:t>
            </a:r>
          </a:p>
          <a:p>
            <a:pPr>
              <a:buNone/>
            </a:pPr>
            <a:endParaRPr lang="pl-PL" sz="1200" dirty="0"/>
          </a:p>
          <a:p>
            <a:pPr marL="0" indent="0">
              <a:buNone/>
            </a:pPr>
            <a:r>
              <a:rPr lang="pl-PL" sz="1300" b="1" dirty="0">
                <a:solidFill>
                  <a:srgbClr val="1A1916"/>
                </a:solidFill>
                <a:latin typeface="Calibri" pitchFamily="34" charset="0"/>
              </a:rPr>
              <a:t>📊  Istniejąca subskrypcja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 xml:space="preserve">Content AI korzysta z </a:t>
            </a:r>
            <a:r>
              <a:rPr lang="pl-PL" sz="1200" dirty="0" err="1">
                <a:solidFill>
                  <a:srgbClr val="555555"/>
                </a:solidFill>
                <a:latin typeface="Calibri" pitchFamily="34" charset="0"/>
              </a:rPr>
              <a:t>Azure</a:t>
            </a: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. Wdrożenie w ramach obecnego kontraktu.</a:t>
            </a:r>
          </a:p>
          <a:p>
            <a:pPr>
              <a:buNone/>
            </a:pPr>
            <a:endParaRPr lang="pl-PL" sz="1200" dirty="0"/>
          </a:p>
          <a:p>
            <a:pPr marL="0" indent="0">
              <a:buNone/>
            </a:pPr>
            <a:r>
              <a:rPr lang="pl-PL" sz="1300" b="1" dirty="0">
                <a:solidFill>
                  <a:srgbClr val="1A1916"/>
                </a:solidFill>
                <a:latin typeface="Calibri" pitchFamily="34" charset="0"/>
              </a:rPr>
              <a:t>🤖  Te same modele GPT-4o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GPT-4o, GPT-4 Turbo - te same modele co OpenAI, ale hostowane u Nas.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6"/>
          <p:cNvSpPr/>
          <p:nvPr/>
        </p:nvSpPr>
        <p:spPr>
          <a:xfrm>
            <a:off x="3840480" y="4732020"/>
            <a:ext cx="5303520" cy="411480"/>
          </a:xfrm>
          <a:prstGeom prst="rect">
            <a:avLst/>
          </a:prstGeom>
          <a:solidFill>
            <a:srgbClr val="E23244"/>
          </a:solidFill>
          <a:ln w="1270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Prostokąt 38">
            <a:extLst>
              <a:ext uri="{FF2B5EF4-FFF2-40B4-BE49-F238E27FC236}">
                <a16:creationId xmlns:a16="http://schemas.microsoft.com/office/drawing/2014/main" id="{92ABF705-8E89-C99B-E3A9-168538A7DFAC}"/>
              </a:ext>
            </a:extLst>
          </p:cNvPr>
          <p:cNvSpPr/>
          <p:nvPr/>
        </p:nvSpPr>
        <p:spPr>
          <a:xfrm>
            <a:off x="3840480" y="0"/>
            <a:ext cx="5303520" cy="4732020"/>
          </a:xfrm>
          <a:prstGeom prst="rect">
            <a:avLst/>
          </a:prstGeom>
          <a:solidFill>
            <a:srgbClr val="F5A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1916"/>
          </a:solidFill>
          <a:ln w="1270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64008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Gotow</a:t>
            </a:r>
            <a:r>
              <a:rPr lang="pl-PL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do </a:t>
            </a:r>
            <a:r>
              <a:rPr lang="en-US" sz="3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wdro</a:t>
            </a:r>
            <a:r>
              <a:rPr lang="pl-PL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ż</a:t>
            </a:r>
            <a:r>
              <a:rPr lang="en-US" sz="3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2514600"/>
            <a:ext cx="457200" cy="64008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4160520" y="817288"/>
            <a:ext cx="4663440" cy="457200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4663440" y="817288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Aplikacja</a:t>
            </a:r>
            <a:r>
              <a:rPr lang="pl-PL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gotowa i przetestowana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347640"/>
            <a:ext cx="4663440" cy="457200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4663440" y="1347640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</a:t>
            </a:r>
            <a:r>
              <a:rPr lang="en-US" sz="12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ocena</a:t>
            </a: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SEO </a:t>
            </a:r>
            <a:r>
              <a:rPr lang="en-US" sz="12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AIO z </a:t>
            </a:r>
            <a:r>
              <a:rPr lang="en-US" sz="12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loopem</a:t>
            </a: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2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poprawy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60520" y="1877992"/>
            <a:ext cx="4663440" cy="457200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4663440" y="1877992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+ Drupal - integracja CMS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60520" y="2408344"/>
            <a:ext cx="4663440" cy="457200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663440" y="240834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Brand Voice, Brief, </a:t>
            </a:r>
            <a:r>
              <a:rPr lang="en-US" sz="12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r>
              <a:rPr lang="pl-PL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</a:t>
            </a: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pl-PL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</a:t>
            </a:r>
            <a:r>
              <a:rPr lang="en-US" sz="12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bki</a:t>
            </a: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Grupowe, JSON-LD</a:t>
            </a:r>
            <a:r>
              <a:rPr lang="pl-PL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Grafiki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60520" y="2938696"/>
            <a:ext cx="4663440" cy="457200"/>
          </a:xfrm>
          <a:prstGeom prst="rect">
            <a:avLst/>
          </a:prstGeom>
          <a:solidFill>
            <a:srgbClr val="FDEAEA"/>
          </a:solidFill>
          <a:ln w="635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663440" y="2938696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Akceptacja</a:t>
            </a: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bud</a:t>
            </a:r>
            <a:r>
              <a:rPr lang="pl-PL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</a:t>
            </a:r>
            <a:r>
              <a:rPr lang="en-US" sz="1200" b="1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etu</a:t>
            </a: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($20 / $50 / $100)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60520" y="3469048"/>
            <a:ext cx="4663440" cy="457200"/>
          </a:xfrm>
          <a:prstGeom prst="rect">
            <a:avLst/>
          </a:prstGeom>
          <a:solidFill>
            <a:srgbClr val="FDEAEA"/>
          </a:solidFill>
          <a:ln w="635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4663440" y="3469048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Konfiguracja klucza API Anthropic (</a:t>
            </a:r>
            <a:r>
              <a:rPr lang="en-US" sz="1200" b="1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firmowego</a:t>
            </a: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60520" y="3999400"/>
            <a:ext cx="4663440" cy="457200"/>
          </a:xfrm>
          <a:prstGeom prst="rect">
            <a:avLst/>
          </a:prstGeom>
          <a:solidFill>
            <a:srgbClr val="FDEAEA"/>
          </a:solidFill>
          <a:ln w="635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4160520" y="47320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Rekomendowany budżet na start: $50 ≈ 200 zł jednorazowo</a:t>
            </a:r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F21D0A09-B7CD-F14C-11D5-A12802B1A140}"/>
              </a:ext>
            </a:extLst>
          </p:cNvPr>
          <p:cNvSpPr/>
          <p:nvPr/>
        </p:nvSpPr>
        <p:spPr>
          <a:xfrm>
            <a:off x="320040" y="26974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Aplikacja w pełni gotowa,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przetestowana i rozbudowana.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Wystarczy doładować konto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zacząć używać.</a:t>
            </a:r>
            <a:endParaRPr lang="en-US" sz="130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F79C8017-A0B8-98C1-810D-26A641B3FFE4}"/>
              </a:ext>
            </a:extLst>
          </p:cNvPr>
          <p:cNvSpPr/>
          <p:nvPr/>
        </p:nvSpPr>
        <p:spPr>
          <a:xfrm>
            <a:off x="4160520" y="20345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 potrzeba do startu?</a:t>
            </a:r>
            <a:endParaRPr lang="en-US" sz="20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F75DB59D-B455-CE7E-C928-B11D85192376}"/>
              </a:ext>
            </a:extLst>
          </p:cNvPr>
          <p:cNvSpPr/>
          <p:nvPr/>
        </p:nvSpPr>
        <p:spPr>
          <a:xfrm>
            <a:off x="4251960" y="8172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A09CC202-0D9B-D384-2D6E-B94EB6CFFA5B}"/>
              </a:ext>
            </a:extLst>
          </p:cNvPr>
          <p:cNvSpPr/>
          <p:nvPr/>
        </p:nvSpPr>
        <p:spPr>
          <a:xfrm>
            <a:off x="4251960" y="132478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9C8AD59F-79DB-E8ED-8D1A-5BB2EB39FFB1}"/>
              </a:ext>
            </a:extLst>
          </p:cNvPr>
          <p:cNvSpPr/>
          <p:nvPr/>
        </p:nvSpPr>
        <p:spPr>
          <a:xfrm>
            <a:off x="4247747" y="187799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EE7B1F80-0FE9-A691-459A-A732626EFE05}"/>
              </a:ext>
            </a:extLst>
          </p:cNvPr>
          <p:cNvSpPr/>
          <p:nvPr/>
        </p:nvSpPr>
        <p:spPr>
          <a:xfrm>
            <a:off x="4255486" y="239920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5121CEFC-9FCC-C213-3492-BC3C363C4D20}"/>
              </a:ext>
            </a:extLst>
          </p:cNvPr>
          <p:cNvSpPr/>
          <p:nvPr/>
        </p:nvSpPr>
        <p:spPr>
          <a:xfrm>
            <a:off x="4251960" y="292040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3D16FD4A-5CC7-B8C8-72D5-FB9C2236513B}"/>
              </a:ext>
            </a:extLst>
          </p:cNvPr>
          <p:cNvSpPr/>
          <p:nvPr/>
        </p:nvSpPr>
        <p:spPr>
          <a:xfrm>
            <a:off x="4255486" y="34461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31A26FF5-7AE2-F36F-7E4B-BB705D21CF2C}"/>
              </a:ext>
            </a:extLst>
          </p:cNvPr>
          <p:cNvSpPr/>
          <p:nvPr/>
        </p:nvSpPr>
        <p:spPr>
          <a:xfrm>
            <a:off x="4255486" y="397196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" name="Text 25">
            <a:extLst>
              <a:ext uri="{FF2B5EF4-FFF2-40B4-BE49-F238E27FC236}">
                <a16:creationId xmlns:a16="http://schemas.microsoft.com/office/drawing/2014/main" id="{27E189EB-3469-93C3-3B30-6D6856AE3659}"/>
              </a:ext>
            </a:extLst>
          </p:cNvPr>
          <p:cNvSpPr/>
          <p:nvPr/>
        </p:nvSpPr>
        <p:spPr>
          <a:xfrm>
            <a:off x="4663440" y="3999400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Opcjonalnie: klucz OpenAI (grafiki) + konfiguracja CMS (WP/Drupal)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NOWE MOŻLIWOŚCI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Gotowość i widoczność w 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373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Widoczność w AI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207568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Pomiar obecności marki w odpowiedziach AI, na żądanie, z wyszukiwaniem w sieci.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60020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3291840" y="160020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7373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Wskaźnik pozycyjny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886200" y="207568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Wynik 0-100 uwzględnia pozycję i stabilność, nie samą obecność.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60020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2"/>
          <p:cNvSpPr/>
          <p:nvPr/>
        </p:nvSpPr>
        <p:spPr>
          <a:xfrm>
            <a:off x="6217920" y="160020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73736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Raport AI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812280" y="207568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Kluczowe ustalenia i rekomendacje, eksport do DOCX i PDF.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315468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Shape 16"/>
          <p:cNvSpPr/>
          <p:nvPr/>
        </p:nvSpPr>
        <p:spPr>
          <a:xfrm>
            <a:off x="365760" y="315468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29184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Gotowość pod AI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60120" y="363016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llms.txt, schema.org </a:t>
            </a:r>
            <a:r>
              <a:rPr lang="en-US" sz="11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robots.txt</a:t>
            </a:r>
            <a:r>
              <a:rPr lang="pl-PL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- </a:t>
            </a:r>
            <a:r>
              <a:rPr lang="en-US" sz="11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gotowość</a:t>
            </a: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treści pod modele AI.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91840" y="315468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6" name="Shape 20"/>
          <p:cNvSpPr/>
          <p:nvPr/>
        </p:nvSpPr>
        <p:spPr>
          <a:xfrm>
            <a:off x="3291840" y="315468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29184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86200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AEO i GEO Score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886200" y="363016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Ocena cytowalności przez AI w skali 0-100: format, struktura, encja.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17920" y="315468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1" name="Shape 24"/>
          <p:cNvSpPr/>
          <p:nvPr/>
        </p:nvSpPr>
        <p:spPr>
          <a:xfrm>
            <a:off x="6217920" y="315468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29184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12280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nowe typy treści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812280" y="363016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Strona kierunkowa (eksport) i informacja prasowa w formacie newsowym.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MODUŁ AUDIO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Treści audio i asystent głosowy (2.8)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373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Asystent głosowy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207568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Czytanie treści na głos i dyktowanie do pól.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60020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3291840" y="160020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7373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Treści audio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886200" y="207568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Podcast, newsletter audio i artykuł jako audiobook.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60020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2"/>
          <p:cNvSpPr/>
          <p:nvPr/>
        </p:nvSpPr>
        <p:spPr>
          <a:xfrm>
            <a:off x="6217920" y="160020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73736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Transkrypcja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812280" y="207568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Zamiana nagrania lub pliku audio na tekst.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315468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Shape 16"/>
          <p:cNvSpPr/>
          <p:nvPr/>
        </p:nvSpPr>
        <p:spPr>
          <a:xfrm>
            <a:off x="365760" y="315468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29184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do bazy wiedzy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60120" y="363016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Transkrypcja nagrań prosto do bazy wiedzy.</a:t>
            </a:r>
            <a:r>
              <a:rPr lang="en-US" sz="11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pl-PL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1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91840" y="315468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6" name="Shape 20"/>
          <p:cNvSpPr/>
          <p:nvPr/>
        </p:nvSpPr>
        <p:spPr>
          <a:xfrm>
            <a:off x="3291840" y="315468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29184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86200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Silnik OpenAI domyślnie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886200" y="363016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Synteza mowy OpenAI. ElevenLabs jako opcja premium.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17920" y="315468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1" name="Shape 24"/>
          <p:cNvSpPr/>
          <p:nvPr/>
        </p:nvSpPr>
        <p:spPr>
          <a:xfrm>
            <a:off x="6217920" y="315468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29184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12280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Prywatność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812280" y="363016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Czytanie lokalnie, dyktowanie on-device, czyszczenie danych.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36915f3-2f02-4945-8997-f2963298db46}" enabled="1" method="Standard" siteId="{cd99fef8-1cd3-4a2a-9bdf-15531181d65e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2587</Words>
  <Application>Microsoft Office PowerPoint</Application>
  <PresentationFormat>Pokaz na ekranie (16:9)</PresentationFormat>
  <Paragraphs>398</Paragraphs>
  <Slides>19</Slides>
  <Notes>15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Calibri</vt:lpstr>
      <vt:lpstr>Delivery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AI — Kosztorys i propozycja</dc:title>
  <dc:subject>PptxGenJS Presentation</dc:subject>
  <dc:creator>PptxGenJS</dc:creator>
  <cp:lastModifiedBy>Marcin Przybylski (Content AI eCom PL)</cp:lastModifiedBy>
  <cp:revision>11</cp:revision>
  <dcterms:created xsi:type="dcterms:W3CDTF">2026-05-12T13:41:15Z</dcterms:created>
  <dcterms:modified xsi:type="dcterms:W3CDTF">2026-05-25T14:21:34Z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FOR INTERNAL USE</vt:lpwstr>
  </property>
</Properties>
</file>